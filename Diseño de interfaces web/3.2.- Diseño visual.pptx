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427" r:id="rId2"/>
    <p:sldId id="424" r:id="rId3"/>
    <p:sldId id="429" r:id="rId4"/>
    <p:sldId id="430" r:id="rId5"/>
    <p:sldId id="431" r:id="rId6"/>
    <p:sldId id="432" r:id="rId7"/>
    <p:sldId id="439" r:id="rId8"/>
    <p:sldId id="463" r:id="rId9"/>
    <p:sldId id="440" r:id="rId10"/>
    <p:sldId id="441" r:id="rId11"/>
    <p:sldId id="442" r:id="rId12"/>
    <p:sldId id="444" r:id="rId13"/>
    <p:sldId id="434" r:id="rId14"/>
    <p:sldId id="435" r:id="rId15"/>
    <p:sldId id="436" r:id="rId16"/>
    <p:sldId id="437" r:id="rId17"/>
    <p:sldId id="498" r:id="rId18"/>
    <p:sldId id="417" r:id="rId19"/>
    <p:sldId id="423" r:id="rId20"/>
    <p:sldId id="421" r:id="rId21"/>
    <p:sldId id="451" r:id="rId22"/>
    <p:sldId id="452" r:id="rId23"/>
    <p:sldId id="457" r:id="rId24"/>
    <p:sldId id="425" r:id="rId25"/>
    <p:sldId id="453" r:id="rId26"/>
    <p:sldId id="454" r:id="rId27"/>
    <p:sldId id="455" r:id="rId28"/>
    <p:sldId id="467" r:id="rId29"/>
    <p:sldId id="458" r:id="rId30"/>
    <p:sldId id="460" r:id="rId31"/>
    <p:sldId id="461" r:id="rId32"/>
    <p:sldId id="465" r:id="rId33"/>
    <p:sldId id="468" r:id="rId34"/>
    <p:sldId id="469" r:id="rId35"/>
    <p:sldId id="471" r:id="rId36"/>
    <p:sldId id="473" r:id="rId37"/>
    <p:sldId id="472" r:id="rId38"/>
    <p:sldId id="474" r:id="rId39"/>
    <p:sldId id="470" r:id="rId40"/>
    <p:sldId id="466" r:id="rId41"/>
    <p:sldId id="475" r:id="rId42"/>
    <p:sldId id="476" r:id="rId43"/>
    <p:sldId id="477" r:id="rId44"/>
    <p:sldId id="482" r:id="rId45"/>
    <p:sldId id="462" r:id="rId46"/>
    <p:sldId id="478" r:id="rId47"/>
    <p:sldId id="479" r:id="rId48"/>
    <p:sldId id="483" r:id="rId49"/>
    <p:sldId id="484" r:id="rId50"/>
    <p:sldId id="488" r:id="rId51"/>
    <p:sldId id="489" r:id="rId52"/>
    <p:sldId id="490" r:id="rId53"/>
    <p:sldId id="480" r:id="rId54"/>
    <p:sldId id="491" r:id="rId55"/>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4"/>
    <p:restoredTop sz="94670"/>
  </p:normalViewPr>
  <p:slideViewPr>
    <p:cSldViewPr snapToGrid="0" snapToObjects="1">
      <p:cViewPr>
        <p:scale>
          <a:sx n="67" d="100"/>
          <a:sy n="67" d="100"/>
        </p:scale>
        <p:origin x="62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77394-0A20-4CF6-9066-CFC2C1C9D30F}"/>
              </a:ext>
            </a:extLst>
          </p:cNvPr>
          <p:cNvSpPr>
            <a:spLocks noGrp="1"/>
          </p:cNvSpPr>
          <p:nvPr>
            <p:ph type="ctrTitle"/>
          </p:nvPr>
        </p:nvSpPr>
        <p:spPr>
          <a:xfrm>
            <a:off x="3359149" y="389840"/>
            <a:ext cx="8281987" cy="2954655"/>
          </a:xfrm>
        </p:spPr>
        <p:txBody>
          <a:bodyPr anchor="t" anchorCtr="0">
            <a:normAutofit/>
          </a:bodyPr>
          <a:lstStyle>
            <a:lvl1pPr algn="l">
              <a:lnSpc>
                <a:spcPct val="100000"/>
              </a:lnSpc>
              <a:defRPr sz="6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F10971F-8922-4B23-9C80-0643D7E35026}"/>
              </a:ext>
            </a:extLst>
          </p:cNvPr>
          <p:cNvSpPr>
            <a:spLocks noGrp="1"/>
          </p:cNvSpPr>
          <p:nvPr>
            <p:ph type="subTitle" idx="1"/>
          </p:nvPr>
        </p:nvSpPr>
        <p:spPr>
          <a:xfrm>
            <a:off x="3359149" y="3536951"/>
            <a:ext cx="8281989" cy="2555874"/>
          </a:xfrm>
        </p:spPr>
        <p:txBody>
          <a:bodyPr>
            <a:normAutofit/>
          </a:bodyPr>
          <a:lstStyle>
            <a:lvl1pPr marL="0" indent="0" algn="l">
              <a:lnSpc>
                <a:spcPct val="100000"/>
              </a:lnSpc>
              <a:buNone/>
              <a:defRPr sz="2400">
                <a:solidFill>
                  <a:schemeClr val="tx1">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8B1BC074-1090-47AF-BDE8-3859BF574BA6}"/>
              </a:ext>
            </a:extLst>
          </p:cNvPr>
          <p:cNvSpPr>
            <a:spLocks noGrp="1"/>
          </p:cNvSpPr>
          <p:nvPr>
            <p:ph type="dt" sz="half" idx="10"/>
          </p:nvPr>
        </p:nvSpPr>
        <p:spPr/>
        <p:txBody>
          <a:bodyPr/>
          <a:lstStyle/>
          <a:p>
            <a:fld id="{72EA7947-E287-4738-8C82-07CE4F01EF03}" type="datetime2">
              <a:rPr lang="en-US" smtClean="0"/>
              <a:t>Monday, November 13, 2023</a:t>
            </a:fld>
            <a:endParaRPr lang="en-US" dirty="0"/>
          </a:p>
        </p:txBody>
      </p:sp>
      <p:sp>
        <p:nvSpPr>
          <p:cNvPr id="5" name="Footer Placeholder 4">
            <a:extLst>
              <a:ext uri="{FF2B5EF4-FFF2-40B4-BE49-F238E27FC236}">
                <a16:creationId xmlns:a16="http://schemas.microsoft.com/office/drawing/2014/main" id="{F1D6522F-D41A-4734-8BD1-BD6E5A37D04C}"/>
              </a:ext>
            </a:extLst>
          </p:cNvPr>
          <p:cNvSpPr>
            <a:spLocks noGrp="1"/>
          </p:cNvSpPr>
          <p:nvPr>
            <p:ph type="ftr" sz="quarter" idx="11"/>
          </p:nvPr>
        </p:nvSpPr>
        <p:spPr/>
        <p:txBody>
          <a:bodyPr/>
          <a:lstStyle/>
          <a:p>
            <a:r>
              <a:rPr lang="en-US"/>
              <a:t>Sample Footer</a:t>
            </a:r>
          </a:p>
        </p:txBody>
      </p:sp>
      <p:sp>
        <p:nvSpPr>
          <p:cNvPr id="6" name="Slide Number Placeholder 5">
            <a:extLst>
              <a:ext uri="{FF2B5EF4-FFF2-40B4-BE49-F238E27FC236}">
                <a16:creationId xmlns:a16="http://schemas.microsoft.com/office/drawing/2014/main" id="{D74D4206-406C-42A3-BBD4-44C043180931}"/>
              </a:ext>
            </a:extLst>
          </p:cNvPr>
          <p:cNvSpPr>
            <a:spLocks noGrp="1"/>
          </p:cNvSpPr>
          <p:nvPr>
            <p:ph type="sldNum" sz="quarter" idx="12"/>
          </p:nvPr>
        </p:nvSpPr>
        <p:spPr/>
        <p:txBody>
          <a:bodyPr/>
          <a:lstStyle/>
          <a:p>
            <a:fld id="{DBA1B0FB-D917-4C8C-928F-313BD683BF39}" type="slidenum">
              <a:rPr lang="en-US" smtClean="0"/>
              <a:t>‹Nº›</a:t>
            </a:fld>
            <a:endParaRPr lang="en-US"/>
          </a:p>
        </p:txBody>
      </p:sp>
      <p:sp>
        <p:nvSpPr>
          <p:cNvPr id="19" name="Freeform: Shape 18">
            <a:extLst>
              <a:ext uri="{FF2B5EF4-FFF2-40B4-BE49-F238E27FC236}">
                <a16:creationId xmlns:a16="http://schemas.microsoft.com/office/drawing/2014/main" id="{82184FF4-7029-4ED7-813A-192E60608764}"/>
              </a:ext>
            </a:extLst>
          </p:cNvPr>
          <p:cNvSpPr>
            <a:spLocks noChangeAspect="1"/>
          </p:cNvSpPr>
          <p:nvPr/>
        </p:nvSpPr>
        <p:spPr>
          <a:xfrm rot="2700000">
            <a:off x="612445" y="48188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Oval 19">
            <a:extLst>
              <a:ext uri="{FF2B5EF4-FFF2-40B4-BE49-F238E27FC236}">
                <a16:creationId xmlns:a16="http://schemas.microsoft.com/office/drawing/2014/main" id="{AAA7AB09-557C-41AD-9113-FF9F68FA1035}"/>
              </a:ext>
            </a:extLst>
          </p:cNvPr>
          <p:cNvSpPr/>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Oval 24">
            <a:extLst>
              <a:ext uri="{FF2B5EF4-FFF2-40B4-BE49-F238E27FC236}">
                <a16:creationId xmlns:a16="http://schemas.microsoft.com/office/drawing/2014/main" id="{EF99ECAA-1F11-4937-BBA6-51935AB44C9D}"/>
              </a:ext>
            </a:extLst>
          </p:cNvPr>
          <p:cNvSpPr>
            <a:spLocks noChangeAspect="1"/>
          </p:cNvSpPr>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34" name="Group 33">
            <a:extLst>
              <a:ext uri="{FF2B5EF4-FFF2-40B4-BE49-F238E27FC236}">
                <a16:creationId xmlns:a16="http://schemas.microsoft.com/office/drawing/2014/main" id="{79DE9FAB-6BBA-4CFE-B67D-77B47F01ECA4}"/>
              </a:ext>
            </a:extLst>
          </p:cNvPr>
          <p:cNvGrpSpPr/>
          <p:nvPr/>
        </p:nvGrpSpPr>
        <p:grpSpPr>
          <a:xfrm>
            <a:off x="1329952" y="4524379"/>
            <a:ext cx="1980001" cy="1363916"/>
            <a:chOff x="4879602" y="3781429"/>
            <a:chExt cx="1980001" cy="1363916"/>
          </a:xfrm>
        </p:grpSpPr>
        <p:sp>
          <p:nvSpPr>
            <p:cNvPr id="35" name="Freeform: Shape 34">
              <a:extLst>
                <a:ext uri="{FF2B5EF4-FFF2-40B4-BE49-F238E27FC236}">
                  <a16:creationId xmlns:a16="http://schemas.microsoft.com/office/drawing/2014/main" id="{79FAC916-D9BB-4794-81B4-7C47C67E850D}"/>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Freeform: Shape 35">
              <a:extLst>
                <a:ext uri="{FF2B5EF4-FFF2-40B4-BE49-F238E27FC236}">
                  <a16:creationId xmlns:a16="http://schemas.microsoft.com/office/drawing/2014/main" id="{B5CA2231-7A65-4D16-8400-A210CC41DB73}"/>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7" name="Oval 36">
              <a:extLst>
                <a:ext uri="{FF2B5EF4-FFF2-40B4-BE49-F238E27FC236}">
                  <a16:creationId xmlns:a16="http://schemas.microsoft.com/office/drawing/2014/main" id="{4B089C8C-B82B-4704-88E2-E857A5E21529}"/>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 name="Oval 37">
              <a:extLst>
                <a:ext uri="{FF2B5EF4-FFF2-40B4-BE49-F238E27FC236}">
                  <a16:creationId xmlns:a16="http://schemas.microsoft.com/office/drawing/2014/main" id="{434B90C8-5B4D-456E-AD99-80EF748FDD72}"/>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29284198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3BDBC526-6DCD-4FF6-8395-D8C22E46E527}"/>
              </a:ext>
            </a:extLst>
          </p:cNvPr>
          <p:cNvGrpSpPr/>
          <p:nvPr/>
        </p:nvGrpSpPr>
        <p:grpSpPr>
          <a:xfrm>
            <a:off x="613998" y="5334748"/>
            <a:ext cx="678135" cy="990000"/>
            <a:chOff x="10490969" y="1448827"/>
            <a:chExt cx="678135" cy="990000"/>
          </a:xfrm>
        </p:grpSpPr>
        <p:sp>
          <p:nvSpPr>
            <p:cNvPr id="13" name="Freeform: Shape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Oval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6" name="Freeform: Shape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 name="Title 1">
            <a:extLst>
              <a:ext uri="{FF2B5EF4-FFF2-40B4-BE49-F238E27FC236}">
                <a16:creationId xmlns:a16="http://schemas.microsoft.com/office/drawing/2014/main" id="{B1A4B040-51E3-4DA0-B21D-EEE173E7536F}"/>
              </a:ext>
            </a:extLst>
          </p:cNvPr>
          <p:cNvSpPr>
            <a:spLocks noGrp="1"/>
          </p:cNvSpPr>
          <p:nvPr>
            <p:ph type="title"/>
          </p:nvPr>
        </p:nvSpPr>
        <p:spPr>
          <a:xfrm>
            <a:off x="550862" y="549275"/>
            <a:ext cx="11091600" cy="1332000"/>
          </a:xfrm>
        </p:spPr>
        <p:txBody>
          <a:bodyPr vert="horz" wrap="square" lIns="0" tIns="0" rIns="0" bIns="0" rtlCol="0" anchor="t" anchorCtr="0">
            <a:normAutofit/>
          </a:bodyPr>
          <a:lstStyle>
            <a:lvl1pPr>
              <a:defRPr lang="en-US" dirty="0"/>
            </a:lvl1pPr>
          </a:lstStyle>
          <a:p>
            <a:pPr lvl="0">
              <a:lnSpc>
                <a:spcPct val="100000"/>
              </a:lnSpc>
            </a:pPr>
            <a:r>
              <a:rPr lang="en-US"/>
              <a:t>Click to edit Master title style</a:t>
            </a:r>
            <a:endParaRPr lang="en-US" dirty="0"/>
          </a:p>
        </p:txBody>
      </p:sp>
      <p:sp>
        <p:nvSpPr>
          <p:cNvPr id="3" name="Content Placeholder 2">
            <a:extLst>
              <a:ext uri="{FF2B5EF4-FFF2-40B4-BE49-F238E27FC236}">
                <a16:creationId xmlns:a16="http://schemas.microsoft.com/office/drawing/2014/main" id="{F8A2CD90-429B-4A55-B6C8-DD6CE6994118}"/>
              </a:ext>
            </a:extLst>
          </p:cNvPr>
          <p:cNvSpPr>
            <a:spLocks noGrp="1"/>
          </p:cNvSpPr>
          <p:nvPr>
            <p:ph idx="1"/>
          </p:nvPr>
        </p:nvSpPr>
        <p:spPr>
          <a:xfrm>
            <a:off x="550863" y="2113199"/>
            <a:ext cx="11090274" cy="39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D4EE704-5DCA-484E-85E0-0E3A7B1C5046}"/>
              </a:ext>
            </a:extLst>
          </p:cNvPr>
          <p:cNvSpPr>
            <a:spLocks noGrp="1"/>
          </p:cNvSpPr>
          <p:nvPr>
            <p:ph type="dt" sz="half" idx="10"/>
          </p:nvPr>
        </p:nvSpPr>
        <p:spPr/>
        <p:txBody>
          <a:bodyPr/>
          <a:lstStyle/>
          <a:p>
            <a:fld id="{6FE8C025-CD7A-4966-867E-81CF82B15267}" type="datetime2">
              <a:rPr lang="en-US" smtClean="0"/>
              <a:t>Monday, November 13, 2023</a:t>
            </a:fld>
            <a:endParaRPr lang="en-US"/>
          </a:p>
        </p:txBody>
      </p:sp>
      <p:sp>
        <p:nvSpPr>
          <p:cNvPr id="5" name="Footer Placeholder 4">
            <a:extLst>
              <a:ext uri="{FF2B5EF4-FFF2-40B4-BE49-F238E27FC236}">
                <a16:creationId xmlns:a16="http://schemas.microsoft.com/office/drawing/2014/main" id="{4CA69B66-1C18-44A2-93F7-97DED26F24AB}"/>
              </a:ext>
            </a:extLst>
          </p:cNvPr>
          <p:cNvSpPr>
            <a:spLocks noGrp="1"/>
          </p:cNvSpPr>
          <p:nvPr>
            <p:ph type="ftr" sz="quarter" idx="11"/>
          </p:nvPr>
        </p:nvSpPr>
        <p:spPr/>
        <p:txBody>
          <a:bodyPr/>
          <a:lstStyle/>
          <a:p>
            <a:r>
              <a:rPr lang="en-US"/>
              <a:t>Sample Footer</a:t>
            </a:r>
          </a:p>
        </p:txBody>
      </p:sp>
      <p:sp>
        <p:nvSpPr>
          <p:cNvPr id="6" name="Slide Number Placeholder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a:lstStyle/>
          <a:p>
            <a:fld id="{DBA1B0FB-D917-4C8C-928F-313BD683BF39}" type="slidenum">
              <a:rPr lang="en-US" smtClean="0"/>
              <a:t>‹Nº›</a:t>
            </a:fld>
            <a:endParaRPr lang="en-US"/>
          </a:p>
        </p:txBody>
      </p:sp>
    </p:spTree>
    <p:extLst>
      <p:ext uri="{BB962C8B-B14F-4D97-AF65-F5344CB8AC3E}">
        <p14:creationId xmlns:p14="http://schemas.microsoft.com/office/powerpoint/2010/main" val="1365323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48" name="Group 47">
            <a:extLst>
              <a:ext uri="{FF2B5EF4-FFF2-40B4-BE49-F238E27FC236}">
                <a16:creationId xmlns:a16="http://schemas.microsoft.com/office/drawing/2014/main" id="{4644CBB8-40B8-42F8-9172-07A476341DDA}"/>
              </a:ext>
            </a:extLst>
          </p:cNvPr>
          <p:cNvGrpSpPr/>
          <p:nvPr/>
        </p:nvGrpSpPr>
        <p:grpSpPr>
          <a:xfrm>
            <a:off x="356481" y="879007"/>
            <a:ext cx="734257" cy="760506"/>
            <a:chOff x="5243759" y="1363788"/>
            <a:chExt cx="734257" cy="760506"/>
          </a:xfrm>
        </p:grpSpPr>
        <p:sp>
          <p:nvSpPr>
            <p:cNvPr id="49" name="Freeform 5">
              <a:extLst>
                <a:ext uri="{FF2B5EF4-FFF2-40B4-BE49-F238E27FC236}">
                  <a16:creationId xmlns:a16="http://schemas.microsoft.com/office/drawing/2014/main" id="{35CE073E-302A-4AA7-98C7-8667DDDCFA18}"/>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0" name="Freeform 6">
              <a:extLst>
                <a:ext uri="{FF2B5EF4-FFF2-40B4-BE49-F238E27FC236}">
                  <a16:creationId xmlns:a16="http://schemas.microsoft.com/office/drawing/2014/main" id="{4FD1AE2F-DD70-4E93-B905-E052A23F0B1C}"/>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1" name="Freeform 8">
              <a:extLst>
                <a:ext uri="{FF2B5EF4-FFF2-40B4-BE49-F238E27FC236}">
                  <a16:creationId xmlns:a16="http://schemas.microsoft.com/office/drawing/2014/main" id="{E8D529E5-8838-47F0-98A4-2D46F11E499C}"/>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45DA2564-D3DB-48AD-83F0-6CC6B5743960}"/>
              </a:ext>
            </a:extLst>
          </p:cNvPr>
          <p:cNvSpPr>
            <a:spLocks noGrp="1"/>
          </p:cNvSpPr>
          <p:nvPr>
            <p:ph type="title"/>
          </p:nvPr>
        </p:nvSpPr>
        <p:spPr>
          <a:xfrm>
            <a:off x="563563" y="474345"/>
            <a:ext cx="11077574" cy="2954655"/>
          </a:xfrm>
        </p:spPr>
        <p:txBody>
          <a:bodyPr vert="horz" wrap="square" lIns="0" tIns="0" rIns="0" bIns="0" rtlCol="0" anchor="b" anchorCtr="0">
            <a:normAutofit/>
          </a:bodyPr>
          <a:lstStyle>
            <a:lvl1pPr>
              <a:defRPr lang="en-US" sz="6400" dirty="0"/>
            </a:lvl1pPr>
          </a:lstStyle>
          <a:p>
            <a:pPr lvl="0">
              <a:lnSpc>
                <a:spcPct val="100000"/>
              </a:lnSpc>
            </a:pPr>
            <a:r>
              <a:rPr lang="en-US"/>
              <a:t>Click to edit Master title style</a:t>
            </a:r>
            <a:endParaRPr lang="en-US" dirty="0"/>
          </a:p>
        </p:txBody>
      </p:sp>
      <p:sp>
        <p:nvSpPr>
          <p:cNvPr id="4" name="Date Placeholder 3">
            <a:extLst>
              <a:ext uri="{FF2B5EF4-FFF2-40B4-BE49-F238E27FC236}">
                <a16:creationId xmlns:a16="http://schemas.microsoft.com/office/drawing/2014/main" id="{56403DDF-462A-45CE-931B-010AB4F73C3F}"/>
              </a:ext>
            </a:extLst>
          </p:cNvPr>
          <p:cNvSpPr>
            <a:spLocks noGrp="1"/>
          </p:cNvSpPr>
          <p:nvPr>
            <p:ph type="dt" sz="half" idx="10"/>
          </p:nvPr>
        </p:nvSpPr>
        <p:spPr/>
        <p:txBody>
          <a:bodyPr/>
          <a:lstStyle/>
          <a:p>
            <a:fld id="{FE809929-0719-4517-94D6-FDF7F99E70F6}" type="datetime2">
              <a:rPr lang="en-US" smtClean="0"/>
              <a:t>Monday, November 13, 2023</a:t>
            </a:fld>
            <a:endParaRPr lang="en-US"/>
          </a:p>
        </p:txBody>
      </p:sp>
      <p:sp>
        <p:nvSpPr>
          <p:cNvPr id="5" name="Footer Placeholder 4">
            <a:extLst>
              <a:ext uri="{FF2B5EF4-FFF2-40B4-BE49-F238E27FC236}">
                <a16:creationId xmlns:a16="http://schemas.microsoft.com/office/drawing/2014/main" id="{39E10702-2ACF-4768-9E91-8CB87B89594D}"/>
              </a:ext>
            </a:extLst>
          </p:cNvPr>
          <p:cNvSpPr>
            <a:spLocks noGrp="1"/>
          </p:cNvSpPr>
          <p:nvPr>
            <p:ph type="ftr" sz="quarter" idx="11"/>
          </p:nvPr>
        </p:nvSpPr>
        <p:spPr/>
        <p:txBody>
          <a:bodyPr/>
          <a:lstStyle/>
          <a:p>
            <a:r>
              <a:rPr lang="en-US"/>
              <a:t>Sample Footer</a:t>
            </a:r>
          </a:p>
        </p:txBody>
      </p:sp>
      <p:sp>
        <p:nvSpPr>
          <p:cNvPr id="6" name="Slide Number Placeholder 5">
            <a:extLst>
              <a:ext uri="{FF2B5EF4-FFF2-40B4-BE49-F238E27FC236}">
                <a16:creationId xmlns:a16="http://schemas.microsoft.com/office/drawing/2014/main" id="{E8DFA722-391E-4FCF-8E15-0D7E2EC02B63}"/>
              </a:ext>
            </a:extLst>
          </p:cNvPr>
          <p:cNvSpPr>
            <a:spLocks noGrp="1"/>
          </p:cNvSpPr>
          <p:nvPr>
            <p:ph type="sldNum" sz="quarter" idx="12"/>
          </p:nvPr>
        </p:nvSpPr>
        <p:spPr/>
        <p:txBody>
          <a:bodyPr/>
          <a:lstStyle/>
          <a:p>
            <a:fld id="{DBA1B0FB-D917-4C8C-928F-313BD683BF39}" type="slidenum">
              <a:rPr lang="en-US" smtClean="0"/>
              <a:t>‹Nº›</a:t>
            </a:fld>
            <a:endParaRPr lang="en-US"/>
          </a:p>
        </p:txBody>
      </p:sp>
      <p:sp>
        <p:nvSpPr>
          <p:cNvPr id="3" name="Text Placeholder 2">
            <a:extLst>
              <a:ext uri="{FF2B5EF4-FFF2-40B4-BE49-F238E27FC236}">
                <a16:creationId xmlns:a16="http://schemas.microsoft.com/office/drawing/2014/main" id="{76EEA752-36DA-440B-8747-0EB2914080EE}"/>
              </a:ext>
            </a:extLst>
          </p:cNvPr>
          <p:cNvSpPr>
            <a:spLocks noGrp="1"/>
          </p:cNvSpPr>
          <p:nvPr>
            <p:ph type="body" idx="1"/>
          </p:nvPr>
        </p:nvSpPr>
        <p:spPr>
          <a:xfrm>
            <a:off x="566271" y="3629772"/>
            <a:ext cx="11074866" cy="2678953"/>
          </a:xfrm>
        </p:spPr>
        <p:txBody>
          <a:bodyPr>
            <a:normAutofit/>
          </a:bodyPr>
          <a:lstStyle>
            <a:lvl1pPr marL="0" indent="0">
              <a:lnSpc>
                <a:spcPct val="110000"/>
              </a:lnSpc>
              <a:spcBef>
                <a:spcPts val="0"/>
              </a:spcBef>
              <a:buNone/>
              <a:defRPr sz="2400">
                <a:solidFill>
                  <a:schemeClr val="tx1">
                    <a:alpha val="8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1" name="Freeform: Shape 40">
            <a:extLst>
              <a:ext uri="{FF2B5EF4-FFF2-40B4-BE49-F238E27FC236}">
                <a16:creationId xmlns:a16="http://schemas.microsoft.com/office/drawing/2014/main" id="{0BCC02B0-8581-4752-B7BC-3CE1EF17B9F7}"/>
              </a:ext>
            </a:extLst>
          </p:cNvPr>
          <p:cNvSpPr>
            <a:spLocks noChangeAspect="1"/>
          </p:cNvSpPr>
          <p:nvPr/>
        </p:nvSpPr>
        <p:spPr>
          <a:xfrm rot="18900000">
            <a:off x="11209132" y="4448189"/>
            <a:ext cx="999200" cy="1262947"/>
          </a:xfrm>
          <a:custGeom>
            <a:avLst/>
            <a:gdLst>
              <a:gd name="connsiteX0" fmla="*/ 540000 w 999200"/>
              <a:gd name="connsiteY0" fmla="*/ 0 h 1262947"/>
              <a:gd name="connsiteX1" fmla="*/ 999200 w 999200"/>
              <a:gd name="connsiteY1" fmla="*/ 815317 h 1262947"/>
              <a:gd name="connsiteX2" fmla="*/ 552185 w 999200"/>
              <a:gd name="connsiteY2" fmla="*/ 1262333 h 1262947"/>
              <a:gd name="connsiteX3" fmla="*/ 540000 w 999200"/>
              <a:gd name="connsiteY3" fmla="*/ 1262947 h 1262947"/>
              <a:gd name="connsiteX4" fmla="*/ 0 w 999200"/>
              <a:gd name="connsiteY4" fmla="*/ 992947 h 1262947"/>
              <a:gd name="connsiteX5" fmla="*/ 10971 w 999200"/>
              <a:gd name="connsiteY5" fmla="*/ 938533 h 1262947"/>
              <a:gd name="connsiteX6" fmla="*/ 15626 w 999200"/>
              <a:gd name="connsiteY6" fmla="*/ 931034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9200" h="1262947">
                <a:moveTo>
                  <a:pt x="540000" y="0"/>
                </a:moveTo>
                <a:lnTo>
                  <a:pt x="999200" y="815317"/>
                </a:lnTo>
                <a:lnTo>
                  <a:pt x="552185" y="1262333"/>
                </a:lnTo>
                <a:lnTo>
                  <a:pt x="540000" y="1262947"/>
                </a:lnTo>
                <a:cubicBezTo>
                  <a:pt x="241766" y="1262947"/>
                  <a:pt x="0" y="1142064"/>
                  <a:pt x="0" y="992947"/>
                </a:cubicBezTo>
                <a:cubicBezTo>
                  <a:pt x="0" y="974307"/>
                  <a:pt x="3778" y="956109"/>
                  <a:pt x="10971" y="938533"/>
                </a:cubicBezTo>
                <a:lnTo>
                  <a:pt x="15626" y="931034"/>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10200000" scaled="0"/>
          </a:gradFill>
          <a:ln>
            <a:noFill/>
          </a:ln>
          <a:effectLst>
            <a:innerShdw blurRad="254000" dist="101600" dir="42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3" name="Freeform: Shape 42">
            <a:extLst>
              <a:ext uri="{FF2B5EF4-FFF2-40B4-BE49-F238E27FC236}">
                <a16:creationId xmlns:a16="http://schemas.microsoft.com/office/drawing/2014/main" id="{EA0FF4DB-8180-4D26-AEAE-7ECDB670F71D}"/>
              </a:ext>
            </a:extLst>
          </p:cNvPr>
          <p:cNvSpPr/>
          <p:nvPr/>
        </p:nvSpPr>
        <p:spPr>
          <a:xfrm rot="2700000">
            <a:off x="11686937" y="4853516"/>
            <a:ext cx="540000" cy="978284"/>
          </a:xfrm>
          <a:custGeom>
            <a:avLst/>
            <a:gdLst>
              <a:gd name="connsiteX0" fmla="*/ 113288 w 540000"/>
              <a:gd name="connsiteY0" fmla="*/ 0 h 978284"/>
              <a:gd name="connsiteX1" fmla="*/ 539386 w 540000"/>
              <a:gd name="connsiteY1" fmla="*/ 426099 h 978284"/>
              <a:gd name="connsiteX2" fmla="*/ 540000 w 540000"/>
              <a:gd name="connsiteY2" fmla="*/ 438284 h 978284"/>
              <a:gd name="connsiteX3" fmla="*/ 270000 w 540000"/>
              <a:gd name="connsiteY3" fmla="*/ 978284 h 978284"/>
              <a:gd name="connsiteX4" fmla="*/ 0 w 540000"/>
              <a:gd name="connsiteY4" fmla="*/ 438284 h 978284"/>
              <a:gd name="connsiteX5" fmla="*/ 79081 w 540000"/>
              <a:gd name="connsiteY5" fmla="*/ 56446 h 97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000" h="978284">
                <a:moveTo>
                  <a:pt x="113288" y="0"/>
                </a:moveTo>
                <a:lnTo>
                  <a:pt x="539386" y="426099"/>
                </a:lnTo>
                <a:lnTo>
                  <a:pt x="540000" y="438284"/>
                </a:lnTo>
                <a:cubicBezTo>
                  <a:pt x="540000" y="736518"/>
                  <a:pt x="419117" y="978284"/>
                  <a:pt x="270000" y="978284"/>
                </a:cubicBezTo>
                <a:cubicBezTo>
                  <a:pt x="120883" y="978284"/>
                  <a:pt x="0" y="736518"/>
                  <a:pt x="0" y="438284"/>
                </a:cubicBezTo>
                <a:cubicBezTo>
                  <a:pt x="0" y="289167"/>
                  <a:pt x="30220" y="154167"/>
                  <a:pt x="79081" y="56446"/>
                </a:cubicBezTo>
                <a:close/>
              </a:path>
            </a:pathLst>
          </a:cu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6699178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94729CA3-91C4-4A89-9448-A2F0E409177A}"/>
              </a:ext>
            </a:extLst>
          </p:cNvPr>
          <p:cNvSpPr>
            <a:spLocks noChangeAspect="1"/>
          </p:cNvSpPr>
          <p:nvPr/>
        </p:nvSpPr>
        <p:spPr>
          <a:xfrm>
            <a:off x="11069864" y="3333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3" name="Group 12">
            <a:extLst>
              <a:ext uri="{FF2B5EF4-FFF2-40B4-BE49-F238E27FC236}">
                <a16:creationId xmlns:a16="http://schemas.microsoft.com/office/drawing/2014/main" id="{168347B7-45FA-4A01-924D-DC385B720B3E}"/>
              </a:ext>
            </a:extLst>
          </p:cNvPr>
          <p:cNvGrpSpPr/>
          <p:nvPr/>
        </p:nvGrpSpPr>
        <p:grpSpPr>
          <a:xfrm>
            <a:off x="331786" y="5528198"/>
            <a:ext cx="631474" cy="667800"/>
            <a:chOff x="2994153" y="1378666"/>
            <a:chExt cx="631474" cy="667800"/>
          </a:xfrm>
        </p:grpSpPr>
        <p:sp>
          <p:nvSpPr>
            <p:cNvPr id="20" name="Freeform: Shape 19">
              <a:extLst>
                <a:ext uri="{FF2B5EF4-FFF2-40B4-BE49-F238E27FC236}">
                  <a16:creationId xmlns:a16="http://schemas.microsoft.com/office/drawing/2014/main" id="{31167DA1-25D1-4E60-A62E-42B6F56A96EC}"/>
                </a:ext>
              </a:extLst>
            </p:cNvPr>
            <p:cNvSpPr>
              <a:spLocks noChangeAspect="1"/>
            </p:cNvSpPr>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 name="Oval 20">
              <a:extLst>
                <a:ext uri="{FF2B5EF4-FFF2-40B4-BE49-F238E27FC236}">
                  <a16:creationId xmlns:a16="http://schemas.microsoft.com/office/drawing/2014/main" id="{6B7B7215-A661-477E-91D0-CDBE5564D2B9}"/>
                </a:ext>
              </a:extLst>
            </p:cNvPr>
            <p:cNvSpPr/>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8978E540-142B-4A82-9C3F-E61BC190AEED}"/>
              </a:ext>
            </a:extLst>
          </p:cNvPr>
          <p:cNvSpPr>
            <a:spLocks noGrp="1"/>
          </p:cNvSpPr>
          <p:nvPr>
            <p:ph type="title"/>
          </p:nvPr>
        </p:nvSpPr>
        <p:spPr>
          <a:xfrm>
            <a:off x="550863" y="549275"/>
            <a:ext cx="11090274" cy="1332000"/>
          </a:xfrm>
        </p:spPr>
        <p:txBody>
          <a:bodyPr/>
          <a:lstStyle>
            <a:lvl1pPr>
              <a:lnSpc>
                <a:spcPct val="100000"/>
              </a:lnSpc>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2C6BF36-D4F5-4363-B440-BDAE50BBD4B6}"/>
              </a:ext>
            </a:extLst>
          </p:cNvPr>
          <p:cNvSpPr>
            <a:spLocks noGrp="1"/>
          </p:cNvSpPr>
          <p:nvPr>
            <p:ph sz="half" idx="1"/>
          </p:nvPr>
        </p:nvSpPr>
        <p:spPr>
          <a:xfrm>
            <a:off x="550862" y="2097175"/>
            <a:ext cx="5435600" cy="3995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8362910-87AA-4E67-992D-8D4822FD89FE}"/>
              </a:ext>
            </a:extLst>
          </p:cNvPr>
          <p:cNvSpPr>
            <a:spLocks noGrp="1"/>
          </p:cNvSpPr>
          <p:nvPr>
            <p:ph sz="half" idx="2"/>
          </p:nvPr>
        </p:nvSpPr>
        <p:spPr>
          <a:xfrm>
            <a:off x="6205538" y="2097175"/>
            <a:ext cx="5435600" cy="3995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BB99A8AF-0998-4613-B1D8-C14ECBFFDF67}"/>
              </a:ext>
            </a:extLst>
          </p:cNvPr>
          <p:cNvSpPr>
            <a:spLocks noGrp="1"/>
          </p:cNvSpPr>
          <p:nvPr>
            <p:ph type="dt" sz="half" idx="10"/>
          </p:nvPr>
        </p:nvSpPr>
        <p:spPr/>
        <p:txBody>
          <a:bodyPr/>
          <a:lstStyle/>
          <a:p>
            <a:fld id="{20E95673-5512-4AAA-9AEB-E00C61EC65D5}" type="datetime2">
              <a:rPr lang="en-US" smtClean="0"/>
              <a:t>Monday, November 13, 2023</a:t>
            </a:fld>
            <a:endParaRPr lang="en-US"/>
          </a:p>
        </p:txBody>
      </p:sp>
      <p:sp>
        <p:nvSpPr>
          <p:cNvPr id="6" name="Footer Placeholder 5">
            <a:extLst>
              <a:ext uri="{FF2B5EF4-FFF2-40B4-BE49-F238E27FC236}">
                <a16:creationId xmlns:a16="http://schemas.microsoft.com/office/drawing/2014/main" id="{66E44EAA-B8A9-4428-A9DF-1174DA940990}"/>
              </a:ext>
            </a:extLst>
          </p:cNvPr>
          <p:cNvSpPr>
            <a:spLocks noGrp="1"/>
          </p:cNvSpPr>
          <p:nvPr>
            <p:ph type="ftr" sz="quarter" idx="11"/>
          </p:nvPr>
        </p:nvSpPr>
        <p:spPr/>
        <p:txBody>
          <a:bodyPr/>
          <a:lstStyle/>
          <a:p>
            <a:r>
              <a:rPr lang="en-US"/>
              <a:t>Sample Footer</a:t>
            </a:r>
          </a:p>
        </p:txBody>
      </p:sp>
      <p:sp>
        <p:nvSpPr>
          <p:cNvPr id="7" name="Slide Number Placeholder 6">
            <a:extLst>
              <a:ext uri="{FF2B5EF4-FFF2-40B4-BE49-F238E27FC236}">
                <a16:creationId xmlns:a16="http://schemas.microsoft.com/office/drawing/2014/main" id="{19E5C381-C899-4BF9-B584-2D78074D1CB2}"/>
              </a:ext>
            </a:extLst>
          </p:cNvPr>
          <p:cNvSpPr>
            <a:spLocks noGrp="1"/>
          </p:cNvSpPr>
          <p:nvPr>
            <p:ph type="sldNum" sz="quarter" idx="12"/>
          </p:nvPr>
        </p:nvSpPr>
        <p:spPr/>
        <p:txBody>
          <a:bodyPr/>
          <a:lstStyle/>
          <a:p>
            <a:fld id="{DBA1B0FB-D917-4C8C-928F-313BD683BF39}" type="slidenum">
              <a:rPr lang="en-US" smtClean="0"/>
              <a:t>‹Nº›</a:t>
            </a:fld>
            <a:endParaRPr lang="en-US"/>
          </a:p>
        </p:txBody>
      </p:sp>
    </p:spTree>
    <p:extLst>
      <p:ext uri="{BB962C8B-B14F-4D97-AF65-F5344CB8AC3E}">
        <p14:creationId xmlns:p14="http://schemas.microsoft.com/office/powerpoint/2010/main" val="3365752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2" name="Oval 11">
            <a:extLst>
              <a:ext uri="{FF2B5EF4-FFF2-40B4-BE49-F238E27FC236}">
                <a16:creationId xmlns:a16="http://schemas.microsoft.com/office/drawing/2014/main" id="{FD65A50E-2F73-4426-8586-9731AFA2D2E0}"/>
              </a:ext>
            </a:extLst>
          </p:cNvPr>
          <p:cNvSpPr>
            <a:spLocks noChangeAspect="1"/>
          </p:cNvSpPr>
          <p:nvPr/>
        </p:nvSpPr>
        <p:spPr>
          <a:xfrm>
            <a:off x="11091612" y="5893466"/>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Rectangle 10">
            <a:extLst>
              <a:ext uri="{FF2B5EF4-FFF2-40B4-BE49-F238E27FC236}">
                <a16:creationId xmlns:a16="http://schemas.microsoft.com/office/drawing/2014/main" id="{EB89C080-4102-49AE-BDA9-59A4A67E2486}"/>
              </a:ext>
            </a:extLst>
          </p:cNvPr>
          <p:cNvSpPr/>
          <p:nvPr/>
        </p:nvSpPr>
        <p:spPr>
          <a:xfrm>
            <a:off x="11451612" y="5827878"/>
            <a:ext cx="379049" cy="360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E62014-F04C-495A-964E-6B888D49CDE9}"/>
              </a:ext>
            </a:extLst>
          </p:cNvPr>
          <p:cNvSpPr>
            <a:spLocks noGrp="1"/>
          </p:cNvSpPr>
          <p:nvPr>
            <p:ph type="title"/>
          </p:nvPr>
        </p:nvSpPr>
        <p:spPr>
          <a:xfrm>
            <a:off x="550862" y="549275"/>
            <a:ext cx="11097551" cy="1332000"/>
          </a:xfrm>
        </p:spPr>
        <p:txBody>
          <a:bodyPr vert="horz" wrap="square" lIns="0" tIns="0" rIns="0" bIns="0" rtlCol="0" anchor="t" anchorCtr="0">
            <a:normAutofit/>
          </a:bodyPr>
          <a:lstStyle>
            <a:lvl1pPr>
              <a:defRPr lang="en-US" sz="3200" dirty="0"/>
            </a:lvl1p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555DF027-E633-44EE-ACA0-C205930AA93E}"/>
              </a:ext>
            </a:extLst>
          </p:cNvPr>
          <p:cNvSpPr>
            <a:spLocks noGrp="1"/>
          </p:cNvSpPr>
          <p:nvPr>
            <p:ph type="body" idx="1"/>
          </p:nvPr>
        </p:nvSpPr>
        <p:spPr>
          <a:xfrm>
            <a:off x="550864" y="1881275"/>
            <a:ext cx="5437186" cy="535354"/>
          </a:xfrm>
        </p:spPr>
        <p:txBody>
          <a:bodyPr anchor="b">
            <a:normAutofit/>
          </a:bodyPr>
          <a:lstStyle>
            <a:lvl1pPr marL="0" indent="0">
              <a:buNone/>
              <a:defRPr sz="14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A4F363-FEEF-4CD2-A18E-17AE8D485171}"/>
              </a:ext>
            </a:extLst>
          </p:cNvPr>
          <p:cNvSpPr>
            <a:spLocks noGrp="1"/>
          </p:cNvSpPr>
          <p:nvPr>
            <p:ph sz="half" idx="2"/>
          </p:nvPr>
        </p:nvSpPr>
        <p:spPr>
          <a:xfrm>
            <a:off x="550863" y="2577270"/>
            <a:ext cx="5429114" cy="3515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34E50F8C-4D64-40FD-AE8C-6A1F3C2A84ED}"/>
              </a:ext>
            </a:extLst>
          </p:cNvPr>
          <p:cNvSpPr>
            <a:spLocks noGrp="1"/>
          </p:cNvSpPr>
          <p:nvPr>
            <p:ph type="body" sz="quarter" idx="3"/>
          </p:nvPr>
        </p:nvSpPr>
        <p:spPr>
          <a:xfrm>
            <a:off x="6212024" y="1881275"/>
            <a:ext cx="5436392" cy="535354"/>
          </a:xfrm>
        </p:spPr>
        <p:txBody>
          <a:bodyPr vert="horz" wrap="square" lIns="0" tIns="0" rIns="0" bIns="0" rtlCol="0" anchor="b">
            <a:normAutofit/>
          </a:bodyPr>
          <a:lstStyle>
            <a:lvl1pPr>
              <a:defRPr lang="en-US" sz="1400" b="0" cap="all" spc="200" baseline="0" dirty="0">
                <a:solidFill>
                  <a:schemeClr val="tx1"/>
                </a:solidFill>
              </a:defRPr>
            </a:lvl1pPr>
          </a:lstStyle>
          <a:p>
            <a:pPr marL="0" lvl="0" indent="0">
              <a:buNone/>
            </a:pPr>
            <a:r>
              <a:rPr lang="en-US"/>
              <a:t>Click to edit Master text styles</a:t>
            </a:r>
          </a:p>
        </p:txBody>
      </p:sp>
      <p:sp>
        <p:nvSpPr>
          <p:cNvPr id="6" name="Content Placeholder 5">
            <a:extLst>
              <a:ext uri="{FF2B5EF4-FFF2-40B4-BE49-F238E27FC236}">
                <a16:creationId xmlns:a16="http://schemas.microsoft.com/office/drawing/2014/main" id="{A7AC943E-DB2B-40E0-907F-8EA1404791DE}"/>
              </a:ext>
            </a:extLst>
          </p:cNvPr>
          <p:cNvSpPr>
            <a:spLocks noGrp="1"/>
          </p:cNvSpPr>
          <p:nvPr>
            <p:ph sz="quarter" idx="4"/>
          </p:nvPr>
        </p:nvSpPr>
        <p:spPr>
          <a:xfrm>
            <a:off x="6212023" y="2577270"/>
            <a:ext cx="5436391" cy="3515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CDCD5B-3F26-4AFA-8BD4-E5D8DD2AF494}"/>
              </a:ext>
            </a:extLst>
          </p:cNvPr>
          <p:cNvSpPr>
            <a:spLocks noGrp="1"/>
          </p:cNvSpPr>
          <p:nvPr>
            <p:ph type="dt" sz="half" idx="10"/>
          </p:nvPr>
        </p:nvSpPr>
        <p:spPr/>
        <p:txBody>
          <a:bodyPr/>
          <a:lstStyle/>
          <a:p>
            <a:fld id="{C13138FA-2E87-4873-8BBA-13E447C9A99A}" type="datetime2">
              <a:rPr lang="en-US" smtClean="0"/>
              <a:t>Monday, November 13, 2023</a:t>
            </a:fld>
            <a:endParaRPr lang="en-US"/>
          </a:p>
        </p:txBody>
      </p:sp>
      <p:sp>
        <p:nvSpPr>
          <p:cNvPr id="8" name="Footer Placeholder 7">
            <a:extLst>
              <a:ext uri="{FF2B5EF4-FFF2-40B4-BE49-F238E27FC236}">
                <a16:creationId xmlns:a16="http://schemas.microsoft.com/office/drawing/2014/main" id="{3D10D1EE-83A0-4FB5-9B25-8A73DE891A87}"/>
              </a:ext>
            </a:extLst>
          </p:cNvPr>
          <p:cNvSpPr>
            <a:spLocks noGrp="1"/>
          </p:cNvSpPr>
          <p:nvPr>
            <p:ph type="ftr" sz="quarter" idx="11"/>
          </p:nvPr>
        </p:nvSpPr>
        <p:spPr/>
        <p:txBody>
          <a:bodyPr/>
          <a:lstStyle/>
          <a:p>
            <a:r>
              <a:rPr lang="en-US"/>
              <a:t>Sample Footer</a:t>
            </a:r>
          </a:p>
        </p:txBody>
      </p:sp>
      <p:sp>
        <p:nvSpPr>
          <p:cNvPr id="9" name="Slide Number Placeholder 8">
            <a:extLst>
              <a:ext uri="{FF2B5EF4-FFF2-40B4-BE49-F238E27FC236}">
                <a16:creationId xmlns:a16="http://schemas.microsoft.com/office/drawing/2014/main" id="{03031C35-2E5B-491D-85ED-DB42A4FE1623}"/>
              </a:ext>
            </a:extLst>
          </p:cNvPr>
          <p:cNvSpPr>
            <a:spLocks noGrp="1"/>
          </p:cNvSpPr>
          <p:nvPr>
            <p:ph type="sldNum" sz="quarter" idx="12"/>
          </p:nvPr>
        </p:nvSpPr>
        <p:spPr/>
        <p:txBody>
          <a:bodyPr/>
          <a:lstStyle/>
          <a:p>
            <a:fld id="{DBA1B0FB-D917-4C8C-928F-313BD683BF39}" type="slidenum">
              <a:rPr lang="en-US" smtClean="0"/>
              <a:t>‹Nº›</a:t>
            </a:fld>
            <a:endParaRPr lang="en-US"/>
          </a:p>
        </p:txBody>
      </p:sp>
    </p:spTree>
    <p:extLst>
      <p:ext uri="{BB962C8B-B14F-4D97-AF65-F5344CB8AC3E}">
        <p14:creationId xmlns:p14="http://schemas.microsoft.com/office/powerpoint/2010/main" val="4189873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2053C-0E9C-4159-B7C9-6AB74343918D}"/>
              </a:ext>
            </a:extLst>
          </p:cNvPr>
          <p:cNvSpPr>
            <a:spLocks noGrp="1"/>
          </p:cNvSpPr>
          <p:nvPr>
            <p:ph type="title"/>
          </p:nvPr>
        </p:nvSpPr>
        <p:spPr>
          <a:xfrm>
            <a:off x="3359149" y="550799"/>
            <a:ext cx="8283313" cy="5542025"/>
          </a:xfrm>
        </p:spPr>
        <p:txBody>
          <a:bodyPr vert="horz" wrap="square" lIns="0" tIns="0" rIns="0" bIns="0" rtlCol="0" anchor="ctr" anchorCtr="0">
            <a:normAutofit/>
          </a:bodyPr>
          <a:lstStyle>
            <a:lvl1pPr>
              <a:defRPr lang="en-US" dirty="0"/>
            </a:lvl1pPr>
          </a:lstStyle>
          <a:p>
            <a:pPr lvl="0">
              <a:lnSpc>
                <a:spcPct val="100000"/>
              </a:lnSpc>
            </a:pPr>
            <a:r>
              <a:rPr lang="en-US"/>
              <a:t>Click to edit Master title style</a:t>
            </a:r>
            <a:endParaRPr lang="en-US" dirty="0"/>
          </a:p>
        </p:txBody>
      </p:sp>
      <p:sp>
        <p:nvSpPr>
          <p:cNvPr id="3" name="Date Placeholder 2">
            <a:extLst>
              <a:ext uri="{FF2B5EF4-FFF2-40B4-BE49-F238E27FC236}">
                <a16:creationId xmlns:a16="http://schemas.microsoft.com/office/drawing/2014/main" id="{D4F51F65-E111-4656-83BE-CFCDE2DD6CD6}"/>
              </a:ext>
            </a:extLst>
          </p:cNvPr>
          <p:cNvSpPr>
            <a:spLocks noGrp="1"/>
          </p:cNvSpPr>
          <p:nvPr>
            <p:ph type="dt" sz="half" idx="10"/>
          </p:nvPr>
        </p:nvSpPr>
        <p:spPr/>
        <p:txBody>
          <a:bodyPr/>
          <a:lstStyle/>
          <a:p>
            <a:fld id="{D75BB40A-97BD-4BFB-B639-0BFF95FDE8B7}" type="datetime2">
              <a:rPr lang="en-US" smtClean="0"/>
              <a:t>Monday, November 13, 2023</a:t>
            </a:fld>
            <a:endParaRPr lang="en-US"/>
          </a:p>
        </p:txBody>
      </p:sp>
      <p:sp>
        <p:nvSpPr>
          <p:cNvPr id="4" name="Footer Placeholder 3">
            <a:extLst>
              <a:ext uri="{FF2B5EF4-FFF2-40B4-BE49-F238E27FC236}">
                <a16:creationId xmlns:a16="http://schemas.microsoft.com/office/drawing/2014/main" id="{F9FF82CB-2D17-4918-821E-485475CF243B}"/>
              </a:ext>
            </a:extLst>
          </p:cNvPr>
          <p:cNvSpPr>
            <a:spLocks noGrp="1"/>
          </p:cNvSpPr>
          <p:nvPr>
            <p:ph type="ftr" sz="quarter" idx="11"/>
          </p:nvPr>
        </p:nvSpPr>
        <p:spPr/>
        <p:txBody>
          <a:bodyPr/>
          <a:lstStyle/>
          <a:p>
            <a:r>
              <a:rPr lang="en-US"/>
              <a:t>Sample Footer</a:t>
            </a:r>
          </a:p>
        </p:txBody>
      </p:sp>
      <p:sp>
        <p:nvSpPr>
          <p:cNvPr id="5" name="Slide Number Placeholder 4">
            <a:extLst>
              <a:ext uri="{FF2B5EF4-FFF2-40B4-BE49-F238E27FC236}">
                <a16:creationId xmlns:a16="http://schemas.microsoft.com/office/drawing/2014/main" id="{7B66589D-A056-4817-AE15-39D87FE13169}"/>
              </a:ext>
            </a:extLst>
          </p:cNvPr>
          <p:cNvSpPr>
            <a:spLocks noGrp="1"/>
          </p:cNvSpPr>
          <p:nvPr>
            <p:ph type="sldNum" sz="quarter" idx="12"/>
          </p:nvPr>
        </p:nvSpPr>
        <p:spPr/>
        <p:txBody>
          <a:bodyPr/>
          <a:lstStyle/>
          <a:p>
            <a:fld id="{DBA1B0FB-D917-4C8C-928F-313BD683BF39}" type="slidenum">
              <a:rPr lang="en-US" smtClean="0"/>
              <a:t>‹Nº›</a:t>
            </a:fld>
            <a:endParaRPr lang="en-US"/>
          </a:p>
        </p:txBody>
      </p:sp>
      <p:sp>
        <p:nvSpPr>
          <p:cNvPr id="39" name="Freeform: Shape 38">
            <a:extLst>
              <a:ext uri="{FF2B5EF4-FFF2-40B4-BE49-F238E27FC236}">
                <a16:creationId xmlns:a16="http://schemas.microsoft.com/office/drawing/2014/main" id="{E489F067-39E1-4757-BC11-6169A343F2E1}"/>
              </a:ext>
            </a:extLst>
          </p:cNvPr>
          <p:cNvSpPr>
            <a:spLocks noChangeAspect="1"/>
          </p:cNvSpPr>
          <p:nvPr/>
        </p:nvSpPr>
        <p:spPr>
          <a:xfrm rot="18900000" flipV="1">
            <a:off x="-410727" y="3958416"/>
            <a:ext cx="3536330" cy="1853969"/>
          </a:xfrm>
          <a:custGeom>
            <a:avLst/>
            <a:gdLst>
              <a:gd name="connsiteX0" fmla="*/ 3536330 w 3536330"/>
              <a:gd name="connsiteY0" fmla="*/ 1853969 h 1853969"/>
              <a:gd name="connsiteX1" fmla="*/ 1682362 w 3536330"/>
              <a:gd name="connsiteY1" fmla="*/ 0 h 1853969"/>
              <a:gd name="connsiteX2" fmla="*/ 52157 w 3536330"/>
              <a:gd name="connsiteY2" fmla="*/ 970257 h 1853969"/>
              <a:gd name="connsiteX3" fmla="*/ 0 w 3536330"/>
              <a:gd name="connsiteY3" fmla="*/ 1078528 h 1853969"/>
              <a:gd name="connsiteX4" fmla="*/ 757215 w 3536330"/>
              <a:gd name="connsiteY4" fmla="*/ 1835743 h 1853969"/>
              <a:gd name="connsiteX5" fmla="*/ 774211 w 3536330"/>
              <a:gd name="connsiteY5" fmla="*/ 1667149 h 1853969"/>
              <a:gd name="connsiteX6" fmla="*/ 1682362 w 3536330"/>
              <a:gd name="connsiteY6" fmla="*/ 926985 h 1853969"/>
              <a:gd name="connsiteX7" fmla="*/ 2609345 w 3536330"/>
              <a:gd name="connsiteY7"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6330" h="1853969">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355600" dist="101600" dir="162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Freeform: Shape 32">
            <a:extLst>
              <a:ext uri="{FF2B5EF4-FFF2-40B4-BE49-F238E27FC236}">
                <a16:creationId xmlns:a16="http://schemas.microsoft.com/office/drawing/2014/main" id="{DD231011-607F-42F1-B2D9-2BA8E91CC6AF}"/>
              </a:ext>
            </a:extLst>
          </p:cNvPr>
          <p:cNvSpPr>
            <a:spLocks noChangeAspect="1"/>
          </p:cNvSpPr>
          <p:nvPr/>
        </p:nvSpPr>
        <p:spPr>
          <a:xfrm rot="18900000" flipV="1">
            <a:off x="-481151" y="3649708"/>
            <a:ext cx="3478701" cy="2164843"/>
          </a:xfrm>
          <a:custGeom>
            <a:avLst/>
            <a:gdLst>
              <a:gd name="connsiteX0" fmla="*/ 3478701 w 3478701"/>
              <a:gd name="connsiteY0" fmla="*/ 2164843 h 2164843"/>
              <a:gd name="connsiteX1" fmla="*/ 1624733 w 3478701"/>
              <a:gd name="connsiteY1" fmla="*/ 0 h 2164843"/>
              <a:gd name="connsiteX2" fmla="*/ 87393 w 3478701"/>
              <a:gd name="connsiteY2" fmla="*/ 954459 h 2164843"/>
              <a:gd name="connsiteX3" fmla="*/ 0 w 3478701"/>
              <a:gd name="connsiteY3" fmla="*/ 1122434 h 2164843"/>
              <a:gd name="connsiteX4" fmla="*/ 736015 w 3478701"/>
              <a:gd name="connsiteY4" fmla="*/ 1858449 h 2164843"/>
              <a:gd name="connsiteX5" fmla="*/ 739424 w 3478701"/>
              <a:gd name="connsiteY5" fmla="*/ 1842964 h 2164843"/>
              <a:gd name="connsiteX6" fmla="*/ 1624733 w 3478701"/>
              <a:gd name="connsiteY6" fmla="*/ 1082422 h 2164843"/>
              <a:gd name="connsiteX7" fmla="*/ 2551716 w 3478701"/>
              <a:gd name="connsiteY7" fmla="*/ 2164843 h 216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8701" h="2164843">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chemeClr val="bg2">
              <a:lumMod val="50000"/>
              <a:lumOff val="50000"/>
              <a:alpha val="4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Oval 23">
            <a:extLst>
              <a:ext uri="{FF2B5EF4-FFF2-40B4-BE49-F238E27FC236}">
                <a16:creationId xmlns:a16="http://schemas.microsoft.com/office/drawing/2014/main" id="{EC472EFA-56B5-4A41-8D4B-E9F37727F34D}"/>
              </a:ext>
            </a:extLst>
          </p:cNvPr>
          <p:cNvSpPr/>
          <p:nvPr/>
        </p:nvSpPr>
        <p:spPr>
          <a:xfrm rot="13500000" flipV="1">
            <a:off x="1512277" y="284004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2" name="Oval 41">
            <a:extLst>
              <a:ext uri="{FF2B5EF4-FFF2-40B4-BE49-F238E27FC236}">
                <a16:creationId xmlns:a16="http://schemas.microsoft.com/office/drawing/2014/main" id="{33781B6C-21AD-489D-A3CB-522BB2AC543F}"/>
              </a:ext>
            </a:extLst>
          </p:cNvPr>
          <p:cNvSpPr>
            <a:spLocks noChangeAspect="1"/>
          </p:cNvSpPr>
          <p:nvPr/>
        </p:nvSpPr>
        <p:spPr>
          <a:xfrm>
            <a:off x="1780661" y="385236"/>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51" name="Group 50">
            <a:extLst>
              <a:ext uri="{FF2B5EF4-FFF2-40B4-BE49-F238E27FC236}">
                <a16:creationId xmlns:a16="http://schemas.microsoft.com/office/drawing/2014/main" id="{01AD5B80-530E-44CD-8D4A-2796FB214CBF}"/>
              </a:ext>
            </a:extLst>
          </p:cNvPr>
          <p:cNvGrpSpPr/>
          <p:nvPr/>
        </p:nvGrpSpPr>
        <p:grpSpPr>
          <a:xfrm>
            <a:off x="623181" y="1514007"/>
            <a:ext cx="734257" cy="760506"/>
            <a:chOff x="5243759" y="1363788"/>
            <a:chExt cx="734257" cy="760506"/>
          </a:xfrm>
        </p:grpSpPr>
        <p:sp>
          <p:nvSpPr>
            <p:cNvPr id="52" name="Freeform 5">
              <a:extLst>
                <a:ext uri="{FF2B5EF4-FFF2-40B4-BE49-F238E27FC236}">
                  <a16:creationId xmlns:a16="http://schemas.microsoft.com/office/drawing/2014/main" id="{2F746AA8-9050-4515-9B17-BC850368529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3" name="Freeform 6">
              <a:extLst>
                <a:ext uri="{FF2B5EF4-FFF2-40B4-BE49-F238E27FC236}">
                  <a16:creationId xmlns:a16="http://schemas.microsoft.com/office/drawing/2014/main" id="{23EC1AC3-1698-46D5-80B7-F22F15E1A5E4}"/>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4" name="Freeform 8">
              <a:extLst>
                <a:ext uri="{FF2B5EF4-FFF2-40B4-BE49-F238E27FC236}">
                  <a16:creationId xmlns:a16="http://schemas.microsoft.com/office/drawing/2014/main" id="{73766156-553C-46EB-93FA-4F37CC0FF5CF}"/>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42303464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lstStyle/>
          <a:p>
            <a:fld id="{9EE9E0E3-ECF6-4CFE-8698-AEFEBCECC3C0}" type="datetime2">
              <a:rPr lang="en-US" smtClean="0"/>
              <a:t>Monday, November 13, 2023</a:t>
            </a:fld>
            <a:endParaRPr lang="en-US"/>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lstStyle/>
          <a:p>
            <a:r>
              <a:rPr lang="en-US"/>
              <a:t>Sample Footer</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lstStyle/>
          <a:p>
            <a:fld id="{DBA1B0FB-D917-4C8C-928F-313BD683BF39}" type="slidenum">
              <a:rPr lang="en-US" smtClean="0"/>
              <a:t>‹Nº›</a:t>
            </a:fld>
            <a:endParaRPr lang="en-US"/>
          </a:p>
        </p:txBody>
      </p:sp>
    </p:spTree>
    <p:extLst>
      <p:ext uri="{BB962C8B-B14F-4D97-AF65-F5344CB8AC3E}">
        <p14:creationId xmlns:p14="http://schemas.microsoft.com/office/powerpoint/2010/main" val="41238975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78B0BE9-88B0-4883-9BA9-CD594C400EC1}"/>
              </a:ext>
            </a:extLst>
          </p:cNvPr>
          <p:cNvGrpSpPr/>
          <p:nvPr/>
        </p:nvGrpSpPr>
        <p:grpSpPr>
          <a:xfrm>
            <a:off x="4949631" y="5111861"/>
            <a:ext cx="1262947" cy="1335600"/>
            <a:chOff x="2678417" y="2427951"/>
            <a:chExt cx="1262947" cy="1335600"/>
          </a:xfrm>
        </p:grpSpPr>
        <p:sp>
          <p:nvSpPr>
            <p:cNvPr id="11" name="Freeform: Shape 10">
              <a:extLst>
                <a:ext uri="{FF2B5EF4-FFF2-40B4-BE49-F238E27FC236}">
                  <a16:creationId xmlns:a16="http://schemas.microsoft.com/office/drawing/2014/main" id="{C59DCBF3-7AFA-4CD1-A918-BC6DDE674E6C}"/>
                </a:ext>
              </a:extLst>
            </p:cNvPr>
            <p:cNvSpPr>
              <a:spLocks noChangeAspect="1"/>
            </p:cNvSpPr>
            <p:nvPr/>
          </p:nvSpPr>
          <p:spPr>
            <a:xfrm rot="2700000">
              <a:off x="2769891" y="2336477"/>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Oval 11">
              <a:extLst>
                <a:ext uri="{FF2B5EF4-FFF2-40B4-BE49-F238E27FC236}">
                  <a16:creationId xmlns:a16="http://schemas.microsoft.com/office/drawing/2014/main" id="{06964A02-96E1-4654-9187-DDDE7409F75B}"/>
                </a:ext>
              </a:extLst>
            </p:cNvPr>
            <p:cNvSpPr/>
            <p:nvPr/>
          </p:nvSpPr>
          <p:spPr>
            <a:xfrm rot="8100000">
              <a:off x="2784291" y="2683551"/>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BF3FF76C-A012-4CDA-8AE7-E9413955716A}"/>
              </a:ext>
            </a:extLst>
          </p:cNvPr>
          <p:cNvSpPr>
            <a:spLocks noGrp="1"/>
          </p:cNvSpPr>
          <p:nvPr>
            <p:ph type="title"/>
          </p:nvPr>
        </p:nvSpPr>
        <p:spPr>
          <a:xfrm>
            <a:off x="550863" y="549275"/>
            <a:ext cx="11090275" cy="984885"/>
          </a:xfrm>
        </p:spPr>
        <p:txBody>
          <a:bodyPr anchor="t">
            <a:normAutofit/>
          </a:bodyPr>
          <a:lstStyle>
            <a:lvl1pPr>
              <a:lnSpc>
                <a:spcPct val="100000"/>
              </a:lnSpc>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11A4C80-DC38-4641-924F-90D6078CF592}"/>
              </a:ext>
            </a:extLst>
          </p:cNvPr>
          <p:cNvSpPr>
            <a:spLocks noGrp="1"/>
          </p:cNvSpPr>
          <p:nvPr>
            <p:ph idx="1"/>
          </p:nvPr>
        </p:nvSpPr>
        <p:spPr>
          <a:xfrm>
            <a:off x="4295775" y="1750060"/>
            <a:ext cx="7345362" cy="4342765"/>
          </a:xfrm>
        </p:spPr>
        <p:txBody>
          <a:bodyPr>
            <a:normAutofit/>
          </a:bodyPr>
          <a:lstStyle>
            <a:lvl1pPr>
              <a:defRPr sz="16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82C42771-D3A7-4072-85DC-B7C5E530E8AA}"/>
              </a:ext>
            </a:extLst>
          </p:cNvPr>
          <p:cNvSpPr>
            <a:spLocks noGrp="1"/>
          </p:cNvSpPr>
          <p:nvPr>
            <p:ph type="body" sz="half" idx="2"/>
          </p:nvPr>
        </p:nvSpPr>
        <p:spPr>
          <a:xfrm>
            <a:off x="550863" y="1750060"/>
            <a:ext cx="3565525" cy="434276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D47AB1-6EB5-4E2C-B4A7-42DC643E9FF9}"/>
              </a:ext>
            </a:extLst>
          </p:cNvPr>
          <p:cNvSpPr>
            <a:spLocks noGrp="1"/>
          </p:cNvSpPr>
          <p:nvPr>
            <p:ph type="dt" sz="half" idx="10"/>
          </p:nvPr>
        </p:nvSpPr>
        <p:spPr/>
        <p:txBody>
          <a:bodyPr/>
          <a:lstStyle/>
          <a:p>
            <a:fld id="{251462FC-960E-4740-921F-B36862979F21}" type="datetime2">
              <a:rPr lang="en-US" smtClean="0"/>
              <a:t>Monday, November 13, 2023</a:t>
            </a:fld>
            <a:endParaRPr lang="en-US"/>
          </a:p>
        </p:txBody>
      </p:sp>
      <p:sp>
        <p:nvSpPr>
          <p:cNvPr id="6" name="Footer Placeholder 5">
            <a:extLst>
              <a:ext uri="{FF2B5EF4-FFF2-40B4-BE49-F238E27FC236}">
                <a16:creationId xmlns:a16="http://schemas.microsoft.com/office/drawing/2014/main" id="{5BA9D15F-B6ED-46E1-9840-0B625880EE4B}"/>
              </a:ext>
            </a:extLst>
          </p:cNvPr>
          <p:cNvSpPr>
            <a:spLocks noGrp="1"/>
          </p:cNvSpPr>
          <p:nvPr>
            <p:ph type="ftr" sz="quarter" idx="11"/>
          </p:nvPr>
        </p:nvSpPr>
        <p:spPr/>
        <p:txBody>
          <a:bodyPr/>
          <a:lstStyle/>
          <a:p>
            <a:r>
              <a:rPr lang="en-US"/>
              <a:t>Sample Footer</a:t>
            </a:r>
          </a:p>
        </p:txBody>
      </p:sp>
      <p:sp>
        <p:nvSpPr>
          <p:cNvPr id="7" name="Slide Number Placeholder 6">
            <a:extLst>
              <a:ext uri="{FF2B5EF4-FFF2-40B4-BE49-F238E27FC236}">
                <a16:creationId xmlns:a16="http://schemas.microsoft.com/office/drawing/2014/main" id="{CDAEB023-7A5E-4087-B75E-A38A80EE5D01}"/>
              </a:ext>
            </a:extLst>
          </p:cNvPr>
          <p:cNvSpPr>
            <a:spLocks noGrp="1"/>
          </p:cNvSpPr>
          <p:nvPr>
            <p:ph type="sldNum" sz="quarter" idx="12"/>
          </p:nvPr>
        </p:nvSpPr>
        <p:spPr/>
        <p:txBody>
          <a:bodyPr/>
          <a:lstStyle/>
          <a:p>
            <a:fld id="{DBA1B0FB-D917-4C8C-928F-313BD683BF39}" type="slidenum">
              <a:rPr lang="en-US" smtClean="0"/>
              <a:t>‹Nº›</a:t>
            </a:fld>
            <a:endParaRPr lang="en-US"/>
          </a:p>
        </p:txBody>
      </p:sp>
    </p:spTree>
    <p:extLst>
      <p:ext uri="{BB962C8B-B14F-4D97-AF65-F5344CB8AC3E}">
        <p14:creationId xmlns:p14="http://schemas.microsoft.com/office/powerpoint/2010/main" val="11042873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F98F1FBA-F8BB-42CF-8B3E-D19AAFEE96C1}"/>
              </a:ext>
            </a:extLst>
          </p:cNvPr>
          <p:cNvGrpSpPr/>
          <p:nvPr/>
        </p:nvGrpSpPr>
        <p:grpSpPr>
          <a:xfrm>
            <a:off x="334964" y="5115518"/>
            <a:ext cx="734257" cy="760506"/>
            <a:chOff x="5243759" y="1363788"/>
            <a:chExt cx="734257" cy="760506"/>
          </a:xfrm>
        </p:grpSpPr>
        <p:sp>
          <p:nvSpPr>
            <p:cNvPr id="18" name="Freeform 5">
              <a:extLst>
                <a:ext uri="{FF2B5EF4-FFF2-40B4-BE49-F238E27FC236}">
                  <a16:creationId xmlns:a16="http://schemas.microsoft.com/office/drawing/2014/main" id="{60EE09DD-C3DB-4266-BCC3-A765CFFBF37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Freeform 6">
              <a:extLst>
                <a:ext uri="{FF2B5EF4-FFF2-40B4-BE49-F238E27FC236}">
                  <a16:creationId xmlns:a16="http://schemas.microsoft.com/office/drawing/2014/main" id="{5F301FE0-96DC-4EFB-BBEE-AED762C337C9}"/>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Freeform 8">
              <a:extLst>
                <a:ext uri="{FF2B5EF4-FFF2-40B4-BE49-F238E27FC236}">
                  <a16:creationId xmlns:a16="http://schemas.microsoft.com/office/drawing/2014/main" id="{3BEAD276-8850-4C0C-9777-8537000D522A}"/>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4E5EE0A0-B07E-479B-9684-4BD09FA4376C}"/>
              </a:ext>
            </a:extLst>
          </p:cNvPr>
          <p:cNvSpPr>
            <a:spLocks noGrp="1"/>
          </p:cNvSpPr>
          <p:nvPr>
            <p:ph type="title"/>
          </p:nvPr>
        </p:nvSpPr>
        <p:spPr>
          <a:xfrm>
            <a:off x="550863" y="575409"/>
            <a:ext cx="4500562" cy="984885"/>
          </a:xfrm>
        </p:spPr>
        <p:txBody>
          <a:bodyPr vert="horz" wrap="square" lIns="0" tIns="0" rIns="0" bIns="0" rtlCol="0" anchor="t" anchorCtr="0">
            <a:normAutofit/>
          </a:bodyPr>
          <a:lstStyle>
            <a:lvl1pPr>
              <a:defRPr lang="en-US" sz="3200" dirty="0"/>
            </a:lvl1pPr>
          </a:lstStyle>
          <a:p>
            <a:pPr lvl="0">
              <a:lnSpc>
                <a:spcPct val="100000"/>
              </a:lnSpc>
            </a:pPr>
            <a:r>
              <a:rPr lang="en-US"/>
              <a:t>Click to edit Master title style</a:t>
            </a:r>
            <a:endParaRPr lang="en-US" dirty="0"/>
          </a:p>
        </p:txBody>
      </p:sp>
      <p:sp>
        <p:nvSpPr>
          <p:cNvPr id="3" name="Picture Placeholder 2">
            <a:extLst>
              <a:ext uri="{FF2B5EF4-FFF2-40B4-BE49-F238E27FC236}">
                <a16:creationId xmlns:a16="http://schemas.microsoft.com/office/drawing/2014/main" id="{C11893A9-3462-4F51-83AE-5D2F124B985F}"/>
              </a:ext>
            </a:extLst>
          </p:cNvPr>
          <p:cNvSpPr>
            <a:spLocks noGrp="1"/>
          </p:cNvSpPr>
          <p:nvPr>
            <p:ph type="pic" idx="1"/>
          </p:nvPr>
        </p:nvSpPr>
        <p:spPr>
          <a:xfrm>
            <a:off x="5267324" y="575409"/>
            <a:ext cx="6373813" cy="5733316"/>
          </a:xfrm>
        </p:spPr>
        <p:txBody>
          <a:bodyPr>
            <a:normAutofit/>
          </a:bodyPr>
          <a:lstStyle>
            <a:lvl1pPr marL="0" indent="0">
              <a:buNone/>
              <a:defRPr sz="16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8BA9240C-79C0-4A88-A476-725DE1B9C28F}"/>
              </a:ext>
            </a:extLst>
          </p:cNvPr>
          <p:cNvSpPr>
            <a:spLocks noGrp="1"/>
          </p:cNvSpPr>
          <p:nvPr>
            <p:ph type="body" sz="half" idx="2"/>
          </p:nvPr>
        </p:nvSpPr>
        <p:spPr>
          <a:xfrm>
            <a:off x="550863" y="1776195"/>
            <a:ext cx="4500562" cy="4532530"/>
          </a:xfrm>
        </p:spPr>
        <p:txBody>
          <a:bodyPr anchor="t" anchorCtr="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7D2D6F-49E8-4217-A908-2D9E43583589}"/>
              </a:ext>
            </a:extLst>
          </p:cNvPr>
          <p:cNvSpPr>
            <a:spLocks noGrp="1"/>
          </p:cNvSpPr>
          <p:nvPr>
            <p:ph type="dt" sz="half" idx="10"/>
          </p:nvPr>
        </p:nvSpPr>
        <p:spPr/>
        <p:txBody>
          <a:bodyPr/>
          <a:lstStyle/>
          <a:p>
            <a:fld id="{E50BC9E2-CB44-4C05-9BB5-496C18A241E0}" type="datetime2">
              <a:rPr lang="en-US" smtClean="0"/>
              <a:t>Monday, November 13, 2023</a:t>
            </a:fld>
            <a:endParaRPr lang="en-US"/>
          </a:p>
        </p:txBody>
      </p:sp>
      <p:sp>
        <p:nvSpPr>
          <p:cNvPr id="6" name="Footer Placeholder 5">
            <a:extLst>
              <a:ext uri="{FF2B5EF4-FFF2-40B4-BE49-F238E27FC236}">
                <a16:creationId xmlns:a16="http://schemas.microsoft.com/office/drawing/2014/main" id="{591C4440-6B8D-4A24-A807-8B1302A3DFAF}"/>
              </a:ext>
            </a:extLst>
          </p:cNvPr>
          <p:cNvSpPr>
            <a:spLocks noGrp="1"/>
          </p:cNvSpPr>
          <p:nvPr>
            <p:ph type="ftr" sz="quarter" idx="11"/>
          </p:nvPr>
        </p:nvSpPr>
        <p:spPr/>
        <p:txBody>
          <a:bodyPr/>
          <a:lstStyle/>
          <a:p>
            <a:r>
              <a:rPr lang="en-US"/>
              <a:t>Sample Footer</a:t>
            </a:r>
          </a:p>
        </p:txBody>
      </p:sp>
      <p:sp>
        <p:nvSpPr>
          <p:cNvPr id="7" name="Slide Number Placeholder 6">
            <a:extLst>
              <a:ext uri="{FF2B5EF4-FFF2-40B4-BE49-F238E27FC236}">
                <a16:creationId xmlns:a16="http://schemas.microsoft.com/office/drawing/2014/main" id="{76CFE189-E20B-4108-B290-244424336512}"/>
              </a:ext>
            </a:extLst>
          </p:cNvPr>
          <p:cNvSpPr>
            <a:spLocks noGrp="1"/>
          </p:cNvSpPr>
          <p:nvPr>
            <p:ph type="sldNum" sz="quarter" idx="12"/>
          </p:nvPr>
        </p:nvSpPr>
        <p:spPr/>
        <p:txBody>
          <a:bodyPr/>
          <a:lstStyle/>
          <a:p>
            <a:fld id="{DBA1B0FB-D917-4C8C-928F-313BD683BF39}" type="slidenum">
              <a:rPr lang="en-US" smtClean="0"/>
              <a:t>‹Nº›</a:t>
            </a:fld>
            <a:endParaRPr lang="en-US"/>
          </a:p>
        </p:txBody>
      </p:sp>
    </p:spTree>
    <p:extLst>
      <p:ext uri="{BB962C8B-B14F-4D97-AF65-F5344CB8AC3E}">
        <p14:creationId xmlns:p14="http://schemas.microsoft.com/office/powerpoint/2010/main" val="2521557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79361-B9A1-48F2-9473-23DE30E2D151}"/>
              </a:ext>
            </a:extLst>
          </p:cNvPr>
          <p:cNvSpPr>
            <a:spLocks noGrp="1"/>
          </p:cNvSpPr>
          <p:nvPr>
            <p:ph type="title"/>
          </p:nvPr>
        </p:nvSpPr>
        <p:spPr>
          <a:xfrm>
            <a:off x="550862" y="503906"/>
            <a:ext cx="11090275" cy="1333057"/>
          </a:xfrm>
        </p:spPr>
        <p:txBody>
          <a:bodyPr vert="horz" wrap="square" lIns="0" tIns="0" rIns="0" bIns="0" rtlCol="0" anchor="t" anchorCtr="0">
            <a:normAutofit/>
          </a:bodyPr>
          <a:lstStyle>
            <a:lvl1pPr>
              <a:defRPr lang="en-US" dirty="0"/>
            </a:lvl1pPr>
          </a:lstStyle>
          <a:p>
            <a:pPr lvl="0"/>
            <a:r>
              <a:rPr lang="en-US"/>
              <a:t>Click to edit Master title style</a:t>
            </a:r>
            <a:endParaRPr lang="en-US" dirty="0"/>
          </a:p>
        </p:txBody>
      </p:sp>
      <p:sp>
        <p:nvSpPr>
          <p:cNvPr id="3" name="Vertical Text Placeholder 2">
            <a:extLst>
              <a:ext uri="{FF2B5EF4-FFF2-40B4-BE49-F238E27FC236}">
                <a16:creationId xmlns:a16="http://schemas.microsoft.com/office/drawing/2014/main" id="{FD986779-C2F3-447D-85F7-F6B0E2C97D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661572-1A59-4E3B-BA65-3329E9468C69}"/>
              </a:ext>
            </a:extLst>
          </p:cNvPr>
          <p:cNvSpPr>
            <a:spLocks noGrp="1"/>
          </p:cNvSpPr>
          <p:nvPr>
            <p:ph type="dt" sz="half" idx="10"/>
          </p:nvPr>
        </p:nvSpPr>
        <p:spPr/>
        <p:txBody>
          <a:bodyPr/>
          <a:lstStyle/>
          <a:p>
            <a:fld id="{EE2EBD84-71F4-4271-8C46-0D47C0A9B12E}" type="datetime2">
              <a:rPr lang="en-US" smtClean="0"/>
              <a:t>Monday, November 13, 2023</a:t>
            </a:fld>
            <a:endParaRPr lang="en-US"/>
          </a:p>
        </p:txBody>
      </p:sp>
      <p:sp>
        <p:nvSpPr>
          <p:cNvPr id="5" name="Footer Placeholder 4">
            <a:extLst>
              <a:ext uri="{FF2B5EF4-FFF2-40B4-BE49-F238E27FC236}">
                <a16:creationId xmlns:a16="http://schemas.microsoft.com/office/drawing/2014/main" id="{AFEF84F1-99FE-4F0B-9E76-F581C2C1B6D9}"/>
              </a:ext>
            </a:extLst>
          </p:cNvPr>
          <p:cNvSpPr>
            <a:spLocks noGrp="1"/>
          </p:cNvSpPr>
          <p:nvPr>
            <p:ph type="ftr" sz="quarter" idx="11"/>
          </p:nvPr>
        </p:nvSpPr>
        <p:spPr/>
        <p:txBody>
          <a:bodyPr/>
          <a:lstStyle/>
          <a:p>
            <a:r>
              <a:rPr lang="en-US"/>
              <a:t>Sample Footer</a:t>
            </a:r>
          </a:p>
        </p:txBody>
      </p:sp>
      <p:sp>
        <p:nvSpPr>
          <p:cNvPr id="6" name="Slide Number Placeholder 5">
            <a:extLst>
              <a:ext uri="{FF2B5EF4-FFF2-40B4-BE49-F238E27FC236}">
                <a16:creationId xmlns:a16="http://schemas.microsoft.com/office/drawing/2014/main" id="{97B2D769-16B1-43C4-BF14-3175533511ED}"/>
              </a:ext>
            </a:extLst>
          </p:cNvPr>
          <p:cNvSpPr>
            <a:spLocks noGrp="1"/>
          </p:cNvSpPr>
          <p:nvPr>
            <p:ph type="sldNum" sz="quarter" idx="12"/>
          </p:nvPr>
        </p:nvSpPr>
        <p:spPr/>
        <p:txBody>
          <a:bodyPr/>
          <a:lstStyle/>
          <a:p>
            <a:fld id="{DBA1B0FB-D917-4C8C-928F-313BD683BF39}" type="slidenum">
              <a:rPr lang="en-US" smtClean="0"/>
              <a:t>‹Nº›</a:t>
            </a:fld>
            <a:endParaRPr lang="en-US"/>
          </a:p>
        </p:txBody>
      </p:sp>
    </p:spTree>
    <p:extLst>
      <p:ext uri="{BB962C8B-B14F-4D97-AF65-F5344CB8AC3E}">
        <p14:creationId xmlns:p14="http://schemas.microsoft.com/office/powerpoint/2010/main" val="29218853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56583A-514F-4632-820D-E7EE236A465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173CBBB-7DDC-4437-8C7D-22A1C35202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C69EBF-DA20-4024-8006-B158D571E08E}"/>
              </a:ext>
            </a:extLst>
          </p:cNvPr>
          <p:cNvSpPr>
            <a:spLocks noGrp="1"/>
          </p:cNvSpPr>
          <p:nvPr>
            <p:ph type="dt" sz="half" idx="10"/>
          </p:nvPr>
        </p:nvSpPr>
        <p:spPr/>
        <p:txBody>
          <a:bodyPr/>
          <a:lstStyle/>
          <a:p>
            <a:fld id="{ABAE0CE1-F450-4107-B2CB-17B18F8A3F4A}" type="datetime2">
              <a:rPr lang="en-US" smtClean="0"/>
              <a:t>Monday, November 13, 2023</a:t>
            </a:fld>
            <a:endParaRPr lang="en-US"/>
          </a:p>
        </p:txBody>
      </p:sp>
      <p:sp>
        <p:nvSpPr>
          <p:cNvPr id="5" name="Footer Placeholder 4">
            <a:extLst>
              <a:ext uri="{FF2B5EF4-FFF2-40B4-BE49-F238E27FC236}">
                <a16:creationId xmlns:a16="http://schemas.microsoft.com/office/drawing/2014/main" id="{ADBAC8B9-14B5-4DF1-994D-AB47DB3BA0C5}"/>
              </a:ext>
            </a:extLst>
          </p:cNvPr>
          <p:cNvSpPr>
            <a:spLocks noGrp="1"/>
          </p:cNvSpPr>
          <p:nvPr>
            <p:ph type="ftr" sz="quarter" idx="11"/>
          </p:nvPr>
        </p:nvSpPr>
        <p:spPr/>
        <p:txBody>
          <a:bodyPr/>
          <a:lstStyle/>
          <a:p>
            <a:r>
              <a:rPr lang="en-US"/>
              <a:t>Sample Footer</a:t>
            </a:r>
          </a:p>
        </p:txBody>
      </p:sp>
      <p:sp>
        <p:nvSpPr>
          <p:cNvPr id="6" name="Slide Number Placeholder 5">
            <a:extLst>
              <a:ext uri="{FF2B5EF4-FFF2-40B4-BE49-F238E27FC236}">
                <a16:creationId xmlns:a16="http://schemas.microsoft.com/office/drawing/2014/main" id="{C7876582-5F9B-4F5E-AAD5-D608CB68EA3D}"/>
              </a:ext>
            </a:extLst>
          </p:cNvPr>
          <p:cNvSpPr>
            <a:spLocks noGrp="1"/>
          </p:cNvSpPr>
          <p:nvPr>
            <p:ph type="sldNum" sz="quarter" idx="12"/>
          </p:nvPr>
        </p:nvSpPr>
        <p:spPr/>
        <p:txBody>
          <a:bodyPr/>
          <a:lstStyle/>
          <a:p>
            <a:fld id="{DBA1B0FB-D917-4C8C-928F-313BD683BF39}" type="slidenum">
              <a:rPr lang="en-US" smtClean="0"/>
              <a:t>‹Nº›</a:t>
            </a:fld>
            <a:endParaRPr lang="en-US"/>
          </a:p>
        </p:txBody>
      </p:sp>
    </p:spTree>
    <p:extLst>
      <p:ext uri="{BB962C8B-B14F-4D97-AF65-F5344CB8AC3E}">
        <p14:creationId xmlns:p14="http://schemas.microsoft.com/office/powerpoint/2010/main" val="2019930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1F3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028302-E866-455D-8898-53623027543F}"/>
              </a:ext>
            </a:extLst>
          </p:cNvPr>
          <p:cNvSpPr>
            <a:spLocks noGrp="1"/>
          </p:cNvSpPr>
          <p:nvPr>
            <p:ph type="title"/>
          </p:nvPr>
        </p:nvSpPr>
        <p:spPr>
          <a:xfrm>
            <a:off x="550863" y="550800"/>
            <a:ext cx="11090275" cy="1333057"/>
          </a:xfrm>
          <a:prstGeom prst="rect">
            <a:avLst/>
          </a:prstGeom>
        </p:spPr>
        <p:txBody>
          <a:bodyPr vert="horz" wrap="square" lIns="0" tIns="0" rIns="0" bIns="0" rtlCol="0" anchor="t" anchorCtr="0">
            <a:normAutofit/>
          </a:body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BC94E72B-F0CF-4BC4-B509-A1C4508BE435}"/>
              </a:ext>
            </a:extLst>
          </p:cNvPr>
          <p:cNvSpPr>
            <a:spLocks noGrp="1"/>
          </p:cNvSpPr>
          <p:nvPr>
            <p:ph type="body" idx="1"/>
          </p:nvPr>
        </p:nvSpPr>
        <p:spPr>
          <a:xfrm>
            <a:off x="550863" y="2113862"/>
            <a:ext cx="11091600" cy="3978963"/>
          </a:xfrm>
          <a:prstGeom prst="rect">
            <a:avLst/>
          </a:prstGeom>
        </p:spPr>
        <p:txBody>
          <a:bodyPr vert="horz" wrap="square"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4ACE49D-C22F-4540-AC09-E421D2A2EDBE}"/>
              </a:ext>
            </a:extLst>
          </p:cNvPr>
          <p:cNvSpPr>
            <a:spLocks noGrp="1"/>
          </p:cNvSpPr>
          <p:nvPr>
            <p:ph type="dt" sz="half" idx="2"/>
          </p:nvPr>
        </p:nvSpPr>
        <p:spPr>
          <a:xfrm>
            <a:off x="550863" y="6507212"/>
            <a:ext cx="2628900" cy="153888"/>
          </a:xfrm>
          <a:prstGeom prst="rect">
            <a:avLst/>
          </a:prstGeom>
        </p:spPr>
        <p:txBody>
          <a:bodyPr vert="horz" wrap="square" lIns="0" tIns="0" rIns="0" bIns="0" rtlCol="0" anchor="ctr">
            <a:spAutoFit/>
          </a:bodyPr>
          <a:lstStyle>
            <a:lvl1pPr algn="l">
              <a:defRPr sz="900">
                <a:solidFill>
                  <a:schemeClr val="tx1">
                    <a:alpha val="80000"/>
                  </a:schemeClr>
                </a:solidFill>
              </a:defRPr>
            </a:lvl1pPr>
          </a:lstStyle>
          <a:p>
            <a:fld id="{246CB39B-5F4C-4A7E-9BE3-AAFD45576D16}" type="datetime2">
              <a:rPr lang="en-US" smtClean="0"/>
              <a:t>Monday, November 13, 2023</a:t>
            </a:fld>
            <a:endParaRPr lang="en-US" dirty="0"/>
          </a:p>
        </p:txBody>
      </p:sp>
      <p:sp>
        <p:nvSpPr>
          <p:cNvPr id="5" name="Footer Placeholder 4">
            <a:extLst>
              <a:ext uri="{FF2B5EF4-FFF2-40B4-BE49-F238E27FC236}">
                <a16:creationId xmlns:a16="http://schemas.microsoft.com/office/drawing/2014/main" id="{ACD5C3BE-317E-49E8-82B5-C8A7EC9C8A7E}"/>
              </a:ext>
            </a:extLst>
          </p:cNvPr>
          <p:cNvSpPr>
            <a:spLocks noGrp="1"/>
          </p:cNvSpPr>
          <p:nvPr>
            <p:ph type="ftr" sz="quarter" idx="3"/>
          </p:nvPr>
        </p:nvSpPr>
        <p:spPr>
          <a:xfrm>
            <a:off x="3359150" y="6507212"/>
            <a:ext cx="6379210" cy="153888"/>
          </a:xfrm>
          <a:prstGeom prst="rect">
            <a:avLst/>
          </a:prstGeom>
        </p:spPr>
        <p:txBody>
          <a:bodyPr vert="horz" wrap="square" lIns="0" tIns="0" rIns="0" bIns="0" rtlCol="0" anchor="ctr">
            <a:spAutoFit/>
          </a:bodyPr>
          <a:lstStyle>
            <a:lvl1pPr algn="l">
              <a:defRPr sz="900">
                <a:solidFill>
                  <a:schemeClr val="tx1">
                    <a:alpha val="80000"/>
                  </a:schemeClr>
                </a:solidFill>
              </a:defRPr>
            </a:lvl1pPr>
          </a:lstStyle>
          <a:p>
            <a:r>
              <a:rPr lang="en-US"/>
              <a:t>Sample Footer</a:t>
            </a:r>
            <a:endParaRPr lang="en-US" dirty="0"/>
          </a:p>
        </p:txBody>
      </p:sp>
      <p:sp>
        <p:nvSpPr>
          <p:cNvPr id="6" name="Slide Number Placeholder 5">
            <a:extLst>
              <a:ext uri="{FF2B5EF4-FFF2-40B4-BE49-F238E27FC236}">
                <a16:creationId xmlns:a16="http://schemas.microsoft.com/office/drawing/2014/main" id="{45574E12-6C16-431F-B2CE-E4B15916BA05}"/>
              </a:ext>
            </a:extLst>
          </p:cNvPr>
          <p:cNvSpPr>
            <a:spLocks noGrp="1"/>
          </p:cNvSpPr>
          <p:nvPr>
            <p:ph type="sldNum" sz="quarter" idx="4"/>
          </p:nvPr>
        </p:nvSpPr>
        <p:spPr>
          <a:xfrm>
            <a:off x="9948863" y="6507212"/>
            <a:ext cx="1692274" cy="153888"/>
          </a:xfrm>
          <a:prstGeom prst="rect">
            <a:avLst/>
          </a:prstGeom>
        </p:spPr>
        <p:txBody>
          <a:bodyPr vert="horz" wrap="square" lIns="0" tIns="0" rIns="0" bIns="0" rtlCol="0" anchor="ctr">
            <a:spAutoFit/>
          </a:bodyPr>
          <a:lstStyle>
            <a:lvl1pPr algn="r">
              <a:defRPr sz="900">
                <a:solidFill>
                  <a:schemeClr val="tx1">
                    <a:alpha val="80000"/>
                  </a:schemeClr>
                </a:solidFill>
              </a:defRPr>
            </a:lvl1pPr>
          </a:lstStyle>
          <a:p>
            <a:fld id="{DBA1B0FB-D917-4C8C-928F-313BD683BF39}" type="slidenum">
              <a:rPr lang="en-US" smtClean="0"/>
              <a:pPr/>
              <a:t>‹Nº›</a:t>
            </a:fld>
            <a:endParaRPr lang="en-US"/>
          </a:p>
        </p:txBody>
      </p:sp>
    </p:spTree>
    <p:extLst>
      <p:ext uri="{BB962C8B-B14F-4D97-AF65-F5344CB8AC3E}">
        <p14:creationId xmlns:p14="http://schemas.microsoft.com/office/powerpoint/2010/main" val="423859547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100000"/>
        </a:lnSpc>
        <a:spcBef>
          <a:spcPct val="0"/>
        </a:spcBef>
        <a:buNone/>
        <a:defRPr lang="en-US" sz="4800" kern="1200" dirty="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0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hyperlink" Target="https://unsemantic.com/demo-responsive"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hyperlink" Target="http://www.socialmediaycontenidos.com/wp-content/uploads/2011/10/ley-de-fitts-y-la-optimizacion-de-menus-socialmediaycontenidos.jpg"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hyperlink" Target="http://fww.few.vu.nl/hci/interactive/fitts/"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hyperlink" Target="https://www.uifrommars.com/que-es-hsl/" TargetMode="External"/><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atlassian.design/foundations/color" TargetMode="Externa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attentioninsight.com/increase-your-conversions-with-the-best-call-to-action-colors/" TargetMode="External"/><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31.png"/></Relationships>
</file>

<file path=ppt/slides/_rels/slide3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image" Target="../media/image35.jpg"/><Relationship Id="rId1" Type="http://schemas.openxmlformats.org/officeDocument/2006/relationships/slideLayout" Target="../slideLayouts/slideLayout7.xml"/><Relationship Id="rId4" Type="http://schemas.openxmlformats.org/officeDocument/2006/relationships/image" Target="../media/image37.jpg"/></Relationships>
</file>

<file path=ppt/slides/_rels/slide35.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jpg"/><Relationship Id="rId1" Type="http://schemas.openxmlformats.org/officeDocument/2006/relationships/slideLayout" Target="../slideLayouts/slideLayout7.xml"/><Relationship Id="rId4" Type="http://schemas.openxmlformats.org/officeDocument/2006/relationships/image" Target="../media/image41.jpg"/></Relationships>
</file>

<file path=ppt/slides/_rels/slide37.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hyperlink" Target="https://copic.too.com/blogs/educational/analogous-complimentary-and-split-complementary-color-schemes" TargetMode="External"/><Relationship Id="rId1" Type="http://schemas.openxmlformats.org/officeDocument/2006/relationships/slideLayout" Target="../slideLayouts/slideLayout7.xml"/><Relationship Id="rId4" Type="http://schemas.openxmlformats.org/officeDocument/2006/relationships/image" Target="../media/image44.jpg"/></Relationships>
</file>

<file path=ppt/slides/_rels/slide3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 Id="rId4" Type="http://schemas.openxmlformats.org/officeDocument/2006/relationships/image" Target="../media/image50.png"/></Relationships>
</file>

<file path=ppt/slides/_rels/slide4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hyperlink" Target="https://blog.hubspot.es/marketing/que-es-tipografia" TargetMode="Externa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hyperlink" Target="https://youtu.be/R-sLPTUEq6E?t=954" TargetMode="Externa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E6E029AB-9878-40D0-D390-B60064BD2751}"/>
              </a:ext>
            </a:extLst>
          </p:cNvPr>
          <p:cNvSpPr txBox="1"/>
          <p:nvPr/>
        </p:nvSpPr>
        <p:spPr>
          <a:xfrm>
            <a:off x="1913113" y="1720840"/>
            <a:ext cx="8065913" cy="34163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5400" b="1" i="0" u="none" strike="noStrike" kern="1200" cap="none" spc="0" normalizeH="0" baseline="0" noProof="0" dirty="0">
                <a:ln>
                  <a:noFill/>
                </a:ln>
                <a:solidFill>
                  <a:srgbClr val="FFFFFF"/>
                </a:solidFill>
                <a:effectLst/>
                <a:uLnTx/>
                <a:uFillTx/>
                <a:latin typeface="Helvetica" panose="020B0604020202020204" pitchFamily="34" charset="0"/>
                <a:ea typeface="+mn-ea"/>
                <a:cs typeface="Helvetica" panose="020B0604020202020204" pitchFamily="34" charset="0"/>
              </a:rPr>
              <a:t>Fase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5400" b="1" i="0" u="none" strike="noStrike" kern="1200" cap="none" spc="0" normalizeH="0" baseline="0" noProof="0" dirty="0">
                <a:ln>
                  <a:noFill/>
                </a:ln>
                <a:solidFill>
                  <a:srgbClr val="FFFFFF"/>
                </a:solidFill>
                <a:effectLst/>
                <a:uLnTx/>
                <a:uFillTx/>
                <a:latin typeface="Helvetica" panose="020B0604020202020204" pitchFamily="34" charset="0"/>
                <a:ea typeface="+mn-ea"/>
                <a:cs typeface="Helvetica" panose="020B0604020202020204" pitchFamily="34" charset="0"/>
              </a:rPr>
              <a:t>Diseño</a:t>
            </a:r>
            <a:r>
              <a:rPr kumimoji="0" lang="es-ES" sz="5400" b="1" i="0" u="none" strike="noStrike" kern="1200" cap="none" spc="0" normalizeH="0" baseline="0" noProof="0" dirty="0">
                <a:ln>
                  <a:noFill/>
                </a:ln>
                <a:solidFill>
                  <a:srgbClr val="FFF309"/>
                </a:solidFill>
                <a:effectLst/>
                <a:uLnTx/>
                <a:uFillTx/>
                <a:latin typeface="Helvetica" panose="020B0604020202020204" pitchFamily="34" charset="0"/>
                <a:ea typeface="+mn-ea"/>
                <a:cs typeface="Helvetica" panose="020B0604020202020204" pitchFamily="34" charset="0"/>
              </a:rPr>
              <a:t> visual: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5400" b="1" i="0" u="none" strike="noStrike" kern="1200" cap="none" spc="0" normalizeH="0" baseline="0" noProof="0" dirty="0">
                <a:ln>
                  <a:noFill/>
                </a:ln>
                <a:solidFill>
                  <a:srgbClr val="FFFFFF"/>
                </a:solidFill>
                <a:effectLst/>
                <a:uLnTx/>
                <a:uFillTx/>
                <a:latin typeface="Helvetica" panose="020B0604020202020204" pitchFamily="34" charset="0"/>
                <a:ea typeface="+mn-ea"/>
                <a:cs typeface="Helvetica" panose="020B0604020202020204" pitchFamily="34" charset="0"/>
              </a:rPr>
              <a:t>Del prototipo al producto final</a:t>
            </a:r>
          </a:p>
        </p:txBody>
      </p:sp>
      <p:cxnSp>
        <p:nvCxnSpPr>
          <p:cNvPr id="5" name="Conector recto 4">
            <a:extLst>
              <a:ext uri="{FF2B5EF4-FFF2-40B4-BE49-F238E27FC236}">
                <a16:creationId xmlns:a16="http://schemas.microsoft.com/office/drawing/2014/main" id="{DD342C8F-8B3B-1A3F-E3AA-55F88A7D11A4}"/>
              </a:ext>
            </a:extLst>
          </p:cNvPr>
          <p:cNvCxnSpPr>
            <a:cxnSpLocks/>
          </p:cNvCxnSpPr>
          <p:nvPr/>
        </p:nvCxnSpPr>
        <p:spPr>
          <a:xfrm>
            <a:off x="1405311" y="1649412"/>
            <a:ext cx="0" cy="355917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38219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E6E029AB-9878-40D0-D390-B60064BD2751}"/>
              </a:ext>
            </a:extLst>
          </p:cNvPr>
          <p:cNvSpPr txBox="1"/>
          <p:nvPr/>
        </p:nvSpPr>
        <p:spPr>
          <a:xfrm>
            <a:off x="1989313" y="2106067"/>
            <a:ext cx="8065913" cy="2585323"/>
          </a:xfrm>
          <a:prstGeom prst="rect">
            <a:avLst/>
          </a:prstGeom>
          <a:noFill/>
        </p:spPr>
        <p:txBody>
          <a:bodyPr wrap="square" rtlCol="0">
            <a:spAutoFit/>
          </a:bodyPr>
          <a:lstStyle/>
          <a:p>
            <a:r>
              <a:rPr lang="es-ES" sz="5400" b="1" dirty="0">
                <a:solidFill>
                  <a:srgbClr val="FFF309"/>
                </a:solidFill>
                <a:latin typeface="Helvetica" panose="020B0604020202020204" pitchFamily="34" charset="0"/>
                <a:cs typeface="Helvetica" panose="020B0604020202020204" pitchFamily="34" charset="0"/>
              </a:rPr>
              <a:t>Estructura</a:t>
            </a:r>
            <a:r>
              <a:rPr lang="es-ES" sz="5400" b="1" dirty="0">
                <a:latin typeface="Helvetica" panose="020B0604020202020204" pitchFamily="34" charset="0"/>
                <a:cs typeface="Helvetica" panose="020B0604020202020204" pitchFamily="34" charset="0"/>
              </a:rPr>
              <a:t> básica </a:t>
            </a:r>
          </a:p>
          <a:p>
            <a:r>
              <a:rPr lang="es-ES" sz="5400" b="1" dirty="0">
                <a:latin typeface="Helvetica" panose="020B0604020202020204" pitchFamily="34" charset="0"/>
                <a:cs typeface="Helvetica" panose="020B0604020202020204" pitchFamily="34" charset="0"/>
              </a:rPr>
              <a:t>y </a:t>
            </a:r>
            <a:r>
              <a:rPr lang="es-ES" sz="5400" b="1" dirty="0">
                <a:solidFill>
                  <a:srgbClr val="FFF309"/>
                </a:solidFill>
                <a:latin typeface="Helvetica" panose="020B0604020202020204" pitchFamily="34" charset="0"/>
                <a:cs typeface="Helvetica" panose="020B0604020202020204" pitchFamily="34" charset="0"/>
              </a:rPr>
              <a:t>componentes</a:t>
            </a:r>
            <a:r>
              <a:rPr lang="es-ES" sz="5400" b="1" dirty="0">
                <a:latin typeface="Helvetica" panose="020B0604020202020204" pitchFamily="34" charset="0"/>
                <a:cs typeface="Helvetica" panose="020B0604020202020204" pitchFamily="34" charset="0"/>
              </a:rPr>
              <a:t> visuales</a:t>
            </a:r>
          </a:p>
        </p:txBody>
      </p:sp>
      <p:cxnSp>
        <p:nvCxnSpPr>
          <p:cNvPr id="5" name="Conector recto 4">
            <a:extLst>
              <a:ext uri="{FF2B5EF4-FFF2-40B4-BE49-F238E27FC236}">
                <a16:creationId xmlns:a16="http://schemas.microsoft.com/office/drawing/2014/main" id="{DD342C8F-8B3B-1A3F-E3AA-55F88A7D11A4}"/>
              </a:ext>
            </a:extLst>
          </p:cNvPr>
          <p:cNvCxnSpPr>
            <a:cxnSpLocks/>
          </p:cNvCxnSpPr>
          <p:nvPr/>
        </p:nvCxnSpPr>
        <p:spPr>
          <a:xfrm>
            <a:off x="1433886" y="1924571"/>
            <a:ext cx="0" cy="30088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4561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68E81188-952F-FF76-4656-239C36954F45}"/>
              </a:ext>
            </a:extLst>
          </p:cNvPr>
          <p:cNvSpPr txBox="1"/>
          <p:nvPr/>
        </p:nvSpPr>
        <p:spPr>
          <a:xfrm>
            <a:off x="242556" y="233916"/>
            <a:ext cx="1762021" cy="369332"/>
          </a:xfrm>
          <a:prstGeom prst="rect">
            <a:avLst/>
          </a:prstGeom>
          <a:noFill/>
        </p:spPr>
        <p:txBody>
          <a:bodyPr wrap="none" rtlCol="0">
            <a:spAutoFit/>
          </a:bodyPr>
          <a:lstStyle/>
          <a:p>
            <a:r>
              <a:rPr lang="es-ES" dirty="0">
                <a:latin typeface="Helvetica" panose="020B0604020202020204" pitchFamily="34" charset="0"/>
                <a:cs typeface="Helvetica" panose="020B0604020202020204" pitchFamily="34" charset="0"/>
              </a:rPr>
              <a:t>Fase de diseño</a:t>
            </a:r>
          </a:p>
        </p:txBody>
      </p:sp>
      <p:cxnSp>
        <p:nvCxnSpPr>
          <p:cNvPr id="5" name="Conector recto 4">
            <a:extLst>
              <a:ext uri="{FF2B5EF4-FFF2-40B4-BE49-F238E27FC236}">
                <a16:creationId xmlns:a16="http://schemas.microsoft.com/office/drawing/2014/main" id="{6B9E21EB-704C-E1C9-2D0E-D5B4725CA4F6}"/>
              </a:ext>
            </a:extLst>
          </p:cNvPr>
          <p:cNvCxnSpPr>
            <a:cxnSpLocks/>
          </p:cNvCxnSpPr>
          <p:nvPr/>
        </p:nvCxnSpPr>
        <p:spPr>
          <a:xfrm>
            <a:off x="335504" y="706009"/>
            <a:ext cx="19145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26EA799A-7FB7-96A2-391F-421CF6AFC564}"/>
              </a:ext>
            </a:extLst>
          </p:cNvPr>
          <p:cNvSpPr txBox="1"/>
          <p:nvPr/>
        </p:nvSpPr>
        <p:spPr>
          <a:xfrm>
            <a:off x="242556" y="808771"/>
            <a:ext cx="6384747" cy="6008055"/>
          </a:xfrm>
          <a:prstGeom prst="rect">
            <a:avLst/>
          </a:prstGeom>
          <a:noFill/>
        </p:spPr>
        <p:txBody>
          <a:bodyPr wrap="square">
            <a:spAutoFit/>
          </a:bodyPr>
          <a:lstStyle/>
          <a:p>
            <a:pPr>
              <a:lnSpc>
                <a:spcPct val="110000"/>
              </a:lnSpc>
              <a:spcBef>
                <a:spcPct val="20000"/>
              </a:spcBef>
              <a:spcAft>
                <a:spcPts val="800"/>
              </a:spcAft>
              <a:buClr>
                <a:schemeClr val="accent2"/>
              </a:buClr>
            </a:pPr>
            <a:r>
              <a:rPr kumimoji="1" lang="es-ES" sz="1700" dirty="0">
                <a:latin typeface="Helvetica" panose="020B0604020202020204" pitchFamily="34" charset="0"/>
                <a:cs typeface="Helvetica" panose="020B0604020202020204" pitchFamily="34" charset="0"/>
              </a:rPr>
              <a:t>La estructura típica de una página web es la siguiente:</a:t>
            </a:r>
          </a:p>
          <a:p>
            <a:pPr marL="457200" indent="-457200">
              <a:lnSpc>
                <a:spcPct val="110000"/>
              </a:lnSpc>
              <a:spcBef>
                <a:spcPct val="20000"/>
              </a:spcBef>
              <a:spcAft>
                <a:spcPts val="800"/>
              </a:spcAft>
              <a:buClr>
                <a:schemeClr val="accent2"/>
              </a:buClr>
              <a:buFont typeface="+mj-lt"/>
              <a:buAutoNum type="arabicPeriod"/>
            </a:pPr>
            <a:r>
              <a:rPr kumimoji="1" lang="es-ES" sz="1700" b="1" dirty="0">
                <a:latin typeface="Helvetica" panose="020B0604020202020204" pitchFamily="34" charset="0"/>
                <a:cs typeface="Helvetica" panose="020B0604020202020204" pitchFamily="34" charset="0"/>
              </a:rPr>
              <a:t>CABECERA</a:t>
            </a:r>
            <a:r>
              <a:rPr kumimoji="1" lang="es-ES" sz="1700" dirty="0">
                <a:latin typeface="Helvetica" panose="020B0604020202020204" pitchFamily="34" charset="0"/>
                <a:cs typeface="Helvetica" panose="020B0604020202020204" pitchFamily="34" charset="0"/>
              </a:rPr>
              <a:t> (</a:t>
            </a:r>
            <a:r>
              <a:rPr kumimoji="1" lang="es-ES" sz="1700" i="1" dirty="0" err="1">
                <a:latin typeface="Helvetica" panose="020B0604020202020204" pitchFamily="34" charset="0"/>
                <a:cs typeface="Helvetica" panose="020B0604020202020204" pitchFamily="34" charset="0"/>
              </a:rPr>
              <a:t>Header</a:t>
            </a:r>
            <a:r>
              <a:rPr kumimoji="1" lang="es-ES" sz="1700" dirty="0">
                <a:latin typeface="Helvetica" panose="020B0604020202020204" pitchFamily="34" charset="0"/>
                <a:cs typeface="Helvetica" panose="020B0604020202020204" pitchFamily="34" charset="0"/>
              </a:rPr>
              <a:t>): Donde habitualmente se ubica el logo de la empresa, los menús de las distintas secciones (</a:t>
            </a:r>
            <a:r>
              <a:rPr kumimoji="1" lang="es-ES" sz="1700" i="1" dirty="0" err="1">
                <a:latin typeface="Helvetica" panose="020B0604020202020204" pitchFamily="34" charset="0"/>
                <a:cs typeface="Helvetica" panose="020B0604020202020204" pitchFamily="34" charset="0"/>
              </a:rPr>
              <a:t>navbar</a:t>
            </a:r>
            <a:r>
              <a:rPr kumimoji="1" lang="es-ES" sz="1700" i="1" dirty="0">
                <a:latin typeface="Helvetica" panose="020B0604020202020204" pitchFamily="34" charset="0"/>
                <a:cs typeface="Helvetica" panose="020B0604020202020204" pitchFamily="34" charset="0"/>
              </a:rPr>
              <a:t> o menú de navegación principal) </a:t>
            </a:r>
            <a:r>
              <a:rPr kumimoji="1" lang="es-ES" sz="1700" dirty="0">
                <a:latin typeface="Helvetica" panose="020B0604020202020204" pitchFamily="34" charset="0"/>
                <a:cs typeface="Helvetica" panose="020B0604020202020204" pitchFamily="34" charset="0"/>
              </a:rPr>
              <a:t>y accesos rápidos (identificación, carrito, búsqueda, </a:t>
            </a:r>
            <a:r>
              <a:rPr kumimoji="1" lang="es-ES" sz="1700" dirty="0" err="1">
                <a:latin typeface="Helvetica" panose="020B0604020202020204" pitchFamily="34" charset="0"/>
                <a:cs typeface="Helvetica" panose="020B0604020202020204" pitchFamily="34" charset="0"/>
              </a:rPr>
              <a:t>etc</a:t>
            </a:r>
            <a:r>
              <a:rPr kumimoji="1" lang="es-ES" sz="1700" dirty="0">
                <a:latin typeface="Helvetica" panose="020B0604020202020204" pitchFamily="34" charset="0"/>
                <a:cs typeface="Helvetica" panose="020B0604020202020204" pitchFamily="34" charset="0"/>
              </a:rPr>
              <a:t>). No es obligatoria, pero es muy, muy usada.</a:t>
            </a:r>
          </a:p>
          <a:p>
            <a:pPr marL="457200" indent="-457200">
              <a:lnSpc>
                <a:spcPct val="110000"/>
              </a:lnSpc>
              <a:spcBef>
                <a:spcPct val="20000"/>
              </a:spcBef>
              <a:spcAft>
                <a:spcPts val="800"/>
              </a:spcAft>
              <a:buClr>
                <a:schemeClr val="accent2"/>
              </a:buClr>
              <a:buFont typeface="+mj-lt"/>
              <a:buAutoNum type="arabicPeriod"/>
            </a:pPr>
            <a:r>
              <a:rPr kumimoji="1" lang="es-ES" sz="1700" b="1" dirty="0">
                <a:latin typeface="Helvetica" panose="020B0604020202020204" pitchFamily="34" charset="0"/>
                <a:cs typeface="Helvetica" panose="020B0604020202020204" pitchFamily="34" charset="0"/>
              </a:rPr>
              <a:t>CUERPO</a:t>
            </a:r>
            <a:r>
              <a:rPr kumimoji="1" lang="es-ES" sz="1700" dirty="0">
                <a:latin typeface="Helvetica" panose="020B0604020202020204" pitchFamily="34" charset="0"/>
                <a:cs typeface="Helvetica" panose="020B0604020202020204" pitchFamily="34" charset="0"/>
              </a:rPr>
              <a:t> </a:t>
            </a:r>
            <a:r>
              <a:rPr kumimoji="1" lang="es-ES" sz="1700" i="1" dirty="0">
                <a:latin typeface="Helvetica" panose="020B0604020202020204" pitchFamily="34" charset="0"/>
                <a:cs typeface="Helvetica" panose="020B0604020202020204" pitchFamily="34" charset="0"/>
              </a:rPr>
              <a:t>(Content):</a:t>
            </a:r>
            <a:r>
              <a:rPr kumimoji="1" lang="es-ES" sz="1700" dirty="0">
                <a:latin typeface="Helvetica" panose="020B0604020202020204" pitchFamily="34" charset="0"/>
                <a:cs typeface="Helvetica" panose="020B0604020202020204" pitchFamily="34" charset="0"/>
              </a:rPr>
              <a:t> </a:t>
            </a:r>
            <a:r>
              <a:rPr lang="es-ES" sz="1700" dirty="0"/>
              <a:t>El cuerpo de la página es donde se </a:t>
            </a:r>
            <a:r>
              <a:rPr lang="es-ES" sz="1700" b="1" dirty="0"/>
              <a:t>muestran los contenidos</a:t>
            </a:r>
            <a:r>
              <a:rPr lang="es-ES" sz="1700" dirty="0"/>
              <a:t>. Puede verse acompañado de uno o varios </a:t>
            </a:r>
            <a:r>
              <a:rPr lang="es-ES" sz="1700" i="1" dirty="0" err="1"/>
              <a:t>sidebars</a:t>
            </a:r>
            <a:r>
              <a:rPr lang="es-ES" sz="1700" dirty="0"/>
              <a:t> (o menús laterales de navegación). Se sitúa debajo de la cabecera, del </a:t>
            </a:r>
            <a:r>
              <a:rPr lang="es-ES" sz="1700" i="1" dirty="0" err="1"/>
              <a:t>header</a:t>
            </a:r>
            <a:r>
              <a:rPr lang="es-ES" sz="1700" i="1" dirty="0"/>
              <a:t> </a:t>
            </a:r>
            <a:r>
              <a:rPr lang="es-ES" sz="1700" dirty="0"/>
              <a:t>o bajo el </a:t>
            </a:r>
            <a:r>
              <a:rPr lang="es-ES" sz="1700" i="1" dirty="0" err="1"/>
              <a:t>navbar</a:t>
            </a:r>
            <a:r>
              <a:rPr lang="es-ES" sz="1700" dirty="0"/>
              <a:t> . Generalmente, el cuerpo de la página cuenta con un título descriptivo. Todos los elementos del cuerpo de página deben seguir la </a:t>
            </a:r>
            <a:r>
              <a:rPr lang="es-ES" sz="1700" b="1" dirty="0"/>
              <a:t>guía de estilo </a:t>
            </a:r>
            <a:r>
              <a:rPr lang="es-ES" sz="1700" dirty="0"/>
              <a:t>del resto de la web.</a:t>
            </a:r>
          </a:p>
          <a:p>
            <a:pPr marL="457200" indent="-457200">
              <a:lnSpc>
                <a:spcPct val="110000"/>
              </a:lnSpc>
              <a:spcBef>
                <a:spcPct val="20000"/>
              </a:spcBef>
              <a:spcAft>
                <a:spcPts val="800"/>
              </a:spcAft>
              <a:buClr>
                <a:schemeClr val="accent2"/>
              </a:buClr>
              <a:buFont typeface="+mj-lt"/>
              <a:buAutoNum type="arabicPeriod"/>
            </a:pPr>
            <a:r>
              <a:rPr kumimoji="1" lang="es-ES" sz="1700" b="1" dirty="0">
                <a:latin typeface="Helvetica" panose="020B0604020202020204" pitchFamily="34" charset="0"/>
                <a:cs typeface="Helvetica" panose="020B0604020202020204" pitchFamily="34" charset="0"/>
              </a:rPr>
              <a:t>PIE DE PÁGINA </a:t>
            </a:r>
            <a:r>
              <a:rPr kumimoji="1" lang="es-ES" sz="1700" dirty="0">
                <a:latin typeface="Helvetica" panose="020B0604020202020204" pitchFamily="34" charset="0"/>
                <a:cs typeface="Helvetica" panose="020B0604020202020204" pitchFamily="34" charset="0"/>
              </a:rPr>
              <a:t>(</a:t>
            </a:r>
            <a:r>
              <a:rPr kumimoji="1" lang="es-ES" sz="1700" i="1" dirty="0" err="1">
                <a:latin typeface="Helvetica" panose="020B0604020202020204" pitchFamily="34" charset="0"/>
                <a:cs typeface="Helvetica" panose="020B0604020202020204" pitchFamily="34" charset="0"/>
              </a:rPr>
              <a:t>Footer</a:t>
            </a:r>
            <a:r>
              <a:rPr kumimoji="1" lang="es-ES" sz="1700" i="1" dirty="0">
                <a:latin typeface="Helvetica" panose="020B0604020202020204" pitchFamily="34" charset="0"/>
                <a:cs typeface="Helvetica" panose="020B0604020202020204" pitchFamily="34" charset="0"/>
              </a:rPr>
              <a:t>)</a:t>
            </a:r>
            <a:r>
              <a:rPr kumimoji="1" lang="es-ES" sz="1700" dirty="0">
                <a:latin typeface="Helvetica" panose="020B0604020202020204" pitchFamily="34" charset="0"/>
                <a:cs typeface="Helvetica" panose="020B0604020202020204" pitchFamily="34" charset="0"/>
              </a:rPr>
              <a:t>: El pie de página se sitúa en la parte inferior de una interfaz web, bajo el cuerpo de la página. Generalmente, suele utilizarse para para mostrar enlaces a servicios, formulario de contacto, banners publicitarios, políticas de privacidad y cookies y enlaces a las secciones principales, entre otras cosas.</a:t>
            </a:r>
            <a:endParaRPr lang="es-ES" sz="1700" dirty="0"/>
          </a:p>
        </p:txBody>
      </p:sp>
      <p:pic>
        <p:nvPicPr>
          <p:cNvPr id="7" name="Imagen 6">
            <a:extLst>
              <a:ext uri="{FF2B5EF4-FFF2-40B4-BE49-F238E27FC236}">
                <a16:creationId xmlns:a16="http://schemas.microsoft.com/office/drawing/2014/main" id="{D7948F19-9A7F-17F4-904E-F4FFBC15C08F}"/>
              </a:ext>
            </a:extLst>
          </p:cNvPr>
          <p:cNvPicPr>
            <a:picLocks noChangeAspect="1"/>
          </p:cNvPicPr>
          <p:nvPr/>
        </p:nvPicPr>
        <p:blipFill>
          <a:blip r:embed="rId2"/>
          <a:stretch>
            <a:fillRect/>
          </a:stretch>
        </p:blipFill>
        <p:spPr>
          <a:xfrm>
            <a:off x="6709329" y="1719743"/>
            <a:ext cx="5371250" cy="4244829"/>
          </a:xfrm>
          <a:prstGeom prst="rect">
            <a:avLst/>
          </a:prstGeom>
        </p:spPr>
      </p:pic>
    </p:spTree>
    <p:extLst>
      <p:ext uri="{BB962C8B-B14F-4D97-AF65-F5344CB8AC3E}">
        <p14:creationId xmlns:p14="http://schemas.microsoft.com/office/powerpoint/2010/main" val="40795097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68E81188-952F-FF76-4656-239C36954F45}"/>
              </a:ext>
            </a:extLst>
          </p:cNvPr>
          <p:cNvSpPr txBox="1"/>
          <p:nvPr/>
        </p:nvSpPr>
        <p:spPr>
          <a:xfrm>
            <a:off x="242556" y="233916"/>
            <a:ext cx="1762021" cy="369332"/>
          </a:xfrm>
          <a:prstGeom prst="rect">
            <a:avLst/>
          </a:prstGeom>
          <a:noFill/>
        </p:spPr>
        <p:txBody>
          <a:bodyPr wrap="none" rtlCol="0">
            <a:spAutoFit/>
          </a:bodyPr>
          <a:lstStyle/>
          <a:p>
            <a:r>
              <a:rPr lang="es-ES" dirty="0">
                <a:latin typeface="Helvetica" panose="020B0604020202020204" pitchFamily="34" charset="0"/>
                <a:cs typeface="Helvetica" panose="020B0604020202020204" pitchFamily="34" charset="0"/>
              </a:rPr>
              <a:t>Fase de diseño</a:t>
            </a:r>
          </a:p>
        </p:txBody>
      </p:sp>
      <p:cxnSp>
        <p:nvCxnSpPr>
          <p:cNvPr id="5" name="Conector recto 4">
            <a:extLst>
              <a:ext uri="{FF2B5EF4-FFF2-40B4-BE49-F238E27FC236}">
                <a16:creationId xmlns:a16="http://schemas.microsoft.com/office/drawing/2014/main" id="{6B9E21EB-704C-E1C9-2D0E-D5B4725CA4F6}"/>
              </a:ext>
            </a:extLst>
          </p:cNvPr>
          <p:cNvCxnSpPr>
            <a:cxnSpLocks/>
          </p:cNvCxnSpPr>
          <p:nvPr/>
        </p:nvCxnSpPr>
        <p:spPr>
          <a:xfrm>
            <a:off x="335504" y="706009"/>
            <a:ext cx="19145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26EA799A-7FB7-96A2-391F-421CF6AFC564}"/>
              </a:ext>
            </a:extLst>
          </p:cNvPr>
          <p:cNvSpPr txBox="1"/>
          <p:nvPr/>
        </p:nvSpPr>
        <p:spPr>
          <a:xfrm>
            <a:off x="242556" y="1123861"/>
            <a:ext cx="7844431" cy="5383012"/>
          </a:xfrm>
          <a:prstGeom prst="rect">
            <a:avLst/>
          </a:prstGeom>
          <a:noFill/>
        </p:spPr>
        <p:txBody>
          <a:bodyPr wrap="square">
            <a:spAutoFit/>
          </a:bodyPr>
          <a:lstStyle/>
          <a:p>
            <a:pPr marL="457200" indent="-457200">
              <a:lnSpc>
                <a:spcPct val="110000"/>
              </a:lnSpc>
              <a:spcBef>
                <a:spcPct val="20000"/>
              </a:spcBef>
              <a:spcAft>
                <a:spcPts val="800"/>
              </a:spcAft>
              <a:buClr>
                <a:schemeClr val="accent2"/>
              </a:buClr>
              <a:buFont typeface="+mj-lt"/>
              <a:buAutoNum type="arabicPeriod" startAt="4"/>
            </a:pPr>
            <a:r>
              <a:rPr kumimoji="1" lang="es-ES" sz="1900" b="1" dirty="0">
                <a:latin typeface="Helvetica" panose="020B0604020202020204" pitchFamily="34" charset="0"/>
                <a:cs typeface="Helvetica" panose="020B0604020202020204" pitchFamily="34" charset="0"/>
              </a:rPr>
              <a:t>BARRA LATERAL </a:t>
            </a:r>
            <a:r>
              <a:rPr kumimoji="1" lang="es-ES" sz="1900" dirty="0">
                <a:latin typeface="Helvetica" panose="020B0604020202020204" pitchFamily="34" charset="0"/>
                <a:cs typeface="Helvetica" panose="020B0604020202020204" pitchFamily="34" charset="0"/>
              </a:rPr>
              <a:t>(</a:t>
            </a:r>
            <a:r>
              <a:rPr kumimoji="1" lang="es-ES" sz="1900" i="1" dirty="0" err="1">
                <a:latin typeface="Helvetica" panose="020B0604020202020204" pitchFamily="34" charset="0"/>
                <a:cs typeface="Helvetica" panose="020B0604020202020204" pitchFamily="34" charset="0"/>
              </a:rPr>
              <a:t>sidebar</a:t>
            </a:r>
            <a:r>
              <a:rPr kumimoji="1" lang="es-ES" sz="1900" i="1" dirty="0">
                <a:latin typeface="Helvetica" panose="020B0604020202020204" pitchFamily="34" charset="0"/>
                <a:cs typeface="Helvetica" panose="020B0604020202020204" pitchFamily="34" charset="0"/>
              </a:rPr>
              <a:t>)</a:t>
            </a:r>
            <a:r>
              <a:rPr kumimoji="1" lang="es-ES" sz="1900" dirty="0">
                <a:latin typeface="Helvetica" panose="020B0604020202020204" pitchFamily="34" charset="0"/>
                <a:cs typeface="Helvetica" panose="020B0604020202020204" pitchFamily="34" charset="0"/>
              </a:rPr>
              <a:t>: La barra lateral o </a:t>
            </a:r>
            <a:r>
              <a:rPr kumimoji="1" lang="es-ES" sz="1900" dirty="0" err="1">
                <a:latin typeface="Helvetica" panose="020B0604020202020204" pitchFamily="34" charset="0"/>
                <a:cs typeface="Helvetica" panose="020B0604020202020204" pitchFamily="34" charset="0"/>
              </a:rPr>
              <a:t>sidebar</a:t>
            </a:r>
            <a:r>
              <a:rPr kumimoji="1" lang="es-ES" sz="1900" dirty="0">
                <a:latin typeface="Helvetica" panose="020B0604020202020204" pitchFamily="34" charset="0"/>
                <a:cs typeface="Helvetica" panose="020B0604020202020204" pitchFamily="34" charset="0"/>
              </a:rPr>
              <a:t> de una página web es un área ubicada a un lado del contenido principal, generalmente a la derecha o a la izquierda, que puede contener información adicional, enlaces a otras páginas o secciones, o widgets como un calendario o una lista de etiquetas. Puede ser utilizada para mostrar contenido relacionado con el contenido principal de la página, como enlaces a artículos relacionados o para mostrar información adicional que pueda ser útil para el usuario, como una lista de categorías o etiquetas y secciones en una tienda </a:t>
            </a:r>
            <a:r>
              <a:rPr kumimoji="1" lang="es-ES" sz="1900" i="1" dirty="0" err="1">
                <a:latin typeface="Helvetica" panose="020B0604020202020204" pitchFamily="34" charset="0"/>
                <a:cs typeface="Helvetica" panose="020B0604020202020204" pitchFamily="34" charset="0"/>
              </a:rPr>
              <a:t>on</a:t>
            </a:r>
            <a:r>
              <a:rPr kumimoji="1" lang="es-ES" sz="1900" i="1" dirty="0">
                <a:latin typeface="Helvetica" panose="020B0604020202020204" pitchFamily="34" charset="0"/>
                <a:cs typeface="Helvetica" panose="020B0604020202020204" pitchFamily="34" charset="0"/>
              </a:rPr>
              <a:t> line</a:t>
            </a:r>
            <a:r>
              <a:rPr kumimoji="1" lang="es-ES" sz="1900" dirty="0">
                <a:latin typeface="Helvetica" panose="020B0604020202020204" pitchFamily="34" charset="0"/>
                <a:cs typeface="Helvetica" panose="020B0604020202020204" pitchFamily="34" charset="0"/>
              </a:rPr>
              <a:t>.</a:t>
            </a:r>
          </a:p>
          <a:p>
            <a:pPr lvl="1">
              <a:lnSpc>
                <a:spcPct val="110000"/>
              </a:lnSpc>
              <a:spcBef>
                <a:spcPct val="20000"/>
              </a:spcBef>
              <a:spcAft>
                <a:spcPts val="800"/>
              </a:spcAft>
              <a:buClr>
                <a:schemeClr val="accent2"/>
              </a:buClr>
            </a:pPr>
            <a:r>
              <a:rPr kumimoji="1" lang="es-ES" sz="1900" dirty="0">
                <a:latin typeface="Helvetica" panose="020B0604020202020204" pitchFamily="34" charset="0"/>
                <a:cs typeface="Helvetica" panose="020B0604020202020204" pitchFamily="34" charset="0"/>
              </a:rPr>
              <a:t>También puede ser utilizada para mostrar anuncios o promociones, o para incluir elementos interactivos como formularios de suscripción a boletines o encuestas</a:t>
            </a:r>
          </a:p>
          <a:p>
            <a:pPr marL="457200" indent="-457200">
              <a:lnSpc>
                <a:spcPct val="110000"/>
              </a:lnSpc>
              <a:spcBef>
                <a:spcPct val="20000"/>
              </a:spcBef>
              <a:spcAft>
                <a:spcPts val="800"/>
              </a:spcAft>
              <a:buClr>
                <a:schemeClr val="accent2"/>
              </a:buClr>
              <a:buFont typeface="+mj-lt"/>
              <a:buAutoNum type="arabicPeriod" startAt="4"/>
            </a:pPr>
            <a:endParaRPr kumimoji="1" lang="es-ES" sz="1900" dirty="0">
              <a:latin typeface="Helvetica" panose="020B0604020202020204" pitchFamily="34" charset="0"/>
              <a:cs typeface="Helvetica" panose="020B0604020202020204" pitchFamily="34" charset="0"/>
            </a:endParaRPr>
          </a:p>
          <a:p>
            <a:pPr>
              <a:lnSpc>
                <a:spcPct val="110000"/>
              </a:lnSpc>
              <a:spcBef>
                <a:spcPct val="20000"/>
              </a:spcBef>
              <a:spcAft>
                <a:spcPts val="800"/>
              </a:spcAft>
              <a:buClr>
                <a:schemeClr val="accent2"/>
              </a:buClr>
            </a:pPr>
            <a:endParaRPr lang="es-ES" sz="1900" dirty="0"/>
          </a:p>
        </p:txBody>
      </p:sp>
      <p:pic>
        <p:nvPicPr>
          <p:cNvPr id="6" name="Imagen 5">
            <a:extLst>
              <a:ext uri="{FF2B5EF4-FFF2-40B4-BE49-F238E27FC236}">
                <a16:creationId xmlns:a16="http://schemas.microsoft.com/office/drawing/2014/main" id="{BB66B2AF-8739-CD5A-C751-0BE68826CC87}"/>
              </a:ext>
            </a:extLst>
          </p:cNvPr>
          <p:cNvPicPr>
            <a:picLocks noChangeAspect="1"/>
          </p:cNvPicPr>
          <p:nvPr/>
        </p:nvPicPr>
        <p:blipFill>
          <a:blip r:embed="rId2"/>
          <a:stretch>
            <a:fillRect/>
          </a:stretch>
        </p:blipFill>
        <p:spPr>
          <a:xfrm>
            <a:off x="8430602" y="233916"/>
            <a:ext cx="2969700" cy="6393866"/>
          </a:xfrm>
          <a:prstGeom prst="rect">
            <a:avLst/>
          </a:prstGeom>
        </p:spPr>
      </p:pic>
    </p:spTree>
    <p:extLst>
      <p:ext uri="{BB962C8B-B14F-4D97-AF65-F5344CB8AC3E}">
        <p14:creationId xmlns:p14="http://schemas.microsoft.com/office/powerpoint/2010/main" val="25587991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68E81188-952F-FF76-4656-239C36954F45}"/>
              </a:ext>
            </a:extLst>
          </p:cNvPr>
          <p:cNvSpPr txBox="1"/>
          <p:nvPr/>
        </p:nvSpPr>
        <p:spPr>
          <a:xfrm>
            <a:off x="242556" y="233916"/>
            <a:ext cx="1762021" cy="369332"/>
          </a:xfrm>
          <a:prstGeom prst="rect">
            <a:avLst/>
          </a:prstGeom>
          <a:noFill/>
        </p:spPr>
        <p:txBody>
          <a:bodyPr wrap="none" rtlCol="0">
            <a:spAutoFit/>
          </a:bodyPr>
          <a:lstStyle/>
          <a:p>
            <a:r>
              <a:rPr lang="es-ES" dirty="0">
                <a:latin typeface="Helvetica" panose="020B0604020202020204" pitchFamily="34" charset="0"/>
                <a:cs typeface="Helvetica" panose="020B0604020202020204" pitchFamily="34" charset="0"/>
              </a:rPr>
              <a:t>Fase de diseño</a:t>
            </a:r>
          </a:p>
        </p:txBody>
      </p:sp>
      <p:cxnSp>
        <p:nvCxnSpPr>
          <p:cNvPr id="5" name="Conector recto 4">
            <a:extLst>
              <a:ext uri="{FF2B5EF4-FFF2-40B4-BE49-F238E27FC236}">
                <a16:creationId xmlns:a16="http://schemas.microsoft.com/office/drawing/2014/main" id="{6B9E21EB-704C-E1C9-2D0E-D5B4725CA4F6}"/>
              </a:ext>
            </a:extLst>
          </p:cNvPr>
          <p:cNvCxnSpPr>
            <a:cxnSpLocks/>
          </p:cNvCxnSpPr>
          <p:nvPr/>
        </p:nvCxnSpPr>
        <p:spPr>
          <a:xfrm>
            <a:off x="335504" y="706009"/>
            <a:ext cx="19145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26EA799A-7FB7-96A2-391F-421CF6AFC564}"/>
              </a:ext>
            </a:extLst>
          </p:cNvPr>
          <p:cNvSpPr txBox="1"/>
          <p:nvPr/>
        </p:nvSpPr>
        <p:spPr>
          <a:xfrm>
            <a:off x="242556" y="910829"/>
            <a:ext cx="11486382" cy="4257063"/>
          </a:xfrm>
          <a:prstGeom prst="rect">
            <a:avLst/>
          </a:prstGeom>
          <a:noFill/>
        </p:spPr>
        <p:txBody>
          <a:bodyPr wrap="square">
            <a:spAutoFit/>
          </a:bodyPr>
          <a:lstStyle/>
          <a:p>
            <a:pPr marL="457200" indent="-457200">
              <a:lnSpc>
                <a:spcPct val="110000"/>
              </a:lnSpc>
              <a:spcBef>
                <a:spcPct val="20000"/>
              </a:spcBef>
              <a:spcAft>
                <a:spcPts val="800"/>
              </a:spcAft>
              <a:buClr>
                <a:schemeClr val="accent2"/>
              </a:buClr>
              <a:buFont typeface="+mj-lt"/>
              <a:buAutoNum type="arabicPeriod" startAt="5"/>
            </a:pPr>
            <a:r>
              <a:rPr kumimoji="1" lang="es-ES" sz="1900" b="1" dirty="0">
                <a:latin typeface="Helvetica" panose="020B0604020202020204" pitchFamily="34" charset="0"/>
                <a:cs typeface="Helvetica" panose="020B0604020202020204" pitchFamily="34" charset="0"/>
              </a:rPr>
              <a:t>EL MENÚ DE NAVEGACIÓN </a:t>
            </a:r>
            <a:r>
              <a:rPr kumimoji="1" lang="es-ES" sz="1900" dirty="0">
                <a:latin typeface="Helvetica" panose="020B0604020202020204" pitchFamily="34" charset="0"/>
                <a:cs typeface="Helvetica" panose="020B0604020202020204" pitchFamily="34" charset="0"/>
              </a:rPr>
              <a:t>(</a:t>
            </a:r>
            <a:r>
              <a:rPr kumimoji="1" lang="es-ES" sz="1900" i="1" dirty="0" err="1">
                <a:latin typeface="Helvetica" panose="020B0604020202020204" pitchFamily="34" charset="0"/>
                <a:cs typeface="Helvetica" panose="020B0604020202020204" pitchFamily="34" charset="0"/>
              </a:rPr>
              <a:t>Navbar</a:t>
            </a:r>
            <a:r>
              <a:rPr kumimoji="1" lang="es-ES" sz="1900" dirty="0">
                <a:latin typeface="Helvetica" panose="020B0604020202020204" pitchFamily="34" charset="0"/>
                <a:cs typeface="Helvetica" panose="020B0604020202020204" pitchFamily="34" charset="0"/>
              </a:rPr>
              <a:t>) de una página web es un elemento crucial para ayudar a los usuarios a encontrar y acceder al contenido que buscan. Un menú de navegación bien diseñado puede mejorar la experiencia del usuario y aumentar la probabilidad de que los usuarios encuentren lo que buscan en la página. Suele ubicarse en el encabezado de la página y puede incluir enlaces a las principales secciones o páginas de la web. Estos enlaces pueden organizarse en una estructura jerárquica, con submenús que se despliegan al pasar el cursor sobre ellos, o pueden mostrarse en una sola fila o columna. </a:t>
            </a:r>
          </a:p>
          <a:p>
            <a:pPr lvl="1">
              <a:lnSpc>
                <a:spcPct val="110000"/>
              </a:lnSpc>
              <a:spcBef>
                <a:spcPct val="20000"/>
              </a:spcBef>
              <a:spcAft>
                <a:spcPts val="800"/>
              </a:spcAft>
              <a:buClr>
                <a:schemeClr val="accent2"/>
              </a:buClr>
            </a:pPr>
            <a:r>
              <a:rPr kumimoji="1" lang="es-ES" sz="1900" dirty="0">
                <a:latin typeface="Helvetica" panose="020B0604020202020204" pitchFamily="34" charset="0"/>
                <a:cs typeface="Helvetica" panose="020B0604020202020204" pitchFamily="34" charset="0"/>
              </a:rPr>
              <a:t>El diseño del menú de navegación debe ser </a:t>
            </a:r>
            <a:r>
              <a:rPr kumimoji="1" lang="es-ES" sz="1900" b="1" dirty="0">
                <a:latin typeface="Helvetica" panose="020B0604020202020204" pitchFamily="34" charset="0"/>
                <a:cs typeface="Helvetica" panose="020B0604020202020204" pitchFamily="34" charset="0"/>
              </a:rPr>
              <a:t>claro</a:t>
            </a:r>
            <a:r>
              <a:rPr kumimoji="1" lang="es-ES" sz="1900" dirty="0">
                <a:latin typeface="Helvetica" panose="020B0604020202020204" pitchFamily="34" charset="0"/>
                <a:cs typeface="Helvetica" panose="020B0604020202020204" pitchFamily="34" charset="0"/>
              </a:rPr>
              <a:t> y </a:t>
            </a:r>
            <a:r>
              <a:rPr kumimoji="1" lang="es-ES" sz="1900" b="1" dirty="0">
                <a:latin typeface="Helvetica" panose="020B0604020202020204" pitchFamily="34" charset="0"/>
                <a:cs typeface="Helvetica" panose="020B0604020202020204" pitchFamily="34" charset="0"/>
              </a:rPr>
              <a:t>fácil</a:t>
            </a:r>
            <a:r>
              <a:rPr kumimoji="1" lang="es-ES" sz="1900" dirty="0">
                <a:latin typeface="Helvetica" panose="020B0604020202020204" pitchFamily="34" charset="0"/>
                <a:cs typeface="Helvetica" panose="020B0604020202020204" pitchFamily="34" charset="0"/>
              </a:rPr>
              <a:t> de </a:t>
            </a:r>
            <a:r>
              <a:rPr kumimoji="1" lang="es-ES" sz="1900" b="1" dirty="0">
                <a:latin typeface="Helvetica" panose="020B0604020202020204" pitchFamily="34" charset="0"/>
                <a:cs typeface="Helvetica" panose="020B0604020202020204" pitchFamily="34" charset="0"/>
              </a:rPr>
              <a:t>usar</a:t>
            </a:r>
            <a:r>
              <a:rPr kumimoji="1" lang="es-ES" sz="1900" dirty="0">
                <a:latin typeface="Helvetica" panose="020B0604020202020204" pitchFamily="34" charset="0"/>
                <a:cs typeface="Helvetica" panose="020B0604020202020204" pitchFamily="34" charset="0"/>
              </a:rPr>
              <a:t>, con etiquetas descriptivas para cada enlace y una disposición lógica de las opciones. También es importante asegurarse de que el menú sea fácilmente accesible desde cualquier parte de la página y que se adapte bien a diferentes tamaños de pantalla.</a:t>
            </a:r>
          </a:p>
          <a:p>
            <a:pPr>
              <a:lnSpc>
                <a:spcPct val="110000"/>
              </a:lnSpc>
              <a:spcBef>
                <a:spcPct val="20000"/>
              </a:spcBef>
              <a:spcAft>
                <a:spcPts val="800"/>
              </a:spcAft>
              <a:buClr>
                <a:schemeClr val="accent2"/>
              </a:buClr>
            </a:pPr>
            <a:endParaRPr lang="es-ES" sz="1900" dirty="0"/>
          </a:p>
        </p:txBody>
      </p:sp>
      <p:grpSp>
        <p:nvGrpSpPr>
          <p:cNvPr id="14" name="Grupo 13">
            <a:extLst>
              <a:ext uri="{FF2B5EF4-FFF2-40B4-BE49-F238E27FC236}">
                <a16:creationId xmlns:a16="http://schemas.microsoft.com/office/drawing/2014/main" id="{C0F7B6BD-3D10-0814-42D2-313B036C2F10}"/>
              </a:ext>
            </a:extLst>
          </p:cNvPr>
          <p:cNvGrpSpPr/>
          <p:nvPr/>
        </p:nvGrpSpPr>
        <p:grpSpPr>
          <a:xfrm>
            <a:off x="352809" y="4863154"/>
            <a:ext cx="11486382" cy="1470534"/>
            <a:chOff x="231975" y="5064490"/>
            <a:chExt cx="11782189" cy="1559594"/>
          </a:xfrm>
        </p:grpSpPr>
        <p:pic>
          <p:nvPicPr>
            <p:cNvPr id="7" name="Imagen 6">
              <a:extLst>
                <a:ext uri="{FF2B5EF4-FFF2-40B4-BE49-F238E27FC236}">
                  <a16:creationId xmlns:a16="http://schemas.microsoft.com/office/drawing/2014/main" id="{01A8C81D-14AB-1838-C342-4C497F76757A}"/>
                </a:ext>
              </a:extLst>
            </p:cNvPr>
            <p:cNvPicPr>
              <a:picLocks noChangeAspect="1"/>
            </p:cNvPicPr>
            <p:nvPr/>
          </p:nvPicPr>
          <p:blipFill>
            <a:blip r:embed="rId2"/>
            <a:stretch>
              <a:fillRect/>
            </a:stretch>
          </p:blipFill>
          <p:spPr>
            <a:xfrm>
              <a:off x="527782" y="5532803"/>
              <a:ext cx="11486382" cy="517130"/>
            </a:xfrm>
            <a:prstGeom prst="rect">
              <a:avLst/>
            </a:prstGeom>
          </p:spPr>
        </p:pic>
        <p:sp>
          <p:nvSpPr>
            <p:cNvPr id="8" name="CuadroTexto 7">
              <a:extLst>
                <a:ext uri="{FF2B5EF4-FFF2-40B4-BE49-F238E27FC236}">
                  <a16:creationId xmlns:a16="http://schemas.microsoft.com/office/drawing/2014/main" id="{4B911D50-DB75-3532-272A-2C7C02B5B0A2}"/>
                </a:ext>
              </a:extLst>
            </p:cNvPr>
            <p:cNvSpPr txBox="1"/>
            <p:nvPr/>
          </p:nvSpPr>
          <p:spPr>
            <a:xfrm>
              <a:off x="231975" y="6254752"/>
              <a:ext cx="891591" cy="36933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s-ES" dirty="0" err="1"/>
                <a:t>NavBar</a:t>
              </a:r>
              <a:endParaRPr lang="es-ES" dirty="0"/>
            </a:p>
          </p:txBody>
        </p:sp>
        <p:sp>
          <p:nvSpPr>
            <p:cNvPr id="9" name="CuadroTexto 8">
              <a:extLst>
                <a:ext uri="{FF2B5EF4-FFF2-40B4-BE49-F238E27FC236}">
                  <a16:creationId xmlns:a16="http://schemas.microsoft.com/office/drawing/2014/main" id="{2F2AC934-EA4C-03FB-92D4-B08F029350BA}"/>
                </a:ext>
              </a:extLst>
            </p:cNvPr>
            <p:cNvSpPr txBox="1"/>
            <p:nvPr/>
          </p:nvSpPr>
          <p:spPr>
            <a:xfrm>
              <a:off x="235181" y="5065130"/>
              <a:ext cx="888385" cy="36933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s-ES" dirty="0" err="1"/>
                <a:t>Header</a:t>
              </a:r>
              <a:endParaRPr lang="es-ES" dirty="0"/>
            </a:p>
          </p:txBody>
        </p:sp>
        <p:sp>
          <p:nvSpPr>
            <p:cNvPr id="12" name="Flecha: doblada hacia arriba 11">
              <a:extLst>
                <a:ext uri="{FF2B5EF4-FFF2-40B4-BE49-F238E27FC236}">
                  <a16:creationId xmlns:a16="http://schemas.microsoft.com/office/drawing/2014/main" id="{396957E2-06E2-2690-E276-78987C5CEA89}"/>
                </a:ext>
              </a:extLst>
            </p:cNvPr>
            <p:cNvSpPr/>
            <p:nvPr/>
          </p:nvSpPr>
          <p:spPr>
            <a:xfrm>
              <a:off x="1123565" y="6078460"/>
              <a:ext cx="788173" cy="468313"/>
            </a:xfrm>
            <a:prstGeom prst="bentUp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s-ES"/>
            </a:p>
          </p:txBody>
        </p:sp>
        <p:sp>
          <p:nvSpPr>
            <p:cNvPr id="13" name="Flecha: doblada hacia arriba 12">
              <a:extLst>
                <a:ext uri="{FF2B5EF4-FFF2-40B4-BE49-F238E27FC236}">
                  <a16:creationId xmlns:a16="http://schemas.microsoft.com/office/drawing/2014/main" id="{10775A0F-E2C3-57CA-0B3E-D5223FC19173}"/>
                </a:ext>
              </a:extLst>
            </p:cNvPr>
            <p:cNvSpPr/>
            <p:nvPr/>
          </p:nvSpPr>
          <p:spPr>
            <a:xfrm flipV="1">
              <a:off x="1123567" y="5064490"/>
              <a:ext cx="788172" cy="468313"/>
            </a:xfrm>
            <a:prstGeom prst="bentUp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s-ES"/>
            </a:p>
          </p:txBody>
        </p:sp>
      </p:grpSp>
    </p:spTree>
    <p:extLst>
      <p:ext uri="{BB962C8B-B14F-4D97-AF65-F5344CB8AC3E}">
        <p14:creationId xmlns:p14="http://schemas.microsoft.com/office/powerpoint/2010/main" val="4205054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68E81188-952F-FF76-4656-239C36954F45}"/>
              </a:ext>
            </a:extLst>
          </p:cNvPr>
          <p:cNvSpPr txBox="1"/>
          <p:nvPr/>
        </p:nvSpPr>
        <p:spPr>
          <a:xfrm>
            <a:off x="242556" y="233916"/>
            <a:ext cx="1762021" cy="369332"/>
          </a:xfrm>
          <a:prstGeom prst="rect">
            <a:avLst/>
          </a:prstGeom>
          <a:noFill/>
        </p:spPr>
        <p:txBody>
          <a:bodyPr wrap="none" rtlCol="0">
            <a:spAutoFit/>
          </a:bodyPr>
          <a:lstStyle/>
          <a:p>
            <a:r>
              <a:rPr lang="es-ES" dirty="0">
                <a:latin typeface="Helvetica" panose="020B0604020202020204" pitchFamily="34" charset="0"/>
                <a:cs typeface="Helvetica" panose="020B0604020202020204" pitchFamily="34" charset="0"/>
              </a:rPr>
              <a:t>Fase de diseño</a:t>
            </a:r>
          </a:p>
        </p:txBody>
      </p:sp>
      <p:cxnSp>
        <p:nvCxnSpPr>
          <p:cNvPr id="5" name="Conector recto 4">
            <a:extLst>
              <a:ext uri="{FF2B5EF4-FFF2-40B4-BE49-F238E27FC236}">
                <a16:creationId xmlns:a16="http://schemas.microsoft.com/office/drawing/2014/main" id="{6B9E21EB-704C-E1C9-2D0E-D5B4725CA4F6}"/>
              </a:ext>
            </a:extLst>
          </p:cNvPr>
          <p:cNvCxnSpPr>
            <a:cxnSpLocks/>
          </p:cNvCxnSpPr>
          <p:nvPr/>
        </p:nvCxnSpPr>
        <p:spPr>
          <a:xfrm>
            <a:off x="335504" y="706009"/>
            <a:ext cx="19145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26EA799A-7FB7-96A2-391F-421CF6AFC564}"/>
              </a:ext>
            </a:extLst>
          </p:cNvPr>
          <p:cNvSpPr txBox="1"/>
          <p:nvPr/>
        </p:nvSpPr>
        <p:spPr>
          <a:xfrm>
            <a:off x="242556" y="808771"/>
            <a:ext cx="7844431" cy="6831101"/>
          </a:xfrm>
          <a:prstGeom prst="rect">
            <a:avLst/>
          </a:prstGeom>
          <a:noFill/>
        </p:spPr>
        <p:txBody>
          <a:bodyPr wrap="square">
            <a:spAutoFit/>
          </a:bodyPr>
          <a:lstStyle/>
          <a:p>
            <a:pPr>
              <a:lnSpc>
                <a:spcPct val="110000"/>
              </a:lnSpc>
              <a:spcBef>
                <a:spcPct val="20000"/>
              </a:spcBef>
              <a:spcAft>
                <a:spcPts val="800"/>
              </a:spcAft>
              <a:buClr>
                <a:schemeClr val="accent2"/>
              </a:buClr>
            </a:pPr>
            <a:r>
              <a:rPr kumimoji="1" lang="es-ES" sz="1900" dirty="0">
                <a:latin typeface="Helvetica" panose="020B0604020202020204" pitchFamily="34" charset="0"/>
                <a:cs typeface="Helvetica" panose="020B0604020202020204" pitchFamily="34" charset="0"/>
              </a:rPr>
              <a:t>OTROS ELEMENTOS</a:t>
            </a:r>
          </a:p>
          <a:p>
            <a:pPr marL="342900" indent="-342900">
              <a:lnSpc>
                <a:spcPct val="110000"/>
              </a:lnSpc>
              <a:spcBef>
                <a:spcPct val="20000"/>
              </a:spcBef>
              <a:spcAft>
                <a:spcPts val="800"/>
              </a:spcAft>
              <a:buClr>
                <a:schemeClr val="accent2"/>
              </a:buClr>
              <a:buFont typeface="Courier New" panose="02070309020205020404" pitchFamily="49" charset="0"/>
              <a:buChar char="o"/>
            </a:pPr>
            <a:r>
              <a:rPr kumimoji="1" lang="es-ES" sz="1900" b="1" dirty="0">
                <a:latin typeface="Helvetica" panose="020B0604020202020204" pitchFamily="34" charset="0"/>
                <a:cs typeface="Helvetica" panose="020B0604020202020204" pitchFamily="34" charset="0"/>
              </a:rPr>
              <a:t>MIGAS DE PAN </a:t>
            </a:r>
            <a:r>
              <a:rPr kumimoji="1" lang="es-ES" sz="1900" dirty="0">
                <a:latin typeface="Helvetica" panose="020B0604020202020204" pitchFamily="34" charset="0"/>
                <a:cs typeface="Helvetica" panose="020B0604020202020204" pitchFamily="34" charset="0"/>
              </a:rPr>
              <a:t>o </a:t>
            </a:r>
            <a:r>
              <a:rPr kumimoji="1" lang="es-ES" sz="1900" i="1" dirty="0" err="1">
                <a:latin typeface="Helvetica" panose="020B0604020202020204" pitchFamily="34" charset="0"/>
                <a:cs typeface="Helvetica" panose="020B0604020202020204" pitchFamily="34" charset="0"/>
              </a:rPr>
              <a:t>Breadcrumbs</a:t>
            </a:r>
            <a:r>
              <a:rPr kumimoji="1" lang="es-ES" sz="1900" i="1" dirty="0">
                <a:latin typeface="Helvetica" panose="020B0604020202020204" pitchFamily="34" charset="0"/>
                <a:cs typeface="Helvetica" panose="020B0604020202020204" pitchFamily="34" charset="0"/>
              </a:rPr>
              <a:t>: </a:t>
            </a:r>
            <a:r>
              <a:rPr lang="es-ES" sz="1900" dirty="0"/>
              <a:t>Son una serie de enlaces que muestran la ruta que ha seguido el usuario para llegar a una página en particular dentro de un sitio web. Son básicas para aumentar la usabilidad de nuestro sitio.</a:t>
            </a:r>
          </a:p>
          <a:p>
            <a:pPr marL="342900" indent="-342900">
              <a:lnSpc>
                <a:spcPct val="110000"/>
              </a:lnSpc>
              <a:spcBef>
                <a:spcPct val="20000"/>
              </a:spcBef>
              <a:spcAft>
                <a:spcPts val="800"/>
              </a:spcAft>
              <a:buClr>
                <a:schemeClr val="accent2"/>
              </a:buClr>
              <a:buFont typeface="Courier New" panose="02070309020205020404" pitchFamily="49" charset="0"/>
              <a:buChar char="o"/>
            </a:pPr>
            <a:r>
              <a:rPr lang="es-ES" sz="1900" b="1" dirty="0"/>
              <a:t>MENÚ HAMBURGUESA </a:t>
            </a:r>
            <a:r>
              <a:rPr lang="es-ES" sz="1900" dirty="0"/>
              <a:t>(</a:t>
            </a:r>
            <a:r>
              <a:rPr lang="es-ES" sz="1900" i="1" dirty="0" err="1"/>
              <a:t>Hamburger</a:t>
            </a:r>
            <a:r>
              <a:rPr lang="es-ES" sz="1900" i="1" dirty="0"/>
              <a:t> </a:t>
            </a:r>
            <a:r>
              <a:rPr lang="es-ES" sz="1900" i="1" dirty="0" err="1"/>
              <a:t>menu</a:t>
            </a:r>
            <a:r>
              <a:rPr lang="es-ES" sz="1900" dirty="0"/>
              <a:t>) o</a:t>
            </a:r>
            <a:r>
              <a:rPr lang="es-ES" sz="1900" b="1" dirty="0"/>
              <a:t> </a:t>
            </a:r>
            <a:r>
              <a:rPr lang="es-ES" sz="1900" dirty="0" err="1"/>
              <a:t>toggle</a:t>
            </a:r>
            <a:r>
              <a:rPr lang="es-ES" sz="1900" dirty="0"/>
              <a:t> (</a:t>
            </a:r>
            <a:r>
              <a:rPr lang="es-ES" sz="1900" i="1" dirty="0" err="1"/>
              <a:t>Toggle</a:t>
            </a:r>
            <a:r>
              <a:rPr lang="es-ES" sz="1900" dirty="0"/>
              <a:t>): Es un icono que se utiliza para representar un menú en dispositivos móviles. Cuando se hace clic en él, se despliega un menú con opciones.</a:t>
            </a:r>
          </a:p>
          <a:p>
            <a:pPr marL="342900" indent="-342900">
              <a:lnSpc>
                <a:spcPct val="110000"/>
              </a:lnSpc>
              <a:spcBef>
                <a:spcPct val="20000"/>
              </a:spcBef>
              <a:spcAft>
                <a:spcPts val="800"/>
              </a:spcAft>
              <a:buClr>
                <a:schemeClr val="accent2"/>
              </a:buClr>
              <a:buFont typeface="Courier New" panose="02070309020205020404" pitchFamily="49" charset="0"/>
              <a:buChar char="o"/>
            </a:pPr>
            <a:r>
              <a:rPr lang="es-ES" sz="1900" b="1" dirty="0"/>
              <a:t>MENÚ DESPLEGABLE </a:t>
            </a:r>
            <a:r>
              <a:rPr lang="es-ES" sz="1900" dirty="0"/>
              <a:t>(</a:t>
            </a:r>
            <a:r>
              <a:rPr lang="es-ES" sz="1900" i="1" dirty="0" err="1"/>
              <a:t>Drop-down</a:t>
            </a:r>
            <a:r>
              <a:rPr lang="es-ES" sz="1900" i="1" dirty="0"/>
              <a:t> </a:t>
            </a:r>
            <a:r>
              <a:rPr lang="es-ES" sz="1900" i="1" dirty="0" err="1"/>
              <a:t>menu</a:t>
            </a:r>
            <a:r>
              <a:rPr lang="es-ES" sz="1900" dirty="0"/>
              <a:t>): Es un elemento de la interfaz gráfica de usuario que permite al usuario seleccionar una opción de una lista de opciones.</a:t>
            </a:r>
          </a:p>
          <a:p>
            <a:pPr marL="342900" indent="-342900">
              <a:lnSpc>
                <a:spcPct val="110000"/>
              </a:lnSpc>
              <a:spcBef>
                <a:spcPct val="20000"/>
              </a:spcBef>
              <a:spcAft>
                <a:spcPts val="800"/>
              </a:spcAft>
              <a:buClr>
                <a:schemeClr val="accent2"/>
              </a:buClr>
              <a:buFont typeface="Courier New" panose="02070309020205020404" pitchFamily="49" charset="0"/>
              <a:buChar char="o"/>
            </a:pPr>
            <a:r>
              <a:rPr lang="es-ES" sz="1900" b="1" dirty="0"/>
              <a:t>MENÚ DESPLEGABLE MULTINIVEL </a:t>
            </a:r>
            <a:r>
              <a:rPr lang="es-ES" sz="1900" dirty="0"/>
              <a:t>(</a:t>
            </a:r>
            <a:r>
              <a:rPr lang="es-ES" sz="1900" i="1" dirty="0" err="1"/>
              <a:t>Multilevel</a:t>
            </a:r>
            <a:r>
              <a:rPr lang="es-ES" sz="1900" i="1" dirty="0"/>
              <a:t> </a:t>
            </a:r>
            <a:r>
              <a:rPr lang="es-ES" sz="1900" i="1" dirty="0" err="1"/>
              <a:t>drop-down</a:t>
            </a:r>
            <a:r>
              <a:rPr lang="es-ES" sz="1900" i="1" dirty="0"/>
              <a:t> </a:t>
            </a:r>
            <a:r>
              <a:rPr lang="es-ES" sz="1900" i="1" dirty="0" err="1"/>
              <a:t>menu</a:t>
            </a:r>
            <a:r>
              <a:rPr lang="es-ES" sz="1900" dirty="0"/>
              <a:t>): Un menú desplegable </a:t>
            </a:r>
            <a:r>
              <a:rPr lang="es-ES" sz="1900" dirty="0" err="1"/>
              <a:t>multilevel</a:t>
            </a:r>
            <a:r>
              <a:rPr lang="es-ES" sz="1900" dirty="0"/>
              <a:t> o multinivel es un tipo de menú desplegable que contiene varios niveles de opciones. Cuando el usuario interactúa con una opción del menú, se despliega una lista de </a:t>
            </a:r>
            <a:r>
              <a:rPr lang="es-ES" sz="1900" dirty="0" err="1"/>
              <a:t>subopciones</a:t>
            </a:r>
            <a:r>
              <a:rPr lang="es-ES" sz="1900" dirty="0"/>
              <a:t> relacionadas con esa opción</a:t>
            </a:r>
          </a:p>
          <a:p>
            <a:pPr marL="342900" indent="-342900">
              <a:lnSpc>
                <a:spcPct val="110000"/>
              </a:lnSpc>
              <a:spcBef>
                <a:spcPct val="20000"/>
              </a:spcBef>
              <a:spcAft>
                <a:spcPts val="800"/>
              </a:spcAft>
              <a:buClr>
                <a:schemeClr val="accent2"/>
              </a:buClr>
              <a:buFont typeface="Courier New" panose="02070309020205020404" pitchFamily="49" charset="0"/>
              <a:buChar char="o"/>
            </a:pPr>
            <a:endParaRPr kumimoji="1" lang="es-ES" sz="1900" i="1" dirty="0">
              <a:latin typeface="Helvetica" panose="020B0604020202020204" pitchFamily="34" charset="0"/>
              <a:cs typeface="Helvetica" panose="020B0604020202020204" pitchFamily="34" charset="0"/>
            </a:endParaRPr>
          </a:p>
          <a:p>
            <a:pPr>
              <a:lnSpc>
                <a:spcPct val="110000"/>
              </a:lnSpc>
              <a:spcBef>
                <a:spcPct val="20000"/>
              </a:spcBef>
              <a:spcAft>
                <a:spcPts val="800"/>
              </a:spcAft>
              <a:buClr>
                <a:schemeClr val="accent2"/>
              </a:buClr>
            </a:pPr>
            <a:endParaRPr lang="es-ES" sz="1900" dirty="0"/>
          </a:p>
        </p:txBody>
      </p:sp>
      <p:pic>
        <p:nvPicPr>
          <p:cNvPr id="3" name="Imagen 2">
            <a:extLst>
              <a:ext uri="{FF2B5EF4-FFF2-40B4-BE49-F238E27FC236}">
                <a16:creationId xmlns:a16="http://schemas.microsoft.com/office/drawing/2014/main" id="{F853FD33-87B1-61AF-F083-FF88B056C147}"/>
              </a:ext>
            </a:extLst>
          </p:cNvPr>
          <p:cNvPicPr>
            <a:picLocks noChangeAspect="1"/>
          </p:cNvPicPr>
          <p:nvPr/>
        </p:nvPicPr>
        <p:blipFill>
          <a:blip r:embed="rId2"/>
          <a:stretch>
            <a:fillRect/>
          </a:stretch>
        </p:blipFill>
        <p:spPr>
          <a:xfrm>
            <a:off x="8162488" y="1514431"/>
            <a:ext cx="3581400" cy="523875"/>
          </a:xfrm>
          <a:prstGeom prst="rect">
            <a:avLst/>
          </a:prstGeom>
        </p:spPr>
      </p:pic>
      <p:pic>
        <p:nvPicPr>
          <p:cNvPr id="8" name="Imagen 7">
            <a:extLst>
              <a:ext uri="{FF2B5EF4-FFF2-40B4-BE49-F238E27FC236}">
                <a16:creationId xmlns:a16="http://schemas.microsoft.com/office/drawing/2014/main" id="{0D94FFA1-2565-F727-F837-0B1AAC2AB81F}"/>
              </a:ext>
            </a:extLst>
          </p:cNvPr>
          <p:cNvPicPr>
            <a:picLocks noChangeAspect="1"/>
          </p:cNvPicPr>
          <p:nvPr/>
        </p:nvPicPr>
        <p:blipFill>
          <a:blip r:embed="rId3"/>
          <a:stretch>
            <a:fillRect/>
          </a:stretch>
        </p:blipFill>
        <p:spPr>
          <a:xfrm>
            <a:off x="8848288" y="2867025"/>
            <a:ext cx="2209800" cy="561975"/>
          </a:xfrm>
          <a:prstGeom prst="rect">
            <a:avLst/>
          </a:prstGeom>
        </p:spPr>
      </p:pic>
      <p:pic>
        <p:nvPicPr>
          <p:cNvPr id="13" name="Imagen 12">
            <a:extLst>
              <a:ext uri="{FF2B5EF4-FFF2-40B4-BE49-F238E27FC236}">
                <a16:creationId xmlns:a16="http://schemas.microsoft.com/office/drawing/2014/main" id="{B8A84E86-D0AA-9C0F-D6E1-FC1B48262DDC}"/>
              </a:ext>
            </a:extLst>
          </p:cNvPr>
          <p:cNvPicPr>
            <a:picLocks noChangeAspect="1"/>
          </p:cNvPicPr>
          <p:nvPr/>
        </p:nvPicPr>
        <p:blipFill>
          <a:blip r:embed="rId4"/>
          <a:stretch>
            <a:fillRect/>
          </a:stretch>
        </p:blipFill>
        <p:spPr>
          <a:xfrm>
            <a:off x="9259349" y="3674804"/>
            <a:ext cx="1898009" cy="3099307"/>
          </a:xfrm>
          <a:prstGeom prst="rect">
            <a:avLst/>
          </a:prstGeom>
        </p:spPr>
      </p:pic>
    </p:spTree>
    <p:extLst>
      <p:ext uri="{BB962C8B-B14F-4D97-AF65-F5344CB8AC3E}">
        <p14:creationId xmlns:p14="http://schemas.microsoft.com/office/powerpoint/2010/main" val="483031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68E81188-952F-FF76-4656-239C36954F45}"/>
              </a:ext>
            </a:extLst>
          </p:cNvPr>
          <p:cNvSpPr txBox="1"/>
          <p:nvPr/>
        </p:nvSpPr>
        <p:spPr>
          <a:xfrm>
            <a:off x="242556" y="233916"/>
            <a:ext cx="1762021" cy="369332"/>
          </a:xfrm>
          <a:prstGeom prst="rect">
            <a:avLst/>
          </a:prstGeom>
          <a:noFill/>
        </p:spPr>
        <p:txBody>
          <a:bodyPr wrap="none" rtlCol="0">
            <a:spAutoFit/>
          </a:bodyPr>
          <a:lstStyle/>
          <a:p>
            <a:r>
              <a:rPr lang="es-ES" dirty="0">
                <a:latin typeface="Helvetica" panose="020B0604020202020204" pitchFamily="34" charset="0"/>
                <a:cs typeface="Helvetica" panose="020B0604020202020204" pitchFamily="34" charset="0"/>
              </a:rPr>
              <a:t>Fase de diseño</a:t>
            </a:r>
          </a:p>
        </p:txBody>
      </p:sp>
      <p:cxnSp>
        <p:nvCxnSpPr>
          <p:cNvPr id="5" name="Conector recto 4">
            <a:extLst>
              <a:ext uri="{FF2B5EF4-FFF2-40B4-BE49-F238E27FC236}">
                <a16:creationId xmlns:a16="http://schemas.microsoft.com/office/drawing/2014/main" id="{6B9E21EB-704C-E1C9-2D0E-D5B4725CA4F6}"/>
              </a:ext>
            </a:extLst>
          </p:cNvPr>
          <p:cNvCxnSpPr>
            <a:cxnSpLocks/>
          </p:cNvCxnSpPr>
          <p:nvPr/>
        </p:nvCxnSpPr>
        <p:spPr>
          <a:xfrm>
            <a:off x="335504" y="706009"/>
            <a:ext cx="19145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26EA799A-7FB7-96A2-391F-421CF6AFC564}"/>
              </a:ext>
            </a:extLst>
          </p:cNvPr>
          <p:cNvSpPr txBox="1"/>
          <p:nvPr/>
        </p:nvSpPr>
        <p:spPr>
          <a:xfrm>
            <a:off x="242556" y="808771"/>
            <a:ext cx="11758944" cy="3159839"/>
          </a:xfrm>
          <a:prstGeom prst="rect">
            <a:avLst/>
          </a:prstGeom>
          <a:noFill/>
        </p:spPr>
        <p:txBody>
          <a:bodyPr wrap="square">
            <a:spAutoFit/>
          </a:bodyPr>
          <a:lstStyle/>
          <a:p>
            <a:pPr>
              <a:lnSpc>
                <a:spcPct val="110000"/>
              </a:lnSpc>
              <a:spcBef>
                <a:spcPct val="20000"/>
              </a:spcBef>
              <a:spcAft>
                <a:spcPts val="800"/>
              </a:spcAft>
              <a:buClr>
                <a:schemeClr val="accent2"/>
              </a:buClr>
            </a:pPr>
            <a:r>
              <a:rPr kumimoji="1" lang="es-ES" sz="2400" b="1" dirty="0">
                <a:latin typeface="Helvetica" panose="020B0604020202020204" pitchFamily="34" charset="0"/>
                <a:cs typeface="Helvetica" panose="020B0604020202020204" pitchFamily="34" charset="0"/>
              </a:rPr>
              <a:t>LA RETÍCULA (</a:t>
            </a:r>
            <a:r>
              <a:rPr kumimoji="1" lang="es-ES" sz="2400" b="1" i="1" dirty="0">
                <a:latin typeface="Helvetica" panose="020B0604020202020204" pitchFamily="34" charset="0"/>
                <a:cs typeface="Helvetica" panose="020B0604020202020204" pitchFamily="34" charset="0"/>
              </a:rPr>
              <a:t>Lay </a:t>
            </a:r>
            <a:r>
              <a:rPr kumimoji="1" lang="es-ES" sz="2400" b="1" i="1" dirty="0" err="1">
                <a:latin typeface="Helvetica" panose="020B0604020202020204" pitchFamily="34" charset="0"/>
                <a:cs typeface="Helvetica" panose="020B0604020202020204" pitchFamily="34" charset="0"/>
              </a:rPr>
              <a:t>out</a:t>
            </a:r>
            <a:r>
              <a:rPr kumimoji="1" lang="es-ES" sz="2400" b="1" i="1" dirty="0">
                <a:latin typeface="Helvetica" panose="020B0604020202020204" pitchFamily="34" charset="0"/>
                <a:cs typeface="Helvetica" panose="020B0604020202020204" pitchFamily="34" charset="0"/>
              </a:rPr>
              <a:t> </a:t>
            </a:r>
            <a:r>
              <a:rPr kumimoji="1" lang="es-ES" sz="2400" b="1" i="1" dirty="0" err="1">
                <a:latin typeface="Helvetica" panose="020B0604020202020204" pitchFamily="34" charset="0"/>
                <a:cs typeface="Helvetica" panose="020B0604020202020204" pitchFamily="34" charset="0"/>
              </a:rPr>
              <a:t>grid</a:t>
            </a:r>
            <a:r>
              <a:rPr kumimoji="1" lang="es-ES" sz="2400" b="1" i="1" dirty="0">
                <a:latin typeface="Helvetica" panose="020B0604020202020204" pitchFamily="34" charset="0"/>
                <a:cs typeface="Helvetica" panose="020B0604020202020204" pitchFamily="34" charset="0"/>
              </a:rPr>
              <a:t>)</a:t>
            </a:r>
            <a:endParaRPr kumimoji="1" lang="es-ES" sz="2400" b="1" dirty="0">
              <a:latin typeface="Helvetica" panose="020B0604020202020204" pitchFamily="34" charset="0"/>
              <a:cs typeface="Helvetica" panose="020B0604020202020204" pitchFamily="34" charset="0"/>
            </a:endParaRPr>
          </a:p>
          <a:p>
            <a:pPr>
              <a:lnSpc>
                <a:spcPct val="110000"/>
              </a:lnSpc>
              <a:spcBef>
                <a:spcPct val="20000"/>
              </a:spcBef>
              <a:spcAft>
                <a:spcPts val="800"/>
              </a:spcAft>
              <a:buClr>
                <a:schemeClr val="accent2"/>
              </a:buClr>
            </a:pPr>
            <a:r>
              <a:rPr kumimoji="1" lang="es-ES" sz="2000" dirty="0">
                <a:latin typeface="Helvetica" panose="020B0604020202020204" pitchFamily="34" charset="0"/>
                <a:cs typeface="Helvetica" panose="020B0604020202020204" pitchFamily="34" charset="0"/>
              </a:rPr>
              <a:t>Una de las decisiones más importantes que tenemos que tomar en la fase de diseño visual es el aspecto que va a tener el cuerpo de nuestra página.  Tanto si es web, como si es una App, el cuerpo está organizado en secciones que componen lo que se conoce como retícula. No es trivial la elección entre un tipo de retícula u otro y se han de tener en cuenta numerosos factores para decantarnos entre una u otra. Por normal general, se puede partir de 12 columnas y después agruparlas en el diseño final.</a:t>
            </a:r>
          </a:p>
          <a:p>
            <a:pPr>
              <a:lnSpc>
                <a:spcPct val="110000"/>
              </a:lnSpc>
              <a:spcBef>
                <a:spcPct val="20000"/>
              </a:spcBef>
              <a:spcAft>
                <a:spcPts val="800"/>
              </a:spcAft>
              <a:buClr>
                <a:schemeClr val="accent2"/>
              </a:buClr>
            </a:pPr>
            <a:endParaRPr lang="es-ES" sz="1900" dirty="0"/>
          </a:p>
        </p:txBody>
      </p:sp>
      <p:pic>
        <p:nvPicPr>
          <p:cNvPr id="6" name="Imagen 5">
            <a:extLst>
              <a:ext uri="{FF2B5EF4-FFF2-40B4-BE49-F238E27FC236}">
                <a16:creationId xmlns:a16="http://schemas.microsoft.com/office/drawing/2014/main" id="{1197B546-E4B5-75CB-8146-CBEC4C173186}"/>
              </a:ext>
            </a:extLst>
          </p:cNvPr>
          <p:cNvPicPr>
            <a:picLocks noChangeAspect="1"/>
          </p:cNvPicPr>
          <p:nvPr/>
        </p:nvPicPr>
        <p:blipFill>
          <a:blip r:embed="rId2"/>
          <a:stretch>
            <a:fillRect/>
          </a:stretch>
        </p:blipFill>
        <p:spPr>
          <a:xfrm>
            <a:off x="2250040" y="3611393"/>
            <a:ext cx="7692041" cy="2938752"/>
          </a:xfrm>
          <a:prstGeom prst="rect">
            <a:avLst/>
          </a:prstGeom>
        </p:spPr>
      </p:pic>
    </p:spTree>
    <p:extLst>
      <p:ext uri="{BB962C8B-B14F-4D97-AF65-F5344CB8AC3E}">
        <p14:creationId xmlns:p14="http://schemas.microsoft.com/office/powerpoint/2010/main" val="35740035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68E81188-952F-FF76-4656-239C36954F45}"/>
              </a:ext>
            </a:extLst>
          </p:cNvPr>
          <p:cNvSpPr txBox="1"/>
          <p:nvPr/>
        </p:nvSpPr>
        <p:spPr>
          <a:xfrm>
            <a:off x="242556" y="233916"/>
            <a:ext cx="1762021" cy="369332"/>
          </a:xfrm>
          <a:prstGeom prst="rect">
            <a:avLst/>
          </a:prstGeom>
          <a:noFill/>
        </p:spPr>
        <p:txBody>
          <a:bodyPr wrap="none" rtlCol="0">
            <a:spAutoFit/>
          </a:bodyPr>
          <a:lstStyle/>
          <a:p>
            <a:r>
              <a:rPr lang="es-ES" dirty="0">
                <a:latin typeface="Helvetica" panose="020B0604020202020204" pitchFamily="34" charset="0"/>
                <a:cs typeface="Helvetica" panose="020B0604020202020204" pitchFamily="34" charset="0"/>
              </a:rPr>
              <a:t>Fase de diseño</a:t>
            </a:r>
          </a:p>
        </p:txBody>
      </p:sp>
      <p:cxnSp>
        <p:nvCxnSpPr>
          <p:cNvPr id="5" name="Conector recto 4">
            <a:extLst>
              <a:ext uri="{FF2B5EF4-FFF2-40B4-BE49-F238E27FC236}">
                <a16:creationId xmlns:a16="http://schemas.microsoft.com/office/drawing/2014/main" id="{6B9E21EB-704C-E1C9-2D0E-D5B4725CA4F6}"/>
              </a:ext>
            </a:extLst>
          </p:cNvPr>
          <p:cNvCxnSpPr>
            <a:cxnSpLocks/>
          </p:cNvCxnSpPr>
          <p:nvPr/>
        </p:nvCxnSpPr>
        <p:spPr>
          <a:xfrm>
            <a:off x="335504" y="706009"/>
            <a:ext cx="19145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26EA799A-7FB7-96A2-391F-421CF6AFC564}"/>
              </a:ext>
            </a:extLst>
          </p:cNvPr>
          <p:cNvSpPr txBox="1"/>
          <p:nvPr/>
        </p:nvSpPr>
        <p:spPr>
          <a:xfrm>
            <a:off x="466132" y="2075378"/>
            <a:ext cx="6578122" cy="2435988"/>
          </a:xfrm>
          <a:prstGeom prst="rect">
            <a:avLst/>
          </a:prstGeom>
          <a:noFill/>
        </p:spPr>
        <p:txBody>
          <a:bodyPr wrap="square">
            <a:spAutoFit/>
          </a:bodyPr>
          <a:lstStyle/>
          <a:p>
            <a:pPr>
              <a:lnSpc>
                <a:spcPct val="110000"/>
              </a:lnSpc>
              <a:spcBef>
                <a:spcPct val="20000"/>
              </a:spcBef>
              <a:spcAft>
                <a:spcPts val="800"/>
              </a:spcAft>
              <a:buClr>
                <a:schemeClr val="accent2"/>
              </a:buClr>
            </a:pPr>
            <a:r>
              <a:rPr kumimoji="1" lang="es-ES" sz="2000" dirty="0">
                <a:latin typeface="Helvetica" panose="020B0604020202020204" pitchFamily="34" charset="0"/>
                <a:cs typeface="Helvetica" panose="020B0604020202020204" pitchFamily="34" charset="0"/>
              </a:rPr>
              <a:t>En el caso de una interfaz para móviles o </a:t>
            </a:r>
            <a:r>
              <a:rPr kumimoji="1" lang="es-ES" sz="2000" dirty="0" err="1">
                <a:latin typeface="Helvetica" panose="020B0604020202020204" pitchFamily="34" charset="0"/>
                <a:cs typeface="Helvetica" panose="020B0604020202020204" pitchFamily="34" charset="0"/>
              </a:rPr>
              <a:t>tablets</a:t>
            </a:r>
            <a:r>
              <a:rPr kumimoji="1" lang="es-ES" sz="2000" dirty="0">
                <a:latin typeface="Helvetica" panose="020B0604020202020204" pitchFamily="34" charset="0"/>
                <a:cs typeface="Helvetica" panose="020B0604020202020204" pitchFamily="34" charset="0"/>
              </a:rPr>
              <a:t> de menos de 10”, se aconseja el uso de una rejilla de una sola columna como estándar en el diseño de cualquier interfaz, con el apoyo del resto de opciones accesibles desde una </a:t>
            </a:r>
            <a:r>
              <a:rPr kumimoji="1" lang="es-ES" sz="2000" i="1" dirty="0" err="1">
                <a:latin typeface="Helvetica" panose="020B0604020202020204" pitchFamily="34" charset="0"/>
                <a:cs typeface="Helvetica" panose="020B0604020202020204" pitchFamily="34" charset="0"/>
              </a:rPr>
              <a:t>tabbar</a:t>
            </a:r>
            <a:r>
              <a:rPr kumimoji="1" lang="es-ES" sz="2000" dirty="0">
                <a:latin typeface="Helvetica" panose="020B0604020202020204" pitchFamily="34" charset="0"/>
                <a:cs typeface="Helvetica" panose="020B0604020202020204" pitchFamily="34" charset="0"/>
              </a:rPr>
              <a:t> o una barra de herramientas en la parte inferior para que el dedo pulgar tenga rápido acceso a ellas. </a:t>
            </a:r>
          </a:p>
        </p:txBody>
      </p:sp>
      <p:pic>
        <p:nvPicPr>
          <p:cNvPr id="3" name="Picture 4353">
            <a:extLst>
              <a:ext uri="{FF2B5EF4-FFF2-40B4-BE49-F238E27FC236}">
                <a16:creationId xmlns:a16="http://schemas.microsoft.com/office/drawing/2014/main" id="{A45711E2-C917-F559-F09D-5B3A11AF9C05}"/>
              </a:ext>
            </a:extLst>
          </p:cNvPr>
          <p:cNvPicPr/>
          <p:nvPr/>
        </p:nvPicPr>
        <p:blipFill>
          <a:blip r:embed="rId2"/>
          <a:stretch>
            <a:fillRect/>
          </a:stretch>
        </p:blipFill>
        <p:spPr>
          <a:xfrm>
            <a:off x="7044254" y="1426917"/>
            <a:ext cx="5029558" cy="3732911"/>
          </a:xfrm>
          <a:prstGeom prst="rect">
            <a:avLst/>
          </a:prstGeom>
        </p:spPr>
      </p:pic>
    </p:spTree>
    <p:extLst>
      <p:ext uri="{BB962C8B-B14F-4D97-AF65-F5344CB8AC3E}">
        <p14:creationId xmlns:p14="http://schemas.microsoft.com/office/powerpoint/2010/main" val="12735353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68E81188-952F-FF76-4656-239C36954F45}"/>
              </a:ext>
            </a:extLst>
          </p:cNvPr>
          <p:cNvSpPr txBox="1"/>
          <p:nvPr/>
        </p:nvSpPr>
        <p:spPr>
          <a:xfrm>
            <a:off x="242556" y="233916"/>
            <a:ext cx="1762021" cy="369332"/>
          </a:xfrm>
          <a:prstGeom prst="rect">
            <a:avLst/>
          </a:prstGeom>
          <a:noFill/>
        </p:spPr>
        <p:txBody>
          <a:bodyPr wrap="none" rtlCol="0">
            <a:spAutoFit/>
          </a:bodyPr>
          <a:lstStyle/>
          <a:p>
            <a:r>
              <a:rPr lang="es-ES" dirty="0">
                <a:latin typeface="Helvetica" panose="020B0604020202020204" pitchFamily="34" charset="0"/>
                <a:cs typeface="Helvetica" panose="020B0604020202020204" pitchFamily="34" charset="0"/>
              </a:rPr>
              <a:t>Fase de diseño</a:t>
            </a:r>
          </a:p>
        </p:txBody>
      </p:sp>
      <p:cxnSp>
        <p:nvCxnSpPr>
          <p:cNvPr id="5" name="Conector recto 4">
            <a:extLst>
              <a:ext uri="{FF2B5EF4-FFF2-40B4-BE49-F238E27FC236}">
                <a16:creationId xmlns:a16="http://schemas.microsoft.com/office/drawing/2014/main" id="{6B9E21EB-704C-E1C9-2D0E-D5B4725CA4F6}"/>
              </a:ext>
            </a:extLst>
          </p:cNvPr>
          <p:cNvCxnSpPr>
            <a:cxnSpLocks/>
          </p:cNvCxnSpPr>
          <p:nvPr/>
        </p:nvCxnSpPr>
        <p:spPr>
          <a:xfrm>
            <a:off x="335504" y="706009"/>
            <a:ext cx="19145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26EA799A-7FB7-96A2-391F-421CF6AFC564}"/>
              </a:ext>
            </a:extLst>
          </p:cNvPr>
          <p:cNvSpPr txBox="1"/>
          <p:nvPr/>
        </p:nvSpPr>
        <p:spPr>
          <a:xfrm>
            <a:off x="242556" y="808771"/>
            <a:ext cx="11606544" cy="2269980"/>
          </a:xfrm>
          <a:prstGeom prst="rect">
            <a:avLst/>
          </a:prstGeom>
          <a:noFill/>
        </p:spPr>
        <p:txBody>
          <a:bodyPr wrap="square">
            <a:spAutoFit/>
          </a:bodyPr>
          <a:lstStyle/>
          <a:p>
            <a:pPr>
              <a:lnSpc>
                <a:spcPct val="110000"/>
              </a:lnSpc>
              <a:spcBef>
                <a:spcPct val="20000"/>
              </a:spcBef>
              <a:spcAft>
                <a:spcPts val="800"/>
              </a:spcAft>
              <a:buClr>
                <a:schemeClr val="accent2"/>
              </a:buClr>
            </a:pPr>
            <a:r>
              <a:rPr kumimoji="1" lang="es-ES" sz="2000" dirty="0">
                <a:latin typeface="Helvetica" panose="020B0604020202020204" pitchFamily="34" charset="0"/>
                <a:cs typeface="Helvetica" panose="020B0604020202020204" pitchFamily="34" charset="0"/>
              </a:rPr>
              <a:t>La retícula nos va a dar </a:t>
            </a:r>
            <a:r>
              <a:rPr kumimoji="1" lang="es-ES" sz="2000" b="1" dirty="0">
                <a:latin typeface="Helvetica" panose="020B0604020202020204" pitchFamily="34" charset="0"/>
                <a:cs typeface="Helvetica" panose="020B0604020202020204" pitchFamily="34" charset="0"/>
              </a:rPr>
              <a:t>organización</a:t>
            </a:r>
            <a:r>
              <a:rPr kumimoji="1" lang="es-ES" sz="2000" dirty="0">
                <a:latin typeface="Helvetica" panose="020B0604020202020204" pitchFamily="34" charset="0"/>
                <a:cs typeface="Helvetica" panose="020B0604020202020204" pitchFamily="34" charset="0"/>
              </a:rPr>
              <a:t>, </a:t>
            </a:r>
            <a:r>
              <a:rPr kumimoji="1" lang="es-ES" sz="2000" b="1" dirty="0">
                <a:latin typeface="Helvetica" panose="020B0604020202020204" pitchFamily="34" charset="0"/>
                <a:cs typeface="Helvetica" panose="020B0604020202020204" pitchFamily="34" charset="0"/>
              </a:rPr>
              <a:t>claridad</a:t>
            </a:r>
            <a:r>
              <a:rPr kumimoji="1" lang="es-ES" sz="2000" dirty="0">
                <a:latin typeface="Helvetica" panose="020B0604020202020204" pitchFamily="34" charset="0"/>
                <a:cs typeface="Helvetica" panose="020B0604020202020204" pitchFamily="34" charset="0"/>
              </a:rPr>
              <a:t> y </a:t>
            </a:r>
            <a:r>
              <a:rPr kumimoji="1" lang="es-ES" sz="2000" b="1" dirty="0">
                <a:latin typeface="Helvetica" panose="020B0604020202020204" pitchFamily="34" charset="0"/>
                <a:cs typeface="Helvetica" panose="020B0604020202020204" pitchFamily="34" charset="0"/>
              </a:rPr>
              <a:t>armonía</a:t>
            </a:r>
            <a:r>
              <a:rPr kumimoji="1" lang="es-ES" sz="2000" dirty="0">
                <a:latin typeface="Helvetica" panose="020B0604020202020204" pitchFamily="34" charset="0"/>
                <a:cs typeface="Helvetica" panose="020B0604020202020204" pitchFamily="34" charset="0"/>
              </a:rPr>
              <a:t> en la exposición de los contenidos. Lo primero que debemos determinar es el número de columnas que vamos a usar, dependiendo del contenido que queramos mostrar. Se ha de tener en cuenta la frecuencia de actualización de ese contenido. No es lo mismo diseñar para un blog que tiene un número de entradas diarias limitado, a una red social cuyo contenido cambia a cada instante.</a:t>
            </a:r>
          </a:p>
          <a:p>
            <a:pPr>
              <a:lnSpc>
                <a:spcPct val="110000"/>
              </a:lnSpc>
              <a:spcBef>
                <a:spcPct val="20000"/>
              </a:spcBef>
              <a:spcAft>
                <a:spcPts val="800"/>
              </a:spcAft>
              <a:buClr>
                <a:schemeClr val="accent2"/>
              </a:buClr>
            </a:pPr>
            <a:endParaRPr lang="es-ES" sz="2000" dirty="0"/>
          </a:p>
        </p:txBody>
      </p:sp>
      <p:pic>
        <p:nvPicPr>
          <p:cNvPr id="3" name="Imagen 2">
            <a:extLst>
              <a:ext uri="{FF2B5EF4-FFF2-40B4-BE49-F238E27FC236}">
                <a16:creationId xmlns:a16="http://schemas.microsoft.com/office/drawing/2014/main" id="{7C4A1F8A-CB57-EB2A-4C07-505C3AD0EC4A}"/>
              </a:ext>
            </a:extLst>
          </p:cNvPr>
          <p:cNvPicPr>
            <a:picLocks noChangeAspect="1"/>
          </p:cNvPicPr>
          <p:nvPr/>
        </p:nvPicPr>
        <p:blipFill>
          <a:blip r:embed="rId2"/>
          <a:stretch>
            <a:fillRect/>
          </a:stretch>
        </p:blipFill>
        <p:spPr>
          <a:xfrm>
            <a:off x="335504" y="2952750"/>
            <a:ext cx="7444119" cy="2293255"/>
          </a:xfrm>
          <a:prstGeom prst="rect">
            <a:avLst/>
          </a:prstGeom>
        </p:spPr>
      </p:pic>
      <p:pic>
        <p:nvPicPr>
          <p:cNvPr id="11" name="Imagen 10">
            <a:extLst>
              <a:ext uri="{FF2B5EF4-FFF2-40B4-BE49-F238E27FC236}">
                <a16:creationId xmlns:a16="http://schemas.microsoft.com/office/drawing/2014/main" id="{7CCB974B-F6BC-D742-3E12-ED5721B989AC}"/>
              </a:ext>
            </a:extLst>
          </p:cNvPr>
          <p:cNvPicPr>
            <a:picLocks noChangeAspect="1"/>
          </p:cNvPicPr>
          <p:nvPr/>
        </p:nvPicPr>
        <p:blipFill>
          <a:blip r:embed="rId3"/>
          <a:stretch>
            <a:fillRect/>
          </a:stretch>
        </p:blipFill>
        <p:spPr>
          <a:xfrm>
            <a:off x="4057563" y="4492425"/>
            <a:ext cx="8010525" cy="2166202"/>
          </a:xfrm>
          <a:prstGeom prst="rect">
            <a:avLst/>
          </a:prstGeom>
        </p:spPr>
      </p:pic>
      <p:sp>
        <p:nvSpPr>
          <p:cNvPr id="12" name="CuadroTexto 11">
            <a:extLst>
              <a:ext uri="{FF2B5EF4-FFF2-40B4-BE49-F238E27FC236}">
                <a16:creationId xmlns:a16="http://schemas.microsoft.com/office/drawing/2014/main" id="{9CCFA3ED-DEA6-33B2-79B0-1E8DDFB3A5CE}"/>
              </a:ext>
            </a:extLst>
          </p:cNvPr>
          <p:cNvSpPr txBox="1"/>
          <p:nvPr/>
        </p:nvSpPr>
        <p:spPr>
          <a:xfrm>
            <a:off x="447675" y="6219825"/>
            <a:ext cx="45719" cy="369332"/>
          </a:xfrm>
          <a:prstGeom prst="rect">
            <a:avLst/>
          </a:prstGeom>
          <a:noFill/>
        </p:spPr>
        <p:txBody>
          <a:bodyPr wrap="square" rtlCol="0">
            <a:spAutoFit/>
          </a:bodyPr>
          <a:lstStyle/>
          <a:p>
            <a:endParaRPr lang="es-ES" dirty="0"/>
          </a:p>
        </p:txBody>
      </p:sp>
      <p:sp>
        <p:nvSpPr>
          <p:cNvPr id="13" name="CuadroTexto 12">
            <a:extLst>
              <a:ext uri="{FF2B5EF4-FFF2-40B4-BE49-F238E27FC236}">
                <a16:creationId xmlns:a16="http://schemas.microsoft.com/office/drawing/2014/main" id="{5EBCBD09-0C3A-7584-3003-F3132ED12D42}"/>
              </a:ext>
            </a:extLst>
          </p:cNvPr>
          <p:cNvSpPr txBox="1"/>
          <p:nvPr/>
        </p:nvSpPr>
        <p:spPr>
          <a:xfrm flipH="1">
            <a:off x="565852" y="5726063"/>
            <a:ext cx="3419252" cy="646331"/>
          </a:xfrm>
          <a:prstGeom prst="rect">
            <a:avLst/>
          </a:prstGeom>
          <a:noFill/>
        </p:spPr>
        <p:txBody>
          <a:bodyPr wrap="square" rtlCol="0">
            <a:spAutoFit/>
          </a:bodyPr>
          <a:lstStyle/>
          <a:p>
            <a:r>
              <a:rPr lang="es-ES" dirty="0"/>
              <a:t>Blogs con retícula típica de tres columnas</a:t>
            </a:r>
          </a:p>
        </p:txBody>
      </p:sp>
    </p:spTree>
    <p:extLst>
      <p:ext uri="{BB962C8B-B14F-4D97-AF65-F5344CB8AC3E}">
        <p14:creationId xmlns:p14="http://schemas.microsoft.com/office/powerpoint/2010/main" val="27571213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68E81188-952F-FF76-4656-239C36954F45}"/>
              </a:ext>
            </a:extLst>
          </p:cNvPr>
          <p:cNvSpPr txBox="1"/>
          <p:nvPr/>
        </p:nvSpPr>
        <p:spPr>
          <a:xfrm>
            <a:off x="242556" y="233916"/>
            <a:ext cx="1762021" cy="369332"/>
          </a:xfrm>
          <a:prstGeom prst="rect">
            <a:avLst/>
          </a:prstGeom>
          <a:noFill/>
        </p:spPr>
        <p:txBody>
          <a:bodyPr wrap="none" rtlCol="0">
            <a:spAutoFit/>
          </a:bodyPr>
          <a:lstStyle/>
          <a:p>
            <a:r>
              <a:rPr lang="es-ES" dirty="0">
                <a:latin typeface="Helvetica" panose="020B0604020202020204" pitchFamily="34" charset="0"/>
                <a:cs typeface="Helvetica" panose="020B0604020202020204" pitchFamily="34" charset="0"/>
              </a:rPr>
              <a:t>Fase de diseño</a:t>
            </a:r>
          </a:p>
        </p:txBody>
      </p:sp>
      <p:cxnSp>
        <p:nvCxnSpPr>
          <p:cNvPr id="5" name="Conector recto 4">
            <a:extLst>
              <a:ext uri="{FF2B5EF4-FFF2-40B4-BE49-F238E27FC236}">
                <a16:creationId xmlns:a16="http://schemas.microsoft.com/office/drawing/2014/main" id="{6B9E21EB-704C-E1C9-2D0E-D5B4725CA4F6}"/>
              </a:ext>
            </a:extLst>
          </p:cNvPr>
          <p:cNvCxnSpPr>
            <a:cxnSpLocks/>
          </p:cNvCxnSpPr>
          <p:nvPr/>
        </p:nvCxnSpPr>
        <p:spPr>
          <a:xfrm>
            <a:off x="335504" y="706009"/>
            <a:ext cx="19145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CuadroTexto 11">
            <a:extLst>
              <a:ext uri="{FF2B5EF4-FFF2-40B4-BE49-F238E27FC236}">
                <a16:creationId xmlns:a16="http://schemas.microsoft.com/office/drawing/2014/main" id="{9CCFA3ED-DEA6-33B2-79B0-1E8DDFB3A5CE}"/>
              </a:ext>
            </a:extLst>
          </p:cNvPr>
          <p:cNvSpPr txBox="1"/>
          <p:nvPr/>
        </p:nvSpPr>
        <p:spPr>
          <a:xfrm>
            <a:off x="447675" y="6219825"/>
            <a:ext cx="45719" cy="369332"/>
          </a:xfrm>
          <a:prstGeom prst="rect">
            <a:avLst/>
          </a:prstGeom>
          <a:noFill/>
        </p:spPr>
        <p:txBody>
          <a:bodyPr wrap="square" rtlCol="0">
            <a:spAutoFit/>
          </a:bodyPr>
          <a:lstStyle/>
          <a:p>
            <a:endParaRPr lang="es-ES" dirty="0"/>
          </a:p>
        </p:txBody>
      </p:sp>
      <p:sp>
        <p:nvSpPr>
          <p:cNvPr id="13" name="CuadroTexto 12">
            <a:extLst>
              <a:ext uri="{FF2B5EF4-FFF2-40B4-BE49-F238E27FC236}">
                <a16:creationId xmlns:a16="http://schemas.microsoft.com/office/drawing/2014/main" id="{5EBCBD09-0C3A-7584-3003-F3132ED12D42}"/>
              </a:ext>
            </a:extLst>
          </p:cNvPr>
          <p:cNvSpPr txBox="1"/>
          <p:nvPr/>
        </p:nvSpPr>
        <p:spPr>
          <a:xfrm flipH="1">
            <a:off x="316454" y="6266509"/>
            <a:ext cx="5760496" cy="369332"/>
          </a:xfrm>
          <a:prstGeom prst="rect">
            <a:avLst/>
          </a:prstGeom>
          <a:noFill/>
        </p:spPr>
        <p:txBody>
          <a:bodyPr wrap="square" rtlCol="0">
            <a:spAutoFit/>
          </a:bodyPr>
          <a:lstStyle/>
          <a:p>
            <a:r>
              <a:rPr lang="es-ES" dirty="0"/>
              <a:t>Evolución del </a:t>
            </a:r>
            <a:r>
              <a:rPr lang="es-ES" dirty="0" err="1"/>
              <a:t>feed</a:t>
            </a:r>
            <a:r>
              <a:rPr lang="es-ES" dirty="0"/>
              <a:t> de Facebook a lo largo de los años</a:t>
            </a:r>
          </a:p>
        </p:txBody>
      </p:sp>
      <p:pic>
        <p:nvPicPr>
          <p:cNvPr id="8" name="Imagen 7" descr="Interfaz de usuario gráfica, Aplicación, Sitio web, Teams&#10;&#10;Descripción generada automáticamente">
            <a:extLst>
              <a:ext uri="{FF2B5EF4-FFF2-40B4-BE49-F238E27FC236}">
                <a16:creationId xmlns:a16="http://schemas.microsoft.com/office/drawing/2014/main" id="{DEC57EEC-5CAC-7F48-EA50-26F176A51E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504" y="940026"/>
            <a:ext cx="4529469" cy="3158046"/>
          </a:xfrm>
          <a:prstGeom prst="rect">
            <a:avLst/>
          </a:prstGeom>
        </p:spPr>
      </p:pic>
      <p:pic>
        <p:nvPicPr>
          <p:cNvPr id="16" name="Imagen 15" descr="Interfaz de usuario gráfica, Aplicación, Sitio web&#10;&#10;Descripción generada automáticamente">
            <a:extLst>
              <a:ext uri="{FF2B5EF4-FFF2-40B4-BE49-F238E27FC236}">
                <a16:creationId xmlns:a16="http://schemas.microsoft.com/office/drawing/2014/main" id="{C63C3904-3670-FF97-B519-A3FBF6F68A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16121" y="1063597"/>
            <a:ext cx="5038101" cy="2910903"/>
          </a:xfrm>
          <a:prstGeom prst="rect">
            <a:avLst/>
          </a:prstGeom>
        </p:spPr>
      </p:pic>
      <p:pic>
        <p:nvPicPr>
          <p:cNvPr id="17" name="Imagen 16">
            <a:extLst>
              <a:ext uri="{FF2B5EF4-FFF2-40B4-BE49-F238E27FC236}">
                <a16:creationId xmlns:a16="http://schemas.microsoft.com/office/drawing/2014/main" id="{0ED98A24-E86E-8C2F-3742-5612AC39390F}"/>
              </a:ext>
            </a:extLst>
          </p:cNvPr>
          <p:cNvPicPr>
            <a:picLocks noChangeAspect="1"/>
          </p:cNvPicPr>
          <p:nvPr/>
        </p:nvPicPr>
        <p:blipFill>
          <a:blip r:embed="rId4"/>
          <a:stretch>
            <a:fillRect/>
          </a:stretch>
        </p:blipFill>
        <p:spPr>
          <a:xfrm>
            <a:off x="1614003" y="2855931"/>
            <a:ext cx="4385242" cy="3209729"/>
          </a:xfrm>
          <a:prstGeom prst="rect">
            <a:avLst/>
          </a:prstGeom>
        </p:spPr>
      </p:pic>
      <p:pic>
        <p:nvPicPr>
          <p:cNvPr id="19" name="Imagen 18">
            <a:extLst>
              <a:ext uri="{FF2B5EF4-FFF2-40B4-BE49-F238E27FC236}">
                <a16:creationId xmlns:a16="http://schemas.microsoft.com/office/drawing/2014/main" id="{AEA21A2A-88D4-EC76-45E5-0E50C07439E5}"/>
              </a:ext>
            </a:extLst>
          </p:cNvPr>
          <p:cNvPicPr>
            <a:picLocks noChangeAspect="1"/>
          </p:cNvPicPr>
          <p:nvPr/>
        </p:nvPicPr>
        <p:blipFill rotWithShape="1">
          <a:blip r:embed="rId5"/>
          <a:srcRect l="10313" t="16176" r="10593" b="4030"/>
          <a:stretch/>
        </p:blipFill>
        <p:spPr>
          <a:xfrm>
            <a:off x="6842138" y="3851907"/>
            <a:ext cx="5107306" cy="2737250"/>
          </a:xfrm>
          <a:prstGeom prst="rect">
            <a:avLst/>
          </a:prstGeom>
        </p:spPr>
      </p:pic>
    </p:spTree>
    <p:extLst>
      <p:ext uri="{BB962C8B-B14F-4D97-AF65-F5344CB8AC3E}">
        <p14:creationId xmlns:p14="http://schemas.microsoft.com/office/powerpoint/2010/main" val="19893832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68E81188-952F-FF76-4656-239C36954F45}"/>
              </a:ext>
            </a:extLst>
          </p:cNvPr>
          <p:cNvSpPr txBox="1"/>
          <p:nvPr/>
        </p:nvSpPr>
        <p:spPr>
          <a:xfrm>
            <a:off x="242556" y="233916"/>
            <a:ext cx="1762021" cy="369332"/>
          </a:xfrm>
          <a:prstGeom prst="rect">
            <a:avLst/>
          </a:prstGeom>
          <a:noFill/>
        </p:spPr>
        <p:txBody>
          <a:bodyPr wrap="none" rtlCol="0">
            <a:spAutoFit/>
          </a:bodyPr>
          <a:lstStyle/>
          <a:p>
            <a:r>
              <a:rPr lang="es-ES" dirty="0">
                <a:latin typeface="Helvetica" panose="020B0604020202020204" pitchFamily="34" charset="0"/>
                <a:cs typeface="Helvetica" panose="020B0604020202020204" pitchFamily="34" charset="0"/>
              </a:rPr>
              <a:t>Fase de diseño</a:t>
            </a:r>
          </a:p>
        </p:txBody>
      </p:sp>
      <p:cxnSp>
        <p:nvCxnSpPr>
          <p:cNvPr id="5" name="Conector recto 4">
            <a:extLst>
              <a:ext uri="{FF2B5EF4-FFF2-40B4-BE49-F238E27FC236}">
                <a16:creationId xmlns:a16="http://schemas.microsoft.com/office/drawing/2014/main" id="{6B9E21EB-704C-E1C9-2D0E-D5B4725CA4F6}"/>
              </a:ext>
            </a:extLst>
          </p:cNvPr>
          <p:cNvCxnSpPr>
            <a:cxnSpLocks/>
          </p:cNvCxnSpPr>
          <p:nvPr/>
        </p:nvCxnSpPr>
        <p:spPr>
          <a:xfrm>
            <a:off x="335504" y="706009"/>
            <a:ext cx="19145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26EA799A-7FB7-96A2-391F-421CF6AFC564}"/>
              </a:ext>
            </a:extLst>
          </p:cNvPr>
          <p:cNvSpPr txBox="1"/>
          <p:nvPr/>
        </p:nvSpPr>
        <p:spPr>
          <a:xfrm>
            <a:off x="121278" y="808771"/>
            <a:ext cx="11949444" cy="2397003"/>
          </a:xfrm>
          <a:prstGeom prst="rect">
            <a:avLst/>
          </a:prstGeom>
          <a:noFill/>
        </p:spPr>
        <p:txBody>
          <a:bodyPr wrap="square">
            <a:spAutoFit/>
          </a:bodyPr>
          <a:lstStyle/>
          <a:p>
            <a:pPr>
              <a:lnSpc>
                <a:spcPct val="110000"/>
              </a:lnSpc>
              <a:spcBef>
                <a:spcPct val="20000"/>
              </a:spcBef>
              <a:spcAft>
                <a:spcPts val="800"/>
              </a:spcAft>
              <a:buClr>
                <a:schemeClr val="accent2"/>
              </a:buClr>
            </a:pPr>
            <a:r>
              <a:rPr kumimoji="1" lang="es-ES" sz="2800" b="1" dirty="0">
                <a:latin typeface="Helvetica" panose="020B0604020202020204" pitchFamily="34" charset="0"/>
                <a:cs typeface="Helvetica" panose="020B0604020202020204" pitchFamily="34" charset="0"/>
              </a:rPr>
              <a:t>El diseño </a:t>
            </a:r>
            <a:r>
              <a:rPr kumimoji="1" lang="es-ES" sz="2800" b="1" i="1" dirty="0">
                <a:latin typeface="Helvetica" panose="020B0604020202020204" pitchFamily="34" charset="0"/>
                <a:cs typeface="Helvetica" panose="020B0604020202020204" pitchFamily="34" charset="0"/>
              </a:rPr>
              <a:t>responsive</a:t>
            </a:r>
            <a:endParaRPr lang="es-ES" sz="2000" i="1" dirty="0">
              <a:latin typeface="Helvetica" panose="020B0604020202020204" pitchFamily="34" charset="0"/>
              <a:cs typeface="Helvetica" panose="020B0604020202020204" pitchFamily="34" charset="0"/>
            </a:endParaRPr>
          </a:p>
          <a:p>
            <a:pPr>
              <a:lnSpc>
                <a:spcPct val="110000"/>
              </a:lnSpc>
              <a:spcBef>
                <a:spcPct val="20000"/>
              </a:spcBef>
              <a:spcAft>
                <a:spcPts val="800"/>
              </a:spcAft>
              <a:buClr>
                <a:schemeClr val="accent2"/>
              </a:buClr>
            </a:pPr>
            <a:r>
              <a:rPr lang="es-ES" sz="2000" dirty="0">
                <a:latin typeface="Helvetica" panose="020B0604020202020204" pitchFamily="34" charset="0"/>
                <a:cs typeface="Helvetica" panose="020B0604020202020204" pitchFamily="34" charset="0"/>
              </a:rPr>
              <a:t>Con la llegada de los smartphones y las </a:t>
            </a:r>
            <a:r>
              <a:rPr lang="es-ES" sz="2000" dirty="0" err="1">
                <a:latin typeface="Helvetica" panose="020B0604020202020204" pitchFamily="34" charset="0"/>
                <a:cs typeface="Helvetica" panose="020B0604020202020204" pitchFamily="34" charset="0"/>
              </a:rPr>
              <a:t>tablets</a:t>
            </a:r>
            <a:r>
              <a:rPr lang="es-ES" sz="2000" dirty="0">
                <a:latin typeface="Helvetica" panose="020B0604020202020204" pitchFamily="34" charset="0"/>
                <a:cs typeface="Helvetica" panose="020B0604020202020204" pitchFamily="34" charset="0"/>
              </a:rPr>
              <a:t> de diagonales de todo tipo, la web y las apps tienen que </a:t>
            </a:r>
            <a:r>
              <a:rPr lang="es-ES" sz="2000" b="1" dirty="0">
                <a:latin typeface="Helvetica" panose="020B0604020202020204" pitchFamily="34" charset="0"/>
                <a:cs typeface="Helvetica" panose="020B0604020202020204" pitchFamily="34" charset="0"/>
              </a:rPr>
              <a:t>adaptarse constantemente </a:t>
            </a:r>
            <a:r>
              <a:rPr lang="es-ES" sz="2000" dirty="0">
                <a:latin typeface="Helvetica" panose="020B0604020202020204" pitchFamily="34" charset="0"/>
                <a:cs typeface="Helvetica" panose="020B0604020202020204" pitchFamily="34" charset="0"/>
              </a:rPr>
              <a:t>a </a:t>
            </a:r>
            <a:r>
              <a:rPr lang="es-ES" sz="2000" b="1" dirty="0">
                <a:latin typeface="Helvetica" panose="020B0604020202020204" pitchFamily="34" charset="0"/>
                <a:cs typeface="Helvetica" panose="020B0604020202020204" pitchFamily="34" charset="0"/>
              </a:rPr>
              <a:t>resoluciones</a:t>
            </a:r>
            <a:r>
              <a:rPr lang="es-ES" sz="2000" dirty="0">
                <a:latin typeface="Helvetica" panose="020B0604020202020204" pitchFamily="34" charset="0"/>
                <a:cs typeface="Helvetica" panose="020B0604020202020204" pitchFamily="34" charset="0"/>
              </a:rPr>
              <a:t> muy diversas, por lo que se debe usar una </a:t>
            </a:r>
            <a:r>
              <a:rPr lang="es-ES" sz="2000" dirty="0" err="1">
                <a:latin typeface="Helvetica" panose="020B0604020202020204" pitchFamily="34" charset="0"/>
                <a:cs typeface="Helvetica" panose="020B0604020202020204" pitchFamily="34" charset="0"/>
              </a:rPr>
              <a:t>reticula</a:t>
            </a:r>
            <a:r>
              <a:rPr lang="es-ES" sz="2000" dirty="0">
                <a:latin typeface="Helvetica" panose="020B0604020202020204" pitchFamily="34" charset="0"/>
                <a:cs typeface="Helvetica" panose="020B0604020202020204" pitchFamily="34" charset="0"/>
              </a:rPr>
              <a:t> que se adapte rápidamente a todas estas variabilidades. Se recomienda el uso del patrón </a:t>
            </a:r>
            <a:r>
              <a:rPr lang="es-ES" sz="2000" i="1" dirty="0" err="1">
                <a:latin typeface="Helvetica" panose="020B0604020202020204" pitchFamily="34" charset="0"/>
                <a:cs typeface="Helvetica" panose="020B0604020202020204" pitchFamily="34" charset="0"/>
              </a:rPr>
              <a:t>mobile-first</a:t>
            </a:r>
            <a:r>
              <a:rPr lang="es-ES" sz="2000" dirty="0">
                <a:latin typeface="Helvetica" panose="020B0604020202020204" pitchFamily="34" charset="0"/>
                <a:cs typeface="Helvetica" panose="020B0604020202020204" pitchFamily="34" charset="0"/>
              </a:rPr>
              <a:t> para evitar tener problemas de adaptabilidad con las pantallas. Siempre se ha de comprobar el funcionamiento de todo en ambas plataformas (</a:t>
            </a:r>
            <a:r>
              <a:rPr lang="es-ES" sz="2000" dirty="0" err="1">
                <a:latin typeface="Helvetica" panose="020B0604020202020204" pitchFamily="34" charset="0"/>
                <a:cs typeface="Helvetica" panose="020B0604020202020204" pitchFamily="34" charset="0"/>
              </a:rPr>
              <a:t>Ej</a:t>
            </a:r>
            <a:r>
              <a:rPr lang="es-ES" sz="2000" dirty="0">
                <a:latin typeface="Helvetica" panose="020B0604020202020204" pitchFamily="34" charset="0"/>
                <a:cs typeface="Helvetica" panose="020B0604020202020204" pitchFamily="34" charset="0"/>
              </a:rPr>
              <a:t>: el efecto </a:t>
            </a:r>
            <a:r>
              <a:rPr lang="es-ES" sz="2000" i="1" dirty="0" err="1">
                <a:latin typeface="Helvetica" panose="020B0604020202020204" pitchFamily="34" charset="0"/>
                <a:cs typeface="Helvetica" panose="020B0604020202020204" pitchFamily="34" charset="0"/>
              </a:rPr>
              <a:t>hover</a:t>
            </a:r>
            <a:r>
              <a:rPr lang="es-ES" sz="2000" dirty="0">
                <a:latin typeface="Helvetica" panose="020B0604020202020204" pitchFamily="34" charset="0"/>
                <a:cs typeface="Helvetica" panose="020B0604020202020204" pitchFamily="34" charset="0"/>
              </a:rPr>
              <a:t> sólo funciona en la versión escritorio)</a:t>
            </a:r>
          </a:p>
        </p:txBody>
      </p:sp>
      <p:pic>
        <p:nvPicPr>
          <p:cNvPr id="3" name="Imagen 2" descr="Interfaz de usuario gráfica, Aplicación&#10;&#10;Descripción generada automáticamente">
            <a:extLst>
              <a:ext uri="{FF2B5EF4-FFF2-40B4-BE49-F238E27FC236}">
                <a16:creationId xmlns:a16="http://schemas.microsoft.com/office/drawing/2014/main" id="{3A08B5F5-62FA-2281-34A9-46D53D3C15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5878" y="3497022"/>
            <a:ext cx="6819900" cy="3250819"/>
          </a:xfrm>
          <a:prstGeom prst="rect">
            <a:avLst/>
          </a:prstGeom>
        </p:spPr>
      </p:pic>
    </p:spTree>
    <p:extLst>
      <p:ext uri="{BB962C8B-B14F-4D97-AF65-F5344CB8AC3E}">
        <p14:creationId xmlns:p14="http://schemas.microsoft.com/office/powerpoint/2010/main" val="1385465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68E81188-952F-FF76-4656-239C36954F45}"/>
              </a:ext>
            </a:extLst>
          </p:cNvPr>
          <p:cNvSpPr txBox="1"/>
          <p:nvPr/>
        </p:nvSpPr>
        <p:spPr>
          <a:xfrm>
            <a:off x="242556" y="233916"/>
            <a:ext cx="1762021" cy="369332"/>
          </a:xfrm>
          <a:prstGeom prst="rect">
            <a:avLst/>
          </a:prstGeom>
          <a:noFill/>
        </p:spPr>
        <p:txBody>
          <a:bodyPr wrap="none" rtlCol="0">
            <a:spAutoFit/>
          </a:bodyPr>
          <a:lstStyle/>
          <a:p>
            <a:r>
              <a:rPr lang="es-ES" dirty="0">
                <a:latin typeface="Helvetica" panose="020B0604020202020204" pitchFamily="34" charset="0"/>
                <a:cs typeface="Helvetica" panose="020B0604020202020204" pitchFamily="34" charset="0"/>
              </a:rPr>
              <a:t>Fase de diseño</a:t>
            </a:r>
          </a:p>
        </p:txBody>
      </p:sp>
      <p:cxnSp>
        <p:nvCxnSpPr>
          <p:cNvPr id="5" name="Conector recto 4">
            <a:extLst>
              <a:ext uri="{FF2B5EF4-FFF2-40B4-BE49-F238E27FC236}">
                <a16:creationId xmlns:a16="http://schemas.microsoft.com/office/drawing/2014/main" id="{6B9E21EB-704C-E1C9-2D0E-D5B4725CA4F6}"/>
              </a:ext>
            </a:extLst>
          </p:cNvPr>
          <p:cNvCxnSpPr>
            <a:cxnSpLocks/>
          </p:cNvCxnSpPr>
          <p:nvPr/>
        </p:nvCxnSpPr>
        <p:spPr>
          <a:xfrm>
            <a:off x="335504" y="706009"/>
            <a:ext cx="19145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26EA799A-7FB7-96A2-391F-421CF6AFC564}"/>
              </a:ext>
            </a:extLst>
          </p:cNvPr>
          <p:cNvSpPr txBox="1"/>
          <p:nvPr/>
        </p:nvSpPr>
        <p:spPr>
          <a:xfrm>
            <a:off x="179701" y="904021"/>
            <a:ext cx="11832597" cy="5267532"/>
          </a:xfrm>
          <a:prstGeom prst="rect">
            <a:avLst/>
          </a:prstGeom>
          <a:noFill/>
        </p:spPr>
        <p:txBody>
          <a:bodyPr wrap="square">
            <a:spAutoFit/>
          </a:bodyPr>
          <a:lstStyle/>
          <a:p>
            <a:r>
              <a:rPr kumimoji="1" lang="es-ES" sz="2800" b="1" dirty="0">
                <a:latin typeface="Helvetica" panose="020B0604020202020204" pitchFamily="34" charset="0"/>
                <a:cs typeface="Helvetica" panose="020B0604020202020204" pitchFamily="34" charset="0"/>
              </a:rPr>
              <a:t>Puntos importantes en el diseño </a:t>
            </a:r>
            <a:r>
              <a:rPr kumimoji="1" lang="es-ES" sz="2800" b="1" i="1" dirty="0">
                <a:latin typeface="Helvetica" panose="020B0604020202020204" pitchFamily="34" charset="0"/>
                <a:cs typeface="Helvetica" panose="020B0604020202020204" pitchFamily="34" charset="0"/>
              </a:rPr>
              <a:t>responsive</a:t>
            </a:r>
          </a:p>
          <a:p>
            <a:endParaRPr kumimoji="1" lang="es-ES" sz="2400" dirty="0">
              <a:latin typeface="Helvetica" panose="020B0604020202020204" pitchFamily="34" charset="0"/>
              <a:cs typeface="Helvetica" panose="020B0604020202020204" pitchFamily="34" charset="0"/>
            </a:endParaRPr>
          </a:p>
          <a:p>
            <a:r>
              <a:rPr lang="es-ES" sz="2000" dirty="0">
                <a:latin typeface="Helvetica" panose="020B0604020202020204" pitchFamily="34" charset="0"/>
                <a:cs typeface="Helvetica" panose="020B0604020202020204" pitchFamily="34" charset="0"/>
              </a:rPr>
              <a:t>Los actuales estándares de buscadores, así como las costumbres de navegación del usuario, exigen que las webs que diseñemos sean necesariamente </a:t>
            </a:r>
            <a:r>
              <a:rPr lang="es-ES" sz="2000" b="1" dirty="0">
                <a:latin typeface="Helvetica" panose="020B0604020202020204" pitchFamily="34" charset="0"/>
                <a:cs typeface="Helvetica" panose="020B0604020202020204" pitchFamily="34" charset="0"/>
              </a:rPr>
              <a:t>responsive</a:t>
            </a:r>
            <a:r>
              <a:rPr lang="es-ES" sz="2000" dirty="0">
                <a:latin typeface="Helvetica" panose="020B0604020202020204" pitchFamily="34" charset="0"/>
                <a:cs typeface="Helvetica" panose="020B0604020202020204" pitchFamily="34" charset="0"/>
              </a:rPr>
              <a:t>. </a:t>
            </a:r>
          </a:p>
          <a:p>
            <a:endParaRPr lang="es-ES" sz="2000" dirty="0">
              <a:latin typeface="Helvetica" panose="020B0604020202020204" pitchFamily="34" charset="0"/>
              <a:cs typeface="Helvetica" panose="020B0604020202020204" pitchFamily="34" charset="0"/>
            </a:endParaRPr>
          </a:p>
          <a:p>
            <a:r>
              <a:rPr lang="es-ES" sz="2000" dirty="0">
                <a:latin typeface="Helvetica" panose="020B0604020202020204" pitchFamily="34" charset="0"/>
                <a:cs typeface="Helvetica" panose="020B0604020202020204" pitchFamily="34" charset="0"/>
              </a:rPr>
              <a:t>Cuando visualizamos el contenido en un dispositivo móvil, el tamaño de la pantalla exige un cambio en el diseño estructural de la web. A este cambio se le conoce como </a:t>
            </a:r>
            <a:r>
              <a:rPr lang="es-ES" sz="2000" b="1" i="1" dirty="0">
                <a:latin typeface="Helvetica" panose="020B0604020202020204" pitchFamily="34" charset="0"/>
                <a:cs typeface="Helvetica" panose="020B0604020202020204" pitchFamily="34" charset="0"/>
              </a:rPr>
              <a:t>BREAK POINT </a:t>
            </a:r>
            <a:r>
              <a:rPr lang="es-ES" sz="2000" dirty="0">
                <a:latin typeface="Helvetica" panose="020B0604020202020204" pitchFamily="34" charset="0"/>
                <a:cs typeface="Helvetica" panose="020B0604020202020204" pitchFamily="34" charset="0"/>
              </a:rPr>
              <a:t>(punto de ruptura).</a:t>
            </a:r>
          </a:p>
          <a:p>
            <a:r>
              <a:rPr lang="es-ES" sz="2000" dirty="0">
                <a:latin typeface="Helvetica" panose="020B0604020202020204" pitchFamily="34" charset="0"/>
                <a:cs typeface="Helvetica" panose="020B0604020202020204" pitchFamily="34" charset="0"/>
              </a:rPr>
              <a:t>Si abrimos una web responsive en un explorador de nuestro ordenador, podemos contabilizar y observar cómo funcionan reduciendo y ampliando el tamaño de visualización de la página. </a:t>
            </a:r>
          </a:p>
          <a:p>
            <a:r>
              <a:rPr lang="es-ES" sz="2000" dirty="0">
                <a:latin typeface="Helvetica" panose="020B0604020202020204" pitchFamily="34" charset="0"/>
                <a:cs typeface="Helvetica" panose="020B0604020202020204" pitchFamily="34" charset="0"/>
              </a:rPr>
              <a:t>Cada vez que cambie el diseño de la web (lo notaremos en que ciertos elementos se simplifican o directamente desaparecen, o en la reducción del número de columnas) se contabiliza como un punto  de ruptura. </a:t>
            </a:r>
          </a:p>
          <a:p>
            <a:r>
              <a:rPr lang="es-ES" sz="2000" dirty="0">
                <a:latin typeface="Helvetica" panose="020B0604020202020204" pitchFamily="34" charset="0"/>
                <a:cs typeface="Helvetica" panose="020B0604020202020204" pitchFamily="34" charset="0"/>
              </a:rPr>
              <a:t>Muchas veces, los diseñadores deciden tener varias retículas diferentes adaptadas para ciertos dispositivos concretos.</a:t>
            </a:r>
          </a:p>
          <a:p>
            <a:r>
              <a:rPr lang="es-ES" sz="2000" b="1" dirty="0">
                <a:solidFill>
                  <a:srgbClr val="FFF309"/>
                </a:solidFill>
                <a:latin typeface="Helvetica" panose="020B0604020202020204" pitchFamily="34" charset="0"/>
                <a:cs typeface="Helvetica" panose="020B0604020202020204" pitchFamily="34" charset="0"/>
                <a:hlinkClick r:id="rId2">
                  <a:extLst>
                    <a:ext uri="{A12FA001-AC4F-418D-AE19-62706E023703}">
                      <ahyp:hlinkClr xmlns:ahyp="http://schemas.microsoft.com/office/drawing/2018/hyperlinkcolor" val="tx"/>
                    </a:ext>
                  </a:extLst>
                </a:hlinkClick>
              </a:rPr>
              <a:t>Aquí</a:t>
            </a:r>
            <a:r>
              <a:rPr lang="es-ES" sz="2000" dirty="0">
                <a:latin typeface="Helvetica" panose="020B0604020202020204" pitchFamily="34" charset="0"/>
                <a:cs typeface="Helvetica" panose="020B0604020202020204" pitchFamily="34" charset="0"/>
              </a:rPr>
              <a:t> tienes una web para comprobar el comportamiento de varias retículas responsive.</a:t>
            </a:r>
          </a:p>
          <a:p>
            <a:pPr>
              <a:lnSpc>
                <a:spcPct val="110000"/>
              </a:lnSpc>
              <a:spcBef>
                <a:spcPct val="20000"/>
              </a:spcBef>
              <a:spcAft>
                <a:spcPts val="800"/>
              </a:spcAft>
              <a:buClr>
                <a:schemeClr val="accent2"/>
              </a:buClr>
            </a:pPr>
            <a:endParaRPr lang="es-ES" sz="20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973080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E6E029AB-9878-40D0-D390-B60064BD2751}"/>
              </a:ext>
            </a:extLst>
          </p:cNvPr>
          <p:cNvSpPr txBox="1"/>
          <p:nvPr/>
        </p:nvSpPr>
        <p:spPr>
          <a:xfrm>
            <a:off x="1636888" y="2386154"/>
            <a:ext cx="8065913" cy="1754326"/>
          </a:xfrm>
          <a:prstGeom prst="rect">
            <a:avLst/>
          </a:prstGeom>
          <a:noFill/>
        </p:spPr>
        <p:txBody>
          <a:bodyPr wrap="square" rtlCol="0">
            <a:spAutoFit/>
          </a:bodyPr>
          <a:lstStyle/>
          <a:p>
            <a:r>
              <a:rPr lang="es-ES" sz="5400" b="1" dirty="0">
                <a:latin typeface="Helvetica" panose="020B0604020202020204" pitchFamily="34" charset="0"/>
                <a:cs typeface="Helvetica" panose="020B0604020202020204" pitchFamily="34" charset="0"/>
              </a:rPr>
              <a:t>Diseño</a:t>
            </a:r>
            <a:r>
              <a:rPr lang="es-ES" sz="5400" b="1" dirty="0">
                <a:solidFill>
                  <a:srgbClr val="FFF309"/>
                </a:solidFill>
                <a:latin typeface="Helvetica" panose="020B0604020202020204" pitchFamily="34" charset="0"/>
                <a:cs typeface="Helvetica" panose="020B0604020202020204" pitchFamily="34" charset="0"/>
              </a:rPr>
              <a:t> visual</a:t>
            </a:r>
            <a:r>
              <a:rPr lang="es-ES" sz="5400" b="1" dirty="0">
                <a:latin typeface="Helvetica" panose="020B0604020202020204" pitchFamily="34" charset="0"/>
                <a:cs typeface="Helvetica" panose="020B0604020202020204" pitchFamily="34" charset="0"/>
              </a:rPr>
              <a:t>:</a:t>
            </a:r>
          </a:p>
          <a:p>
            <a:r>
              <a:rPr lang="es-ES" sz="5400" b="1" dirty="0">
                <a:latin typeface="Helvetica" panose="020B0604020202020204" pitchFamily="34" charset="0"/>
                <a:cs typeface="Helvetica" panose="020B0604020202020204" pitchFamily="34" charset="0"/>
              </a:rPr>
              <a:t>La ley de </a:t>
            </a:r>
            <a:r>
              <a:rPr lang="es-ES" sz="5400" b="1" dirty="0" err="1">
                <a:solidFill>
                  <a:srgbClr val="FFF309"/>
                </a:solidFill>
                <a:latin typeface="Helvetica" panose="020B0604020202020204" pitchFamily="34" charset="0"/>
                <a:cs typeface="Helvetica" panose="020B0604020202020204" pitchFamily="34" charset="0"/>
              </a:rPr>
              <a:t>Fitts</a:t>
            </a:r>
            <a:endParaRPr lang="es-ES" sz="5400" b="1" dirty="0">
              <a:solidFill>
                <a:srgbClr val="FFF309"/>
              </a:solidFill>
              <a:latin typeface="Helvetica" panose="020B0604020202020204" pitchFamily="34" charset="0"/>
              <a:cs typeface="Helvetica" panose="020B0604020202020204" pitchFamily="34" charset="0"/>
            </a:endParaRPr>
          </a:p>
        </p:txBody>
      </p:sp>
      <p:cxnSp>
        <p:nvCxnSpPr>
          <p:cNvPr id="5" name="Conector recto 4">
            <a:extLst>
              <a:ext uri="{FF2B5EF4-FFF2-40B4-BE49-F238E27FC236}">
                <a16:creationId xmlns:a16="http://schemas.microsoft.com/office/drawing/2014/main" id="{DD342C8F-8B3B-1A3F-E3AA-55F88A7D11A4}"/>
              </a:ext>
            </a:extLst>
          </p:cNvPr>
          <p:cNvCxnSpPr>
            <a:cxnSpLocks/>
          </p:cNvCxnSpPr>
          <p:nvPr/>
        </p:nvCxnSpPr>
        <p:spPr>
          <a:xfrm>
            <a:off x="1405311" y="2130804"/>
            <a:ext cx="0" cy="22650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76946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68E81188-952F-FF76-4656-239C36954F45}"/>
              </a:ext>
            </a:extLst>
          </p:cNvPr>
          <p:cNvSpPr txBox="1"/>
          <p:nvPr/>
        </p:nvSpPr>
        <p:spPr>
          <a:xfrm>
            <a:off x="242556" y="233916"/>
            <a:ext cx="1762021" cy="369332"/>
          </a:xfrm>
          <a:prstGeom prst="rect">
            <a:avLst/>
          </a:prstGeom>
          <a:noFill/>
        </p:spPr>
        <p:txBody>
          <a:bodyPr wrap="none" rtlCol="0">
            <a:spAutoFit/>
          </a:bodyPr>
          <a:lstStyle/>
          <a:p>
            <a:r>
              <a:rPr lang="es-ES" dirty="0">
                <a:latin typeface="Helvetica" panose="020B0604020202020204" pitchFamily="34" charset="0"/>
                <a:cs typeface="Helvetica" panose="020B0604020202020204" pitchFamily="34" charset="0"/>
              </a:rPr>
              <a:t>Fase de diseño</a:t>
            </a:r>
          </a:p>
        </p:txBody>
      </p:sp>
      <p:cxnSp>
        <p:nvCxnSpPr>
          <p:cNvPr id="5" name="Conector recto 4">
            <a:extLst>
              <a:ext uri="{FF2B5EF4-FFF2-40B4-BE49-F238E27FC236}">
                <a16:creationId xmlns:a16="http://schemas.microsoft.com/office/drawing/2014/main" id="{6B9E21EB-704C-E1C9-2D0E-D5B4725CA4F6}"/>
              </a:ext>
            </a:extLst>
          </p:cNvPr>
          <p:cNvCxnSpPr>
            <a:cxnSpLocks/>
          </p:cNvCxnSpPr>
          <p:nvPr/>
        </p:nvCxnSpPr>
        <p:spPr>
          <a:xfrm>
            <a:off x="335504" y="706009"/>
            <a:ext cx="19145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26EA799A-7FB7-96A2-391F-421CF6AFC564}"/>
              </a:ext>
            </a:extLst>
          </p:cNvPr>
          <p:cNvSpPr txBox="1"/>
          <p:nvPr/>
        </p:nvSpPr>
        <p:spPr>
          <a:xfrm>
            <a:off x="335504" y="858272"/>
            <a:ext cx="11613940" cy="3933000"/>
          </a:xfrm>
          <a:prstGeom prst="rect">
            <a:avLst/>
          </a:prstGeom>
          <a:noFill/>
        </p:spPr>
        <p:txBody>
          <a:bodyPr wrap="square">
            <a:spAutoFit/>
          </a:bodyPr>
          <a:lstStyle/>
          <a:p>
            <a:pPr>
              <a:lnSpc>
                <a:spcPct val="110000"/>
              </a:lnSpc>
              <a:spcBef>
                <a:spcPct val="20000"/>
              </a:spcBef>
              <a:spcAft>
                <a:spcPts val="800"/>
              </a:spcAft>
              <a:buClr>
                <a:schemeClr val="accent2"/>
              </a:buClr>
            </a:pPr>
            <a:r>
              <a:rPr kumimoji="1" lang="es-ES" sz="2100" dirty="0">
                <a:latin typeface="Helvetica" panose="020B0604020202020204" pitchFamily="34" charset="0"/>
                <a:cs typeface="Helvetica" panose="020B0604020202020204" pitchFamily="34" charset="0"/>
              </a:rPr>
              <a:t>¿Qué es la ley de </a:t>
            </a:r>
            <a:r>
              <a:rPr kumimoji="1" lang="es-ES" sz="2100" dirty="0" err="1">
                <a:latin typeface="Helvetica" panose="020B0604020202020204" pitchFamily="34" charset="0"/>
                <a:cs typeface="Helvetica" panose="020B0604020202020204" pitchFamily="34" charset="0"/>
              </a:rPr>
              <a:t>Fitts</a:t>
            </a:r>
            <a:r>
              <a:rPr kumimoji="1" lang="es-ES" sz="2100" dirty="0">
                <a:latin typeface="Helvetica" panose="020B0604020202020204" pitchFamily="34" charset="0"/>
                <a:cs typeface="Helvetica" panose="020B0604020202020204" pitchFamily="34" charset="0"/>
              </a:rPr>
              <a:t>?</a:t>
            </a:r>
            <a:endParaRPr lang="es-ES" sz="2100" dirty="0">
              <a:latin typeface="Helvetica" panose="020B0604020202020204" pitchFamily="34" charset="0"/>
              <a:cs typeface="Helvetica" panose="020B0604020202020204" pitchFamily="34" charset="0"/>
            </a:endParaRPr>
          </a:p>
          <a:p>
            <a:pPr>
              <a:lnSpc>
                <a:spcPct val="110000"/>
              </a:lnSpc>
              <a:spcBef>
                <a:spcPct val="20000"/>
              </a:spcBef>
              <a:spcAft>
                <a:spcPts val="800"/>
              </a:spcAft>
              <a:buClr>
                <a:schemeClr val="accent2"/>
              </a:buClr>
            </a:pPr>
            <a:r>
              <a:rPr lang="es-ES" sz="2100" dirty="0">
                <a:latin typeface="Helvetica" panose="020B0604020202020204" pitchFamily="34" charset="0"/>
                <a:cs typeface="Helvetica" panose="020B0604020202020204" pitchFamily="34" charset="0"/>
              </a:rPr>
              <a:t>“</a:t>
            </a:r>
            <a:r>
              <a:rPr lang="es-ES" sz="2100" b="1" dirty="0">
                <a:latin typeface="Helvetica" panose="020B0604020202020204" pitchFamily="34" charset="0"/>
                <a:cs typeface="Helvetica" panose="020B0604020202020204" pitchFamily="34" charset="0"/>
              </a:rPr>
              <a:t>Principio: El tiempo para adquirir un objetivo es una función de la distancia y el tamaño del objetivo.”</a:t>
            </a:r>
            <a:endParaRPr lang="es-ES" sz="2100" dirty="0">
              <a:latin typeface="Helvetica" panose="020B0604020202020204" pitchFamily="34" charset="0"/>
              <a:cs typeface="Helvetica" panose="020B0604020202020204" pitchFamily="34" charset="0"/>
            </a:endParaRPr>
          </a:p>
          <a:p>
            <a:pPr>
              <a:lnSpc>
                <a:spcPct val="110000"/>
              </a:lnSpc>
              <a:spcBef>
                <a:spcPct val="20000"/>
              </a:spcBef>
              <a:spcAft>
                <a:spcPts val="800"/>
              </a:spcAft>
              <a:buClr>
                <a:schemeClr val="accent2"/>
              </a:buClr>
            </a:pPr>
            <a:r>
              <a:rPr lang="es-ES" sz="2100" dirty="0">
                <a:latin typeface="Helvetica" panose="020B0604020202020204" pitchFamily="34" charset="0"/>
                <a:cs typeface="Helvetica" panose="020B0604020202020204" pitchFamily="34" charset="0"/>
              </a:rPr>
              <a:t>Realmente nos dice algo obvio: “el tiempo necesario para alcanzar un enlace es una función de la distancia y del ancho del enlace a lo largo del eje de desplazamiento del cursor”. Es decir, cuanto más lejos esté el siguiente objetivo de nuestro cursor y más pequeño sea, más tiempo tardará el usuario en acertar a darle.</a:t>
            </a:r>
          </a:p>
          <a:p>
            <a:pPr>
              <a:lnSpc>
                <a:spcPct val="110000"/>
              </a:lnSpc>
              <a:spcBef>
                <a:spcPct val="20000"/>
              </a:spcBef>
              <a:spcAft>
                <a:spcPts val="800"/>
              </a:spcAft>
              <a:buClr>
                <a:schemeClr val="accent2"/>
              </a:buClr>
            </a:pPr>
            <a:endParaRPr kumimoji="1" lang="es-ES" sz="2100" i="1" dirty="0">
              <a:latin typeface="Helvetica" panose="020B0604020202020204" pitchFamily="34" charset="0"/>
              <a:cs typeface="Helvetica" panose="020B0604020202020204" pitchFamily="34" charset="0"/>
            </a:endParaRPr>
          </a:p>
          <a:p>
            <a:pPr>
              <a:lnSpc>
                <a:spcPct val="110000"/>
              </a:lnSpc>
              <a:spcBef>
                <a:spcPct val="20000"/>
              </a:spcBef>
              <a:spcAft>
                <a:spcPts val="800"/>
              </a:spcAft>
              <a:buClr>
                <a:schemeClr val="accent2"/>
              </a:buClr>
            </a:pPr>
            <a:endParaRPr lang="es-ES" sz="2100" dirty="0">
              <a:latin typeface="Helvetica" panose="020B0604020202020204" pitchFamily="34" charset="0"/>
              <a:cs typeface="Helvetica" panose="020B0604020202020204" pitchFamily="34" charset="0"/>
            </a:endParaRPr>
          </a:p>
        </p:txBody>
      </p:sp>
      <p:pic>
        <p:nvPicPr>
          <p:cNvPr id="2" name="Imagen 1" descr="Ilustración sobre la Ley de Fitts y la optimización de menús - socialmediaycontenidos.com">
            <a:hlinkClick r:id="rId2"/>
            <a:extLst>
              <a:ext uri="{FF2B5EF4-FFF2-40B4-BE49-F238E27FC236}">
                <a16:creationId xmlns:a16="http://schemas.microsoft.com/office/drawing/2014/main" id="{8532644C-1442-8819-CBC6-19DD9B459C57}"/>
              </a:ext>
            </a:extLst>
          </p:cNvPr>
          <p:cNvPicPr/>
          <p:nvPr/>
        </p:nvPicPr>
        <p:blipFill>
          <a:blip r:embed="rId3"/>
          <a:srcRect b="13504"/>
          <a:stretch>
            <a:fillRect/>
          </a:stretch>
        </p:blipFill>
        <p:spPr bwMode="auto">
          <a:xfrm>
            <a:off x="5481010" y="3543300"/>
            <a:ext cx="6072815" cy="3085226"/>
          </a:xfrm>
          <a:prstGeom prst="rect">
            <a:avLst/>
          </a:prstGeom>
          <a:noFill/>
          <a:ln w="9525">
            <a:noFill/>
            <a:miter lim="800000"/>
            <a:headEnd/>
            <a:tailEnd/>
          </a:ln>
          <a:effectLst>
            <a:glow rad="101600">
              <a:schemeClr val="bg1">
                <a:lumMod val="50000"/>
                <a:alpha val="75000"/>
              </a:schemeClr>
            </a:glow>
            <a:outerShdw blurRad="50800" dist="38100" dir="5400000" algn="t" rotWithShape="0">
              <a:prstClr val="black">
                <a:alpha val="40000"/>
              </a:prstClr>
            </a:outerShdw>
          </a:effectLst>
        </p:spPr>
      </p:pic>
      <p:sp>
        <p:nvSpPr>
          <p:cNvPr id="7" name="CuadroTexto 6">
            <a:extLst>
              <a:ext uri="{FF2B5EF4-FFF2-40B4-BE49-F238E27FC236}">
                <a16:creationId xmlns:a16="http://schemas.microsoft.com/office/drawing/2014/main" id="{954415BA-B4A1-AB42-B565-3968A71EDAAD}"/>
              </a:ext>
            </a:extLst>
          </p:cNvPr>
          <p:cNvSpPr txBox="1"/>
          <p:nvPr/>
        </p:nvSpPr>
        <p:spPr>
          <a:xfrm>
            <a:off x="335504" y="4022448"/>
            <a:ext cx="4446221" cy="1842171"/>
          </a:xfrm>
          <a:prstGeom prst="rect">
            <a:avLst/>
          </a:prstGeom>
          <a:noFill/>
        </p:spPr>
        <p:txBody>
          <a:bodyPr wrap="square">
            <a:spAutoFit/>
          </a:bodyPr>
          <a:lstStyle/>
          <a:p>
            <a:pPr>
              <a:lnSpc>
                <a:spcPct val="110000"/>
              </a:lnSpc>
              <a:spcBef>
                <a:spcPct val="20000"/>
              </a:spcBef>
              <a:spcAft>
                <a:spcPts val="800"/>
              </a:spcAft>
              <a:buClr>
                <a:schemeClr val="accent2"/>
              </a:buClr>
            </a:pPr>
            <a:r>
              <a:rPr lang="es-ES" sz="2100" dirty="0">
                <a:latin typeface="Helvetica" panose="020B0604020202020204" pitchFamily="34" charset="0"/>
                <a:cs typeface="Helvetica" panose="020B0604020202020204" pitchFamily="34" charset="0"/>
              </a:rPr>
              <a:t>Aplicada esta ley para algunos de los elementos de diseño, podemos aplicarla para que la usabilidad aumente. Por ejemplo, en los menús desplegables:</a:t>
            </a:r>
          </a:p>
        </p:txBody>
      </p:sp>
    </p:spTree>
    <p:extLst>
      <p:ext uri="{BB962C8B-B14F-4D97-AF65-F5344CB8AC3E}">
        <p14:creationId xmlns:p14="http://schemas.microsoft.com/office/powerpoint/2010/main" val="36524192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68E81188-952F-FF76-4656-239C36954F45}"/>
              </a:ext>
            </a:extLst>
          </p:cNvPr>
          <p:cNvSpPr txBox="1"/>
          <p:nvPr/>
        </p:nvSpPr>
        <p:spPr>
          <a:xfrm>
            <a:off x="242556" y="233916"/>
            <a:ext cx="1762021" cy="369332"/>
          </a:xfrm>
          <a:prstGeom prst="rect">
            <a:avLst/>
          </a:prstGeom>
          <a:noFill/>
        </p:spPr>
        <p:txBody>
          <a:bodyPr wrap="none" rtlCol="0">
            <a:spAutoFit/>
          </a:bodyPr>
          <a:lstStyle/>
          <a:p>
            <a:r>
              <a:rPr lang="es-ES" dirty="0">
                <a:latin typeface="Helvetica" panose="020B0604020202020204" pitchFamily="34" charset="0"/>
                <a:cs typeface="Helvetica" panose="020B0604020202020204" pitchFamily="34" charset="0"/>
              </a:rPr>
              <a:t>Fase de diseño</a:t>
            </a:r>
          </a:p>
        </p:txBody>
      </p:sp>
      <p:cxnSp>
        <p:nvCxnSpPr>
          <p:cNvPr id="5" name="Conector recto 4">
            <a:extLst>
              <a:ext uri="{FF2B5EF4-FFF2-40B4-BE49-F238E27FC236}">
                <a16:creationId xmlns:a16="http://schemas.microsoft.com/office/drawing/2014/main" id="{6B9E21EB-704C-E1C9-2D0E-D5B4725CA4F6}"/>
              </a:ext>
            </a:extLst>
          </p:cNvPr>
          <p:cNvCxnSpPr>
            <a:cxnSpLocks/>
          </p:cNvCxnSpPr>
          <p:nvPr/>
        </p:nvCxnSpPr>
        <p:spPr>
          <a:xfrm>
            <a:off x="335504" y="706009"/>
            <a:ext cx="19145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26EA799A-7FB7-96A2-391F-421CF6AFC564}"/>
              </a:ext>
            </a:extLst>
          </p:cNvPr>
          <p:cNvSpPr txBox="1"/>
          <p:nvPr/>
        </p:nvSpPr>
        <p:spPr>
          <a:xfrm>
            <a:off x="335504" y="901050"/>
            <a:ext cx="11736254" cy="2278765"/>
          </a:xfrm>
          <a:prstGeom prst="rect">
            <a:avLst/>
          </a:prstGeom>
          <a:noFill/>
        </p:spPr>
        <p:txBody>
          <a:bodyPr wrap="square">
            <a:spAutoFit/>
          </a:bodyPr>
          <a:lstStyle/>
          <a:p>
            <a:pPr>
              <a:lnSpc>
                <a:spcPct val="110000"/>
              </a:lnSpc>
              <a:spcBef>
                <a:spcPct val="20000"/>
              </a:spcBef>
              <a:spcAft>
                <a:spcPts val="800"/>
              </a:spcAft>
              <a:buClr>
                <a:schemeClr val="accent2"/>
              </a:buClr>
            </a:pPr>
            <a:r>
              <a:rPr kumimoji="1" lang="es-ES" sz="2400" dirty="0">
                <a:latin typeface="Helvetica" panose="020B0604020202020204" pitchFamily="34" charset="0"/>
                <a:cs typeface="Helvetica" panose="020B0604020202020204" pitchFamily="34" charset="0"/>
              </a:rPr>
              <a:t>Según esta </a:t>
            </a:r>
            <a:r>
              <a:rPr kumimoji="1" lang="es-ES" sz="2400" dirty="0">
                <a:solidFill>
                  <a:srgbClr val="FFF309"/>
                </a:solidFill>
                <a:latin typeface="Helvetica" panose="020B0604020202020204" pitchFamily="34" charset="0"/>
                <a:cs typeface="Helvetica" panose="020B0604020202020204" pitchFamily="34" charset="0"/>
                <a:hlinkClick r:id="rId2">
                  <a:extLst>
                    <a:ext uri="{A12FA001-AC4F-418D-AE19-62706E023703}">
                      <ahyp:hlinkClr xmlns:ahyp="http://schemas.microsoft.com/office/drawing/2018/hyperlinkcolor" val="tx"/>
                    </a:ext>
                  </a:extLst>
                </a:hlinkClick>
              </a:rPr>
              <a:t>ley fácilmente demostrable</a:t>
            </a:r>
            <a:r>
              <a:rPr kumimoji="1" lang="es-ES" sz="2400" dirty="0">
                <a:latin typeface="Helvetica" panose="020B0604020202020204" pitchFamily="34" charset="0"/>
                <a:cs typeface="Helvetica" panose="020B0604020202020204" pitchFamily="34" charset="0"/>
              </a:rPr>
              <a:t>, el aumento tamaño de los elementos según sea el desplazamiento del usuario en nuestra interfaz, ayuda enormemente al acierto por parte del usuario  de alcanzar a pulsar el área deseada, por ejemplo, en los botones:  </a:t>
            </a:r>
          </a:p>
          <a:p>
            <a:pPr>
              <a:lnSpc>
                <a:spcPct val="110000"/>
              </a:lnSpc>
              <a:spcBef>
                <a:spcPct val="20000"/>
              </a:spcBef>
              <a:spcAft>
                <a:spcPts val="800"/>
              </a:spcAft>
              <a:buClr>
                <a:schemeClr val="accent2"/>
              </a:buClr>
            </a:pPr>
            <a:endParaRPr lang="es-ES" sz="2400" dirty="0"/>
          </a:p>
        </p:txBody>
      </p:sp>
      <p:pic>
        <p:nvPicPr>
          <p:cNvPr id="3" name="Imagen 2" descr="http://www.socialmediaycontenidos.com/wp-content/uploads/2011/10/ilustracion-ley-de-fitts-ancho-y-amplitud-socialmediaycontenidos.jpg">
            <a:extLst>
              <a:ext uri="{FF2B5EF4-FFF2-40B4-BE49-F238E27FC236}">
                <a16:creationId xmlns:a16="http://schemas.microsoft.com/office/drawing/2014/main" id="{EC2D5537-3310-A2AF-2507-9B7D90311967}"/>
              </a:ext>
            </a:extLst>
          </p:cNvPr>
          <p:cNvPicPr/>
          <p:nvPr/>
        </p:nvPicPr>
        <p:blipFill>
          <a:blip r:embed="rId3"/>
          <a:srcRect b="22101"/>
          <a:stretch>
            <a:fillRect/>
          </a:stretch>
        </p:blipFill>
        <p:spPr bwMode="auto">
          <a:xfrm>
            <a:off x="488631" y="3374855"/>
            <a:ext cx="5715000" cy="2438400"/>
          </a:xfrm>
          <a:prstGeom prst="rect">
            <a:avLst/>
          </a:prstGeom>
          <a:noFill/>
          <a:ln w="9525">
            <a:noFill/>
            <a:miter lim="800000"/>
            <a:headEnd/>
            <a:tailEnd/>
          </a:ln>
          <a:effectLst>
            <a:glow rad="101600">
              <a:schemeClr val="bg1">
                <a:lumMod val="50000"/>
                <a:alpha val="75000"/>
              </a:schemeClr>
            </a:glow>
            <a:outerShdw blurRad="50800" dist="38100" dir="5400000" algn="t" rotWithShape="0">
              <a:prstClr val="black">
                <a:alpha val="40000"/>
              </a:prstClr>
            </a:outerShdw>
          </a:effectLst>
        </p:spPr>
      </p:pic>
      <p:sp>
        <p:nvSpPr>
          <p:cNvPr id="6" name="CuadroTexto 5">
            <a:extLst>
              <a:ext uri="{FF2B5EF4-FFF2-40B4-BE49-F238E27FC236}">
                <a16:creationId xmlns:a16="http://schemas.microsoft.com/office/drawing/2014/main" id="{21FB0503-A0EA-1D1A-03FA-5B28A8D09FD7}"/>
              </a:ext>
            </a:extLst>
          </p:cNvPr>
          <p:cNvSpPr txBox="1"/>
          <p:nvPr/>
        </p:nvSpPr>
        <p:spPr>
          <a:xfrm>
            <a:off x="6913255" y="4489816"/>
            <a:ext cx="4790114" cy="1323439"/>
          </a:xfrm>
          <a:prstGeom prst="rect">
            <a:avLst/>
          </a:prstGeom>
          <a:noFill/>
        </p:spPr>
        <p:txBody>
          <a:bodyPr wrap="square" rtlCol="0">
            <a:spAutoFit/>
          </a:bodyPr>
          <a:lstStyle/>
          <a:p>
            <a:r>
              <a:rPr lang="es-ES" sz="2000" dirty="0">
                <a:latin typeface="Helvetica" panose="020B0604020202020204" pitchFamily="34" charset="0"/>
                <a:cs typeface="Helvetica" panose="020B0604020202020204" pitchFamily="34" charset="0"/>
              </a:rPr>
              <a:t>La primera figura es más alta porque el desplazamiento esperado es vertical. En la segunda es más ancha porque el desplazamiento es horizontal.</a:t>
            </a:r>
          </a:p>
        </p:txBody>
      </p:sp>
    </p:spTree>
    <p:extLst>
      <p:ext uri="{BB962C8B-B14F-4D97-AF65-F5344CB8AC3E}">
        <p14:creationId xmlns:p14="http://schemas.microsoft.com/office/powerpoint/2010/main" val="14305759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68E81188-952F-FF76-4656-239C36954F45}"/>
              </a:ext>
            </a:extLst>
          </p:cNvPr>
          <p:cNvSpPr txBox="1"/>
          <p:nvPr/>
        </p:nvSpPr>
        <p:spPr>
          <a:xfrm>
            <a:off x="242556" y="233916"/>
            <a:ext cx="1762021" cy="369332"/>
          </a:xfrm>
          <a:prstGeom prst="rect">
            <a:avLst/>
          </a:prstGeom>
          <a:noFill/>
        </p:spPr>
        <p:txBody>
          <a:bodyPr wrap="none" rtlCol="0">
            <a:spAutoFit/>
          </a:bodyPr>
          <a:lstStyle/>
          <a:p>
            <a:r>
              <a:rPr lang="es-ES" dirty="0">
                <a:latin typeface="Helvetica" panose="020B0604020202020204" pitchFamily="34" charset="0"/>
                <a:cs typeface="Helvetica" panose="020B0604020202020204" pitchFamily="34" charset="0"/>
              </a:rPr>
              <a:t>Fase de diseño</a:t>
            </a:r>
          </a:p>
        </p:txBody>
      </p:sp>
      <p:cxnSp>
        <p:nvCxnSpPr>
          <p:cNvPr id="5" name="Conector recto 4">
            <a:extLst>
              <a:ext uri="{FF2B5EF4-FFF2-40B4-BE49-F238E27FC236}">
                <a16:creationId xmlns:a16="http://schemas.microsoft.com/office/drawing/2014/main" id="{6B9E21EB-704C-E1C9-2D0E-D5B4725CA4F6}"/>
              </a:ext>
            </a:extLst>
          </p:cNvPr>
          <p:cNvCxnSpPr>
            <a:cxnSpLocks/>
          </p:cNvCxnSpPr>
          <p:nvPr/>
        </p:nvCxnSpPr>
        <p:spPr>
          <a:xfrm>
            <a:off x="335504" y="706009"/>
            <a:ext cx="19145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26EA799A-7FB7-96A2-391F-421CF6AFC564}"/>
              </a:ext>
            </a:extLst>
          </p:cNvPr>
          <p:cNvSpPr txBox="1"/>
          <p:nvPr/>
        </p:nvSpPr>
        <p:spPr>
          <a:xfrm>
            <a:off x="335504" y="901050"/>
            <a:ext cx="11736254" cy="2962542"/>
          </a:xfrm>
          <a:prstGeom prst="rect">
            <a:avLst/>
          </a:prstGeom>
          <a:noFill/>
        </p:spPr>
        <p:txBody>
          <a:bodyPr wrap="square">
            <a:spAutoFit/>
          </a:bodyPr>
          <a:lstStyle/>
          <a:p>
            <a:pPr>
              <a:lnSpc>
                <a:spcPct val="110000"/>
              </a:lnSpc>
              <a:spcBef>
                <a:spcPct val="20000"/>
              </a:spcBef>
              <a:spcAft>
                <a:spcPts val="800"/>
              </a:spcAft>
              <a:buClr>
                <a:schemeClr val="accent2"/>
              </a:buClr>
            </a:pPr>
            <a:r>
              <a:rPr kumimoji="1" lang="es-ES" sz="1900" dirty="0">
                <a:latin typeface="Helvetica" panose="020B0604020202020204" pitchFamily="34" charset="0"/>
                <a:cs typeface="Helvetica" panose="020B0604020202020204" pitchFamily="34" charset="0"/>
              </a:rPr>
              <a:t>Se puede extraer de esta ley que las </a:t>
            </a:r>
            <a:r>
              <a:rPr kumimoji="1" lang="es-ES" sz="1900" b="1" dirty="0">
                <a:latin typeface="Helvetica" panose="020B0604020202020204" pitchFamily="34" charset="0"/>
                <a:cs typeface="Helvetica" panose="020B0604020202020204" pitchFamily="34" charset="0"/>
              </a:rPr>
              <a:t>opciones más importantes </a:t>
            </a:r>
            <a:r>
              <a:rPr kumimoji="1" lang="es-ES" sz="1900" dirty="0">
                <a:latin typeface="Helvetica" panose="020B0604020202020204" pitchFamily="34" charset="0"/>
                <a:cs typeface="Helvetica" panose="020B0604020202020204" pitchFamily="34" charset="0"/>
              </a:rPr>
              <a:t>de nuestra interfaz tengan un </a:t>
            </a:r>
            <a:r>
              <a:rPr kumimoji="1" lang="es-ES" sz="1900" b="1" dirty="0">
                <a:latin typeface="Helvetica" panose="020B0604020202020204" pitchFamily="34" charset="0"/>
                <a:cs typeface="Helvetica" panose="020B0604020202020204" pitchFamily="34" charset="0"/>
              </a:rPr>
              <a:t>tamaño</a:t>
            </a:r>
            <a:r>
              <a:rPr kumimoji="1" lang="es-ES" sz="1900" dirty="0">
                <a:latin typeface="Helvetica" panose="020B0604020202020204" pitchFamily="34" charset="0"/>
                <a:cs typeface="Helvetica" panose="020B0604020202020204" pitchFamily="34" charset="0"/>
              </a:rPr>
              <a:t> más </a:t>
            </a:r>
            <a:r>
              <a:rPr kumimoji="1" lang="es-ES" sz="1900" b="1" dirty="0">
                <a:latin typeface="Helvetica" panose="020B0604020202020204" pitchFamily="34" charset="0"/>
                <a:cs typeface="Helvetica" panose="020B0604020202020204" pitchFamily="34" charset="0"/>
              </a:rPr>
              <a:t>grande</a:t>
            </a:r>
            <a:r>
              <a:rPr kumimoji="1" lang="es-ES" sz="1900" dirty="0">
                <a:latin typeface="Helvetica" panose="020B0604020202020204" pitchFamily="34" charset="0"/>
                <a:cs typeface="Helvetica" panose="020B0604020202020204" pitchFamily="34" charset="0"/>
              </a:rPr>
              <a:t> que el resto, sin ser desproporcionado porque, también según esta ley, a partir de un tamaño lo suficientemente grande, el porcentaje de acierto deja de incrementarse (y estéticamente quedaría poco agradable a la vista). </a:t>
            </a:r>
          </a:p>
          <a:p>
            <a:pPr>
              <a:lnSpc>
                <a:spcPct val="110000"/>
              </a:lnSpc>
              <a:spcBef>
                <a:spcPct val="20000"/>
              </a:spcBef>
              <a:spcAft>
                <a:spcPts val="800"/>
              </a:spcAft>
              <a:buClr>
                <a:schemeClr val="accent2"/>
              </a:buClr>
            </a:pPr>
            <a:r>
              <a:rPr kumimoji="1" lang="es-ES" sz="1900" dirty="0">
                <a:latin typeface="Helvetica" panose="020B0604020202020204" pitchFamily="34" charset="0"/>
                <a:cs typeface="Helvetica" panose="020B0604020202020204" pitchFamily="34" charset="0"/>
              </a:rPr>
              <a:t>Lo segundo que podemos extraer es que las opciones relacionadas deben estar </a:t>
            </a:r>
            <a:r>
              <a:rPr kumimoji="1" lang="es-ES" sz="1900" b="1" dirty="0">
                <a:latin typeface="Helvetica" panose="020B0604020202020204" pitchFamily="34" charset="0"/>
                <a:cs typeface="Helvetica" panose="020B0604020202020204" pitchFamily="34" charset="0"/>
              </a:rPr>
              <a:t>cerca</a:t>
            </a:r>
            <a:r>
              <a:rPr kumimoji="1" lang="es-ES" sz="1900" dirty="0">
                <a:latin typeface="Helvetica" panose="020B0604020202020204" pitchFamily="34" charset="0"/>
                <a:cs typeface="Helvetica" panose="020B0604020202020204" pitchFamily="34" charset="0"/>
              </a:rPr>
              <a:t> unas de otras, para que el usuario interactúe con nuestra interfaz de forma más eficaz, independientemente del dispositivo apuntador que utilice (ratón, dedo, </a:t>
            </a:r>
            <a:r>
              <a:rPr kumimoji="1" lang="es-ES" sz="1900" i="1" dirty="0" err="1">
                <a:latin typeface="Helvetica" panose="020B0604020202020204" pitchFamily="34" charset="0"/>
                <a:cs typeface="Helvetica" panose="020B0604020202020204" pitchFamily="34" charset="0"/>
              </a:rPr>
              <a:t>pencil</a:t>
            </a:r>
            <a:r>
              <a:rPr kumimoji="1" lang="es-ES" sz="1900" dirty="0">
                <a:latin typeface="Helvetica" panose="020B0604020202020204" pitchFamily="34" charset="0"/>
                <a:cs typeface="Helvetica" panose="020B0604020202020204" pitchFamily="34" charset="0"/>
              </a:rPr>
              <a:t>…)</a:t>
            </a:r>
          </a:p>
          <a:p>
            <a:pPr>
              <a:lnSpc>
                <a:spcPct val="110000"/>
              </a:lnSpc>
              <a:spcBef>
                <a:spcPct val="20000"/>
              </a:spcBef>
              <a:spcAft>
                <a:spcPts val="800"/>
              </a:spcAft>
              <a:buClr>
                <a:schemeClr val="accent2"/>
              </a:buClr>
            </a:pPr>
            <a:endParaRPr kumimoji="1" lang="es-ES" sz="1900" dirty="0">
              <a:latin typeface="Helvetica" panose="020B0604020202020204" pitchFamily="34" charset="0"/>
              <a:cs typeface="Helvetica" panose="020B0604020202020204" pitchFamily="34" charset="0"/>
            </a:endParaRPr>
          </a:p>
        </p:txBody>
      </p:sp>
      <p:pic>
        <p:nvPicPr>
          <p:cNvPr id="7" name="Imagen 6" descr="Interfaz de usuario gráfica&#10;&#10;Descripción generada automáticamente">
            <a:extLst>
              <a:ext uri="{FF2B5EF4-FFF2-40B4-BE49-F238E27FC236}">
                <a16:creationId xmlns:a16="http://schemas.microsoft.com/office/drawing/2014/main" id="{83E6BECF-FD68-8138-CF12-609EB9A61D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8354" y="3181368"/>
            <a:ext cx="6178142" cy="3432301"/>
          </a:xfrm>
          <a:prstGeom prst="rect">
            <a:avLst/>
          </a:prstGeom>
        </p:spPr>
      </p:pic>
      <p:sp>
        <p:nvSpPr>
          <p:cNvPr id="8" name="CuadroTexto 7">
            <a:extLst>
              <a:ext uri="{FF2B5EF4-FFF2-40B4-BE49-F238E27FC236}">
                <a16:creationId xmlns:a16="http://schemas.microsoft.com/office/drawing/2014/main" id="{02A1DE36-91E9-B883-F4F2-08FFB6337BF1}"/>
              </a:ext>
            </a:extLst>
          </p:cNvPr>
          <p:cNvSpPr txBox="1"/>
          <p:nvPr/>
        </p:nvSpPr>
        <p:spPr>
          <a:xfrm>
            <a:off x="2562939" y="6244337"/>
            <a:ext cx="2781531" cy="369332"/>
          </a:xfrm>
          <a:prstGeom prst="rect">
            <a:avLst/>
          </a:prstGeom>
          <a:noFill/>
        </p:spPr>
        <p:txBody>
          <a:bodyPr wrap="none" rtlCol="0">
            <a:spAutoFit/>
          </a:bodyPr>
          <a:lstStyle/>
          <a:p>
            <a:r>
              <a:rPr lang="es-ES" dirty="0"/>
              <a:t>Spotify sabe de </a:t>
            </a:r>
            <a:r>
              <a:rPr lang="es-ES" i="1" dirty="0" err="1"/>
              <a:t>Fittsizing</a:t>
            </a:r>
            <a:r>
              <a:rPr lang="es-ES" dirty="0"/>
              <a:t>…</a:t>
            </a:r>
          </a:p>
        </p:txBody>
      </p:sp>
    </p:spTree>
    <p:extLst>
      <p:ext uri="{BB962C8B-B14F-4D97-AF65-F5344CB8AC3E}">
        <p14:creationId xmlns:p14="http://schemas.microsoft.com/office/powerpoint/2010/main" val="18238625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E6E029AB-9878-40D0-D390-B60064BD2751}"/>
              </a:ext>
            </a:extLst>
          </p:cNvPr>
          <p:cNvSpPr txBox="1"/>
          <p:nvPr/>
        </p:nvSpPr>
        <p:spPr>
          <a:xfrm>
            <a:off x="1798813" y="2799330"/>
            <a:ext cx="8065913" cy="923330"/>
          </a:xfrm>
          <a:prstGeom prst="rect">
            <a:avLst/>
          </a:prstGeom>
          <a:noFill/>
        </p:spPr>
        <p:txBody>
          <a:bodyPr wrap="square" rtlCol="0">
            <a:spAutoFit/>
          </a:bodyPr>
          <a:lstStyle/>
          <a:p>
            <a:r>
              <a:rPr lang="es-ES" sz="5400" b="1" dirty="0">
                <a:latin typeface="Helvetica" panose="020B0604020202020204" pitchFamily="34" charset="0"/>
                <a:cs typeface="Helvetica" panose="020B0604020202020204" pitchFamily="34" charset="0"/>
              </a:rPr>
              <a:t>Diseño de </a:t>
            </a:r>
            <a:r>
              <a:rPr lang="es-ES" sz="5400" b="1" dirty="0">
                <a:solidFill>
                  <a:srgbClr val="FFF309"/>
                </a:solidFill>
                <a:latin typeface="Helvetica" panose="020B0604020202020204" pitchFamily="34" charset="0"/>
                <a:cs typeface="Helvetica" panose="020B0604020202020204" pitchFamily="34" charset="0"/>
              </a:rPr>
              <a:t>contenidos</a:t>
            </a:r>
            <a:r>
              <a:rPr lang="es-ES" sz="5400" b="1" dirty="0">
                <a:latin typeface="Helvetica" panose="020B0604020202020204" pitchFamily="34" charset="0"/>
                <a:cs typeface="Helvetica" panose="020B0604020202020204" pitchFamily="34" charset="0"/>
              </a:rPr>
              <a:t> </a:t>
            </a:r>
          </a:p>
        </p:txBody>
      </p:sp>
      <p:cxnSp>
        <p:nvCxnSpPr>
          <p:cNvPr id="5" name="Conector recto 4">
            <a:extLst>
              <a:ext uri="{FF2B5EF4-FFF2-40B4-BE49-F238E27FC236}">
                <a16:creationId xmlns:a16="http://schemas.microsoft.com/office/drawing/2014/main" id="{DD342C8F-8B3B-1A3F-E3AA-55F88A7D11A4}"/>
              </a:ext>
            </a:extLst>
          </p:cNvPr>
          <p:cNvCxnSpPr>
            <a:cxnSpLocks/>
          </p:cNvCxnSpPr>
          <p:nvPr/>
        </p:nvCxnSpPr>
        <p:spPr>
          <a:xfrm>
            <a:off x="1433886" y="2106067"/>
            <a:ext cx="0" cy="230985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72894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3CA06C9A-A2A6-B465-423F-604D11DC4BB7}"/>
              </a:ext>
            </a:extLst>
          </p:cNvPr>
          <p:cNvSpPr txBox="1"/>
          <p:nvPr/>
        </p:nvSpPr>
        <p:spPr>
          <a:xfrm>
            <a:off x="352809" y="694467"/>
            <a:ext cx="11727338" cy="2480359"/>
          </a:xfrm>
          <a:prstGeom prst="rect">
            <a:avLst/>
          </a:prstGeom>
          <a:noFill/>
        </p:spPr>
        <p:txBody>
          <a:bodyPr wrap="square">
            <a:spAutoFit/>
          </a:bodyPr>
          <a:lstStyle/>
          <a:p>
            <a:pPr>
              <a:lnSpc>
                <a:spcPct val="110000"/>
              </a:lnSpc>
              <a:spcBef>
                <a:spcPct val="20000"/>
              </a:spcBef>
              <a:spcAft>
                <a:spcPts val="800"/>
              </a:spcAft>
              <a:buClr>
                <a:schemeClr val="accent2"/>
              </a:buClr>
            </a:pPr>
            <a:r>
              <a:rPr kumimoji="1" lang="es-ES" sz="1900" dirty="0">
                <a:latin typeface="Helvetica" panose="020B0604020202020204" pitchFamily="34" charset="0"/>
                <a:cs typeface="Helvetica" panose="020B0604020202020204" pitchFamily="34" charset="0"/>
              </a:rPr>
              <a:t>FASE 2.-  Diseño de contenidos</a:t>
            </a:r>
          </a:p>
          <a:p>
            <a:pPr>
              <a:lnSpc>
                <a:spcPct val="110000"/>
              </a:lnSpc>
              <a:spcBef>
                <a:spcPct val="20000"/>
              </a:spcBef>
              <a:spcAft>
                <a:spcPts val="800"/>
              </a:spcAft>
              <a:buClr>
                <a:schemeClr val="accent2"/>
              </a:buClr>
            </a:pPr>
            <a:r>
              <a:rPr kumimoji="1" lang="es-ES" sz="1900" dirty="0">
                <a:latin typeface="Helvetica" panose="020B0604020202020204" pitchFamily="34" charset="0"/>
                <a:cs typeface="Helvetica" panose="020B0604020202020204" pitchFamily="34" charset="0"/>
              </a:rPr>
              <a:t>La redacción de los contenidos destinados a una web/app tiene una naturaleza especial, ya que debe aprovechar las posibilidades de interactividad, y tener en cuenta al mismo tiempo las limitaciones de la lectura en pantalla.</a:t>
            </a:r>
          </a:p>
          <a:p>
            <a:pPr>
              <a:lnSpc>
                <a:spcPct val="110000"/>
              </a:lnSpc>
              <a:spcBef>
                <a:spcPct val="20000"/>
              </a:spcBef>
              <a:spcAft>
                <a:spcPts val="800"/>
              </a:spcAft>
              <a:buClr>
                <a:schemeClr val="accent2"/>
              </a:buClr>
            </a:pPr>
            <a:r>
              <a:rPr kumimoji="1" lang="es-ES" sz="1900" dirty="0">
                <a:latin typeface="Helvetica" panose="020B0604020202020204" pitchFamily="34" charset="0"/>
                <a:cs typeface="Helvetica" panose="020B0604020202020204" pitchFamily="34" charset="0"/>
              </a:rPr>
              <a:t>Algunas características que deben cumplirse al diseñar contenidos para una aplicación son las siguientes:</a:t>
            </a:r>
          </a:p>
          <a:p>
            <a:pPr>
              <a:lnSpc>
                <a:spcPct val="110000"/>
              </a:lnSpc>
              <a:spcBef>
                <a:spcPct val="20000"/>
              </a:spcBef>
              <a:spcAft>
                <a:spcPts val="800"/>
              </a:spcAft>
              <a:buClr>
                <a:schemeClr val="accent2"/>
              </a:buClr>
            </a:pPr>
            <a:endParaRPr kumimoji="1" lang="es-ES" sz="1900" dirty="0">
              <a:latin typeface="Helvetica" panose="020B0604020202020204" pitchFamily="34" charset="0"/>
              <a:cs typeface="Helvetica" panose="020B0604020202020204" pitchFamily="34" charset="0"/>
            </a:endParaRPr>
          </a:p>
        </p:txBody>
      </p:sp>
      <p:sp>
        <p:nvSpPr>
          <p:cNvPr id="4" name="CuadroTexto 3">
            <a:extLst>
              <a:ext uri="{FF2B5EF4-FFF2-40B4-BE49-F238E27FC236}">
                <a16:creationId xmlns:a16="http://schemas.microsoft.com/office/drawing/2014/main" id="{68E81188-952F-FF76-4656-239C36954F45}"/>
              </a:ext>
            </a:extLst>
          </p:cNvPr>
          <p:cNvSpPr txBox="1"/>
          <p:nvPr/>
        </p:nvSpPr>
        <p:spPr>
          <a:xfrm>
            <a:off x="242556" y="233916"/>
            <a:ext cx="1762021" cy="369332"/>
          </a:xfrm>
          <a:prstGeom prst="rect">
            <a:avLst/>
          </a:prstGeom>
          <a:noFill/>
        </p:spPr>
        <p:txBody>
          <a:bodyPr wrap="none" rtlCol="0">
            <a:spAutoFit/>
          </a:bodyPr>
          <a:lstStyle/>
          <a:p>
            <a:r>
              <a:rPr lang="es-ES" dirty="0">
                <a:latin typeface="Helvetica" panose="020B0604020202020204" pitchFamily="34" charset="0"/>
                <a:cs typeface="Helvetica" panose="020B0604020202020204" pitchFamily="34" charset="0"/>
              </a:rPr>
              <a:t>Fase de diseño</a:t>
            </a:r>
          </a:p>
        </p:txBody>
      </p:sp>
      <p:cxnSp>
        <p:nvCxnSpPr>
          <p:cNvPr id="5" name="Conector recto 4">
            <a:extLst>
              <a:ext uri="{FF2B5EF4-FFF2-40B4-BE49-F238E27FC236}">
                <a16:creationId xmlns:a16="http://schemas.microsoft.com/office/drawing/2014/main" id="{6B9E21EB-704C-E1C9-2D0E-D5B4725CA4F6}"/>
              </a:ext>
            </a:extLst>
          </p:cNvPr>
          <p:cNvCxnSpPr>
            <a:cxnSpLocks/>
          </p:cNvCxnSpPr>
          <p:nvPr/>
        </p:nvCxnSpPr>
        <p:spPr>
          <a:xfrm>
            <a:off x="352809" y="648857"/>
            <a:ext cx="19145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CuadroTexto 11">
            <a:extLst>
              <a:ext uri="{FF2B5EF4-FFF2-40B4-BE49-F238E27FC236}">
                <a16:creationId xmlns:a16="http://schemas.microsoft.com/office/drawing/2014/main" id="{B8C03864-5E22-E2A0-9895-FD77C48BC8C7}"/>
              </a:ext>
            </a:extLst>
          </p:cNvPr>
          <p:cNvSpPr txBox="1"/>
          <p:nvPr/>
        </p:nvSpPr>
        <p:spPr>
          <a:xfrm>
            <a:off x="352809" y="2783038"/>
            <a:ext cx="6819507" cy="3770263"/>
          </a:xfrm>
          <a:prstGeom prst="rect">
            <a:avLst/>
          </a:prstGeom>
          <a:noFill/>
        </p:spPr>
        <p:txBody>
          <a:bodyPr wrap="square">
            <a:spAutoFit/>
          </a:bodyPr>
          <a:lstStyle/>
          <a:p>
            <a:pPr marL="285750" indent="-285750">
              <a:lnSpc>
                <a:spcPct val="110000"/>
              </a:lnSpc>
              <a:spcBef>
                <a:spcPct val="20000"/>
              </a:spcBef>
              <a:spcAft>
                <a:spcPts val="800"/>
              </a:spcAft>
              <a:buClr>
                <a:schemeClr val="accent2"/>
              </a:buClr>
              <a:buFont typeface="Courier New" panose="02070309020205020404" pitchFamily="49" charset="0"/>
              <a:buChar char="o"/>
            </a:pPr>
            <a:r>
              <a:rPr kumimoji="1" lang="es-ES" sz="2000" b="1" dirty="0">
                <a:latin typeface="Helvetica" panose="020B0604020202020204" pitchFamily="34" charset="0"/>
                <a:cs typeface="Helvetica" panose="020B0604020202020204" pitchFamily="34" charset="0"/>
              </a:rPr>
              <a:t>Brevedad</a:t>
            </a:r>
          </a:p>
          <a:p>
            <a:pPr lvl="1">
              <a:lnSpc>
                <a:spcPct val="110000"/>
              </a:lnSpc>
              <a:spcBef>
                <a:spcPct val="20000"/>
              </a:spcBef>
              <a:spcAft>
                <a:spcPts val="800"/>
              </a:spcAft>
              <a:buClr>
                <a:schemeClr val="accent2"/>
              </a:buClr>
            </a:pPr>
            <a:r>
              <a:rPr kumimoji="1" lang="es-ES" dirty="0">
                <a:latin typeface="Helvetica" panose="020B0604020202020204" pitchFamily="34" charset="0"/>
                <a:cs typeface="Helvetica" panose="020B0604020202020204" pitchFamily="34" charset="0"/>
              </a:rPr>
              <a:t>La lectura en pantalla es más lenta que en papel. Como regla general, hay que escribir </a:t>
            </a:r>
            <a:r>
              <a:rPr kumimoji="1" lang="es-ES" b="1" dirty="0">
                <a:latin typeface="Helvetica" panose="020B0604020202020204" pitchFamily="34" charset="0"/>
                <a:cs typeface="Helvetica" panose="020B0604020202020204" pitchFamily="34" charset="0"/>
              </a:rPr>
              <a:t>poco texto </a:t>
            </a:r>
            <a:r>
              <a:rPr kumimoji="1" lang="es-ES" dirty="0">
                <a:latin typeface="Helvetica" panose="020B0604020202020204" pitchFamily="34" charset="0"/>
                <a:cs typeface="Helvetica" panose="020B0604020202020204" pitchFamily="34" charset="0"/>
              </a:rPr>
              <a:t>y de forma </a:t>
            </a:r>
            <a:r>
              <a:rPr kumimoji="1" lang="es-ES" b="1" dirty="0">
                <a:latin typeface="Helvetica" panose="020B0604020202020204" pitchFamily="34" charset="0"/>
                <a:cs typeface="Helvetica" panose="020B0604020202020204" pitchFamily="34" charset="0"/>
              </a:rPr>
              <a:t>concisa</a:t>
            </a:r>
            <a:r>
              <a:rPr kumimoji="1" lang="es-ES" dirty="0">
                <a:latin typeface="Helvetica" panose="020B0604020202020204" pitchFamily="34" charset="0"/>
                <a:cs typeface="Helvetica" panose="020B0604020202020204" pitchFamily="34" charset="0"/>
              </a:rPr>
              <a:t>. Si nuestro proyecto es una tienda online, debe destacarse sobre todo el precio del artículo e incluir muy pocas de sus características y, a ser posible, en su nombre en el titular. </a:t>
            </a:r>
          </a:p>
          <a:p>
            <a:pPr lvl="1">
              <a:lnSpc>
                <a:spcPct val="110000"/>
              </a:lnSpc>
              <a:spcBef>
                <a:spcPct val="20000"/>
              </a:spcBef>
              <a:spcAft>
                <a:spcPts val="800"/>
              </a:spcAft>
              <a:buClr>
                <a:schemeClr val="accent2"/>
              </a:buClr>
            </a:pPr>
            <a:r>
              <a:rPr kumimoji="1" lang="es-ES" dirty="0">
                <a:latin typeface="Helvetica" panose="020B0604020202020204" pitchFamily="34" charset="0"/>
                <a:cs typeface="Helvetica" panose="020B0604020202020204" pitchFamily="34" charset="0"/>
              </a:rPr>
              <a:t>En la descripción detallada (que debe aparecer sólo cuando el usuario la extienda) es donde uno se debe explayar todo lo posible para describir por completo el artículo e intentar que el comprador se decida por su compra. (</a:t>
            </a:r>
            <a:r>
              <a:rPr kumimoji="1" lang="es-ES" i="1" dirty="0" err="1">
                <a:latin typeface="Helvetica" panose="020B0604020202020204" pitchFamily="34" charset="0"/>
                <a:cs typeface="Helvetica" panose="020B0604020202020204" pitchFamily="34" charset="0"/>
              </a:rPr>
              <a:t>copywriting</a:t>
            </a:r>
            <a:r>
              <a:rPr kumimoji="1" lang="es-ES" dirty="0">
                <a:latin typeface="Helvetica" panose="020B0604020202020204" pitchFamily="34" charset="0"/>
                <a:cs typeface="Helvetica" panose="020B0604020202020204" pitchFamily="34" charset="0"/>
              </a:rPr>
              <a:t>)</a:t>
            </a:r>
          </a:p>
        </p:txBody>
      </p:sp>
      <p:pic>
        <p:nvPicPr>
          <p:cNvPr id="14" name="Imagen 13" descr="Interfaz de usuario gráfica, Texto, Sitio web&#10;&#10;Descripción generada automáticamente">
            <a:extLst>
              <a:ext uri="{FF2B5EF4-FFF2-40B4-BE49-F238E27FC236}">
                <a16:creationId xmlns:a16="http://schemas.microsoft.com/office/drawing/2014/main" id="{23B1953C-5A87-08E4-A145-7EF08FAAE7D8}"/>
              </a:ext>
            </a:extLst>
          </p:cNvPr>
          <p:cNvPicPr>
            <a:picLocks noChangeAspect="1"/>
          </p:cNvPicPr>
          <p:nvPr/>
        </p:nvPicPr>
        <p:blipFill rotWithShape="1">
          <a:blip r:embed="rId2">
            <a:extLst>
              <a:ext uri="{28A0092B-C50C-407E-A947-70E740481C1C}">
                <a14:useLocalDpi xmlns:a14="http://schemas.microsoft.com/office/drawing/2010/main" val="0"/>
              </a:ext>
            </a:extLst>
          </a:blip>
          <a:srcRect l="7527" r="7474"/>
          <a:stretch/>
        </p:blipFill>
        <p:spPr>
          <a:xfrm>
            <a:off x="7172316" y="2770287"/>
            <a:ext cx="3737589" cy="2260452"/>
          </a:xfrm>
          <a:prstGeom prst="rect">
            <a:avLst/>
          </a:prstGeom>
        </p:spPr>
      </p:pic>
      <p:pic>
        <p:nvPicPr>
          <p:cNvPr id="16" name="Imagen 15" descr="Interfaz de usuario gráfica, Sitio web&#10;&#10;Descripción generada automáticamente">
            <a:extLst>
              <a:ext uri="{FF2B5EF4-FFF2-40B4-BE49-F238E27FC236}">
                <a16:creationId xmlns:a16="http://schemas.microsoft.com/office/drawing/2014/main" id="{8C0C53DE-F620-7F1F-BAE6-5E9FDD8944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28180" y="4483663"/>
            <a:ext cx="3663820" cy="2353091"/>
          </a:xfrm>
          <a:prstGeom prst="rect">
            <a:avLst/>
          </a:prstGeom>
          <a:ln>
            <a:solidFill>
              <a:schemeClr val="accent1"/>
            </a:solidFill>
          </a:ln>
        </p:spPr>
      </p:pic>
    </p:spTree>
    <p:extLst>
      <p:ext uri="{BB962C8B-B14F-4D97-AF65-F5344CB8AC3E}">
        <p14:creationId xmlns:p14="http://schemas.microsoft.com/office/powerpoint/2010/main" val="23490165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3CA06C9A-A2A6-B465-423F-604D11DC4BB7}"/>
              </a:ext>
            </a:extLst>
          </p:cNvPr>
          <p:cNvSpPr txBox="1"/>
          <p:nvPr/>
        </p:nvSpPr>
        <p:spPr>
          <a:xfrm>
            <a:off x="335504" y="1142549"/>
            <a:ext cx="11486382" cy="717632"/>
          </a:xfrm>
          <a:prstGeom prst="rect">
            <a:avLst/>
          </a:prstGeom>
          <a:noFill/>
        </p:spPr>
        <p:txBody>
          <a:bodyPr wrap="square">
            <a:spAutoFit/>
          </a:bodyPr>
          <a:lstStyle/>
          <a:p>
            <a:pPr>
              <a:lnSpc>
                <a:spcPct val="110000"/>
              </a:lnSpc>
              <a:spcBef>
                <a:spcPct val="20000"/>
              </a:spcBef>
              <a:spcAft>
                <a:spcPts val="800"/>
              </a:spcAft>
              <a:buClr>
                <a:schemeClr val="accent2"/>
              </a:buClr>
            </a:pPr>
            <a:r>
              <a:rPr kumimoji="1" lang="es-ES" sz="1100" dirty="0">
                <a:latin typeface="Helvetica" panose="020B0604020202020204" pitchFamily="34" charset="0"/>
                <a:cs typeface="Helvetica" panose="020B0604020202020204" pitchFamily="34" charset="0"/>
              </a:rPr>
              <a:t>FASE 2.-  Diseño de contenidos</a:t>
            </a:r>
          </a:p>
          <a:p>
            <a:pPr>
              <a:lnSpc>
                <a:spcPct val="110000"/>
              </a:lnSpc>
              <a:spcBef>
                <a:spcPct val="20000"/>
              </a:spcBef>
              <a:spcAft>
                <a:spcPts val="800"/>
              </a:spcAft>
              <a:buClr>
                <a:schemeClr val="accent2"/>
              </a:buClr>
            </a:pPr>
            <a:endParaRPr kumimoji="1" lang="es-ES" sz="1800" dirty="0">
              <a:latin typeface="Helvetica" panose="020B0604020202020204" pitchFamily="34" charset="0"/>
              <a:cs typeface="Helvetica" panose="020B0604020202020204" pitchFamily="34" charset="0"/>
            </a:endParaRPr>
          </a:p>
        </p:txBody>
      </p:sp>
      <p:sp>
        <p:nvSpPr>
          <p:cNvPr id="4" name="CuadroTexto 3">
            <a:extLst>
              <a:ext uri="{FF2B5EF4-FFF2-40B4-BE49-F238E27FC236}">
                <a16:creationId xmlns:a16="http://schemas.microsoft.com/office/drawing/2014/main" id="{68E81188-952F-FF76-4656-239C36954F45}"/>
              </a:ext>
            </a:extLst>
          </p:cNvPr>
          <p:cNvSpPr txBox="1"/>
          <p:nvPr/>
        </p:nvSpPr>
        <p:spPr>
          <a:xfrm>
            <a:off x="242556" y="233916"/>
            <a:ext cx="1762021" cy="369332"/>
          </a:xfrm>
          <a:prstGeom prst="rect">
            <a:avLst/>
          </a:prstGeom>
          <a:noFill/>
        </p:spPr>
        <p:txBody>
          <a:bodyPr wrap="none" rtlCol="0">
            <a:spAutoFit/>
          </a:bodyPr>
          <a:lstStyle/>
          <a:p>
            <a:r>
              <a:rPr lang="es-ES" dirty="0">
                <a:latin typeface="Helvetica" panose="020B0604020202020204" pitchFamily="34" charset="0"/>
                <a:cs typeface="Helvetica" panose="020B0604020202020204" pitchFamily="34" charset="0"/>
              </a:rPr>
              <a:t>Fase de diseño</a:t>
            </a:r>
          </a:p>
        </p:txBody>
      </p:sp>
      <p:cxnSp>
        <p:nvCxnSpPr>
          <p:cNvPr id="5" name="Conector recto 4">
            <a:extLst>
              <a:ext uri="{FF2B5EF4-FFF2-40B4-BE49-F238E27FC236}">
                <a16:creationId xmlns:a16="http://schemas.microsoft.com/office/drawing/2014/main" id="{6B9E21EB-704C-E1C9-2D0E-D5B4725CA4F6}"/>
              </a:ext>
            </a:extLst>
          </p:cNvPr>
          <p:cNvCxnSpPr>
            <a:cxnSpLocks/>
          </p:cNvCxnSpPr>
          <p:nvPr/>
        </p:nvCxnSpPr>
        <p:spPr>
          <a:xfrm>
            <a:off x="335504" y="706009"/>
            <a:ext cx="19145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Imagen 5">
            <a:extLst>
              <a:ext uri="{FF2B5EF4-FFF2-40B4-BE49-F238E27FC236}">
                <a16:creationId xmlns:a16="http://schemas.microsoft.com/office/drawing/2014/main" id="{D383EC27-F5D1-E382-D159-F9A7D9AC4D81}"/>
              </a:ext>
            </a:extLst>
          </p:cNvPr>
          <p:cNvPicPr>
            <a:picLocks noChangeAspect="1"/>
          </p:cNvPicPr>
          <p:nvPr/>
        </p:nvPicPr>
        <p:blipFill>
          <a:blip r:embed="rId2"/>
          <a:stretch>
            <a:fillRect/>
          </a:stretch>
        </p:blipFill>
        <p:spPr>
          <a:xfrm>
            <a:off x="6521570" y="1759790"/>
            <a:ext cx="5604057" cy="4054414"/>
          </a:xfrm>
          <a:prstGeom prst="rect">
            <a:avLst/>
          </a:prstGeom>
        </p:spPr>
      </p:pic>
      <p:sp>
        <p:nvSpPr>
          <p:cNvPr id="10" name="CuadroTexto 9">
            <a:extLst>
              <a:ext uri="{FF2B5EF4-FFF2-40B4-BE49-F238E27FC236}">
                <a16:creationId xmlns:a16="http://schemas.microsoft.com/office/drawing/2014/main" id="{26EA799A-7FB7-96A2-391F-421CF6AFC564}"/>
              </a:ext>
            </a:extLst>
          </p:cNvPr>
          <p:cNvSpPr txBox="1"/>
          <p:nvPr/>
        </p:nvSpPr>
        <p:spPr>
          <a:xfrm>
            <a:off x="130412" y="1759790"/>
            <a:ext cx="6186498" cy="4260654"/>
          </a:xfrm>
          <a:prstGeom prst="rect">
            <a:avLst/>
          </a:prstGeom>
          <a:noFill/>
        </p:spPr>
        <p:txBody>
          <a:bodyPr wrap="square">
            <a:spAutoFit/>
          </a:bodyPr>
          <a:lstStyle/>
          <a:p>
            <a:pPr marL="285750" indent="-285750">
              <a:lnSpc>
                <a:spcPct val="110000"/>
              </a:lnSpc>
              <a:spcBef>
                <a:spcPct val="20000"/>
              </a:spcBef>
              <a:spcAft>
                <a:spcPts val="800"/>
              </a:spcAft>
              <a:buClr>
                <a:schemeClr val="accent2"/>
              </a:buClr>
              <a:buFont typeface="Courier New" panose="02070309020205020404" pitchFamily="49" charset="0"/>
              <a:buChar char="o"/>
            </a:pPr>
            <a:r>
              <a:rPr kumimoji="1" lang="es-ES" sz="2200" b="1" dirty="0">
                <a:latin typeface="Helvetica" panose="020B0604020202020204" pitchFamily="34" charset="0"/>
                <a:cs typeface="Helvetica" panose="020B0604020202020204" pitchFamily="34" charset="0"/>
              </a:rPr>
              <a:t>Lectura en diagonal</a:t>
            </a:r>
          </a:p>
          <a:p>
            <a:pPr lvl="1"/>
            <a:r>
              <a:rPr lang="es-ES" sz="2000" dirty="0"/>
              <a:t>Los usuarios tienden a no leer por entero el texto en pantalla, sino que suelen rastrear visualmente la página para encontrar las palabras clave. En ocasiones, si el texto no resalta convenientemente los conceptos importantes, los usuarios suelen bajar hasta encontrarse con un botón de acción y después vuelven a subir para verificar si se han dejado algo importante por leer.</a:t>
            </a:r>
          </a:p>
          <a:p>
            <a:pPr lvl="1"/>
            <a:r>
              <a:rPr lang="es-ES" sz="2000" dirty="0"/>
              <a:t>Por ello, la estructura del texto debe ser </a:t>
            </a:r>
            <a:r>
              <a:rPr lang="es-ES" sz="2000" b="1" dirty="0"/>
              <a:t>ordenada</a:t>
            </a:r>
            <a:r>
              <a:rPr lang="es-ES" sz="2000" dirty="0"/>
              <a:t> y separada en </a:t>
            </a:r>
            <a:r>
              <a:rPr lang="es-ES" sz="2000" b="1" dirty="0"/>
              <a:t>secciones</a:t>
            </a:r>
            <a:r>
              <a:rPr lang="es-ES" sz="2000" dirty="0"/>
              <a:t> bien </a:t>
            </a:r>
            <a:r>
              <a:rPr lang="es-ES" sz="2000" b="1" dirty="0"/>
              <a:t>visibles</a:t>
            </a:r>
            <a:r>
              <a:rPr lang="es-ES" sz="2000" dirty="0"/>
              <a:t>, con </a:t>
            </a:r>
            <a:r>
              <a:rPr lang="es-ES" sz="2000" b="1" dirty="0"/>
              <a:t>información</a:t>
            </a:r>
            <a:r>
              <a:rPr lang="es-ES" sz="2000" dirty="0"/>
              <a:t> </a:t>
            </a:r>
            <a:r>
              <a:rPr lang="es-ES" sz="2000" b="1" dirty="0"/>
              <a:t>concreta</a:t>
            </a:r>
            <a:r>
              <a:rPr lang="es-ES" sz="2000" dirty="0"/>
              <a:t> y con las </a:t>
            </a:r>
            <a:r>
              <a:rPr lang="es-ES" sz="2000" b="1" dirty="0"/>
              <a:t>palabras</a:t>
            </a:r>
            <a:r>
              <a:rPr lang="es-ES" sz="2000" dirty="0"/>
              <a:t> </a:t>
            </a:r>
            <a:r>
              <a:rPr lang="es-ES" sz="2000" b="1" dirty="0"/>
              <a:t>justas</a:t>
            </a:r>
            <a:r>
              <a:rPr lang="es-ES" sz="2000" dirty="0"/>
              <a:t>, ni una más, ni una menos.</a:t>
            </a:r>
          </a:p>
        </p:txBody>
      </p:sp>
    </p:spTree>
    <p:extLst>
      <p:ext uri="{BB962C8B-B14F-4D97-AF65-F5344CB8AC3E}">
        <p14:creationId xmlns:p14="http://schemas.microsoft.com/office/powerpoint/2010/main" val="26085206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3CA06C9A-A2A6-B465-423F-604D11DC4BB7}"/>
              </a:ext>
            </a:extLst>
          </p:cNvPr>
          <p:cNvSpPr txBox="1"/>
          <p:nvPr/>
        </p:nvSpPr>
        <p:spPr>
          <a:xfrm>
            <a:off x="335503" y="964749"/>
            <a:ext cx="5953329" cy="2698687"/>
          </a:xfrm>
          <a:prstGeom prst="rect">
            <a:avLst/>
          </a:prstGeom>
          <a:noFill/>
        </p:spPr>
        <p:txBody>
          <a:bodyPr wrap="square">
            <a:spAutoFit/>
          </a:bodyPr>
          <a:lstStyle/>
          <a:p>
            <a:pPr>
              <a:lnSpc>
                <a:spcPct val="110000"/>
              </a:lnSpc>
              <a:spcBef>
                <a:spcPct val="20000"/>
              </a:spcBef>
              <a:spcAft>
                <a:spcPts val="800"/>
              </a:spcAft>
              <a:buClr>
                <a:schemeClr val="accent2"/>
              </a:buClr>
            </a:pPr>
            <a:r>
              <a:rPr kumimoji="1" lang="es-ES" sz="1100" dirty="0">
                <a:latin typeface="Helvetica" panose="020B0604020202020204" pitchFamily="34" charset="0"/>
                <a:cs typeface="Helvetica" panose="020B0604020202020204" pitchFamily="34" charset="0"/>
              </a:rPr>
              <a:t>FASE 2.-  Diseño de contenidos</a:t>
            </a:r>
          </a:p>
          <a:p>
            <a:pPr marL="285750" indent="-285750">
              <a:lnSpc>
                <a:spcPct val="110000"/>
              </a:lnSpc>
              <a:spcBef>
                <a:spcPct val="20000"/>
              </a:spcBef>
              <a:spcAft>
                <a:spcPts val="800"/>
              </a:spcAft>
              <a:buClr>
                <a:schemeClr val="accent2"/>
              </a:buClr>
              <a:buFont typeface="Courier New" panose="02070309020205020404" pitchFamily="49" charset="0"/>
              <a:buChar char="o"/>
            </a:pPr>
            <a:r>
              <a:rPr kumimoji="1" lang="es-ES" sz="2000" dirty="0">
                <a:latin typeface="Helvetica" panose="020B0604020202020204" pitchFamily="34" charset="0"/>
                <a:cs typeface="Helvetica" panose="020B0604020202020204" pitchFamily="34" charset="0"/>
              </a:rPr>
              <a:t>Los usuarios buscan </a:t>
            </a:r>
            <a:r>
              <a:rPr kumimoji="1" lang="es-ES" sz="2000" b="1" dirty="0">
                <a:latin typeface="Helvetica" panose="020B0604020202020204" pitchFamily="34" charset="0"/>
                <a:cs typeface="Helvetica" panose="020B0604020202020204" pitchFamily="34" charset="0"/>
              </a:rPr>
              <a:t>elecciones sencillas</a:t>
            </a:r>
            <a:r>
              <a:rPr kumimoji="1" lang="es-ES" sz="2000" dirty="0">
                <a:latin typeface="Helvetica" panose="020B0604020202020204" pitchFamily="34" charset="0"/>
                <a:cs typeface="Helvetica" panose="020B0604020202020204" pitchFamily="34" charset="0"/>
              </a:rPr>
              <a:t>. Es más recomendable ofrecer pocas opciones en varios pasos que muchas opciones en pocos pasos, mejorando así la usabilidad.</a:t>
            </a:r>
          </a:p>
          <a:p>
            <a:pPr marL="285750" indent="-285750">
              <a:lnSpc>
                <a:spcPct val="110000"/>
              </a:lnSpc>
              <a:spcBef>
                <a:spcPct val="20000"/>
              </a:spcBef>
              <a:spcAft>
                <a:spcPts val="800"/>
              </a:spcAft>
              <a:buClr>
                <a:schemeClr val="accent2"/>
              </a:buClr>
              <a:buFont typeface="Courier New" panose="02070309020205020404" pitchFamily="49" charset="0"/>
              <a:buChar char="o"/>
            </a:pPr>
            <a:endParaRPr kumimoji="1" lang="es-ES" dirty="0">
              <a:latin typeface="Helvetica" panose="020B0604020202020204" pitchFamily="34" charset="0"/>
              <a:cs typeface="Helvetica" panose="020B0604020202020204" pitchFamily="34" charset="0"/>
            </a:endParaRPr>
          </a:p>
          <a:p>
            <a:pPr>
              <a:lnSpc>
                <a:spcPct val="110000"/>
              </a:lnSpc>
              <a:spcBef>
                <a:spcPct val="20000"/>
              </a:spcBef>
              <a:spcAft>
                <a:spcPts val="800"/>
              </a:spcAft>
              <a:buClr>
                <a:schemeClr val="accent2"/>
              </a:buClr>
            </a:pPr>
            <a:endParaRPr kumimoji="1" lang="es-ES" b="1" dirty="0">
              <a:latin typeface="Helvetica" panose="020B0604020202020204" pitchFamily="34" charset="0"/>
              <a:cs typeface="Helvetica" panose="020B0604020202020204" pitchFamily="34" charset="0"/>
            </a:endParaRPr>
          </a:p>
        </p:txBody>
      </p:sp>
      <p:sp>
        <p:nvSpPr>
          <p:cNvPr id="4" name="CuadroTexto 3">
            <a:extLst>
              <a:ext uri="{FF2B5EF4-FFF2-40B4-BE49-F238E27FC236}">
                <a16:creationId xmlns:a16="http://schemas.microsoft.com/office/drawing/2014/main" id="{68E81188-952F-FF76-4656-239C36954F45}"/>
              </a:ext>
            </a:extLst>
          </p:cNvPr>
          <p:cNvSpPr txBox="1"/>
          <p:nvPr/>
        </p:nvSpPr>
        <p:spPr>
          <a:xfrm>
            <a:off x="242556" y="233916"/>
            <a:ext cx="1762021" cy="369332"/>
          </a:xfrm>
          <a:prstGeom prst="rect">
            <a:avLst/>
          </a:prstGeom>
          <a:noFill/>
        </p:spPr>
        <p:txBody>
          <a:bodyPr wrap="none" rtlCol="0">
            <a:spAutoFit/>
          </a:bodyPr>
          <a:lstStyle/>
          <a:p>
            <a:r>
              <a:rPr lang="es-ES" dirty="0">
                <a:latin typeface="Helvetica" panose="020B0604020202020204" pitchFamily="34" charset="0"/>
                <a:cs typeface="Helvetica" panose="020B0604020202020204" pitchFamily="34" charset="0"/>
              </a:rPr>
              <a:t>Fase de diseño</a:t>
            </a:r>
          </a:p>
        </p:txBody>
      </p:sp>
      <p:cxnSp>
        <p:nvCxnSpPr>
          <p:cNvPr id="5" name="Conector recto 4">
            <a:extLst>
              <a:ext uri="{FF2B5EF4-FFF2-40B4-BE49-F238E27FC236}">
                <a16:creationId xmlns:a16="http://schemas.microsoft.com/office/drawing/2014/main" id="{6B9E21EB-704C-E1C9-2D0E-D5B4725CA4F6}"/>
              </a:ext>
            </a:extLst>
          </p:cNvPr>
          <p:cNvCxnSpPr>
            <a:cxnSpLocks/>
          </p:cNvCxnSpPr>
          <p:nvPr/>
        </p:nvCxnSpPr>
        <p:spPr>
          <a:xfrm>
            <a:off x="335504" y="706009"/>
            <a:ext cx="19145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 name="Picture 4" descr="diálogo con múltiples tabs">
            <a:extLst>
              <a:ext uri="{FF2B5EF4-FFF2-40B4-BE49-F238E27FC236}">
                <a16:creationId xmlns:a16="http://schemas.microsoft.com/office/drawing/2014/main" id="{C90E2B46-93B4-D0D1-A4D3-EF12A75F183F}"/>
              </a:ext>
            </a:extLst>
          </p:cNvPr>
          <p:cNvPicPr>
            <a:picLocks noChangeAspect="1" noChangeArrowheads="1"/>
          </p:cNvPicPr>
          <p:nvPr/>
        </p:nvPicPr>
        <p:blipFill>
          <a:blip r:embed="rId2"/>
          <a:srcRect/>
          <a:stretch>
            <a:fillRect/>
          </a:stretch>
        </p:blipFill>
        <p:spPr bwMode="auto">
          <a:xfrm>
            <a:off x="6632050" y="927303"/>
            <a:ext cx="5381051" cy="1935290"/>
          </a:xfrm>
          <a:prstGeom prst="rect">
            <a:avLst/>
          </a:prstGeom>
          <a:noFill/>
          <a:ln w="9525">
            <a:noFill/>
            <a:miter lim="800000"/>
            <a:headEnd/>
            <a:tailEnd/>
          </a:ln>
        </p:spPr>
      </p:pic>
      <p:sp>
        <p:nvSpPr>
          <p:cNvPr id="6" name="Rectangle 6">
            <a:extLst>
              <a:ext uri="{FF2B5EF4-FFF2-40B4-BE49-F238E27FC236}">
                <a16:creationId xmlns:a16="http://schemas.microsoft.com/office/drawing/2014/main" id="{86CA45DC-AD9E-9213-99DC-9F1C00B5278C}"/>
              </a:ext>
            </a:extLst>
          </p:cNvPr>
          <p:cNvSpPr>
            <a:spLocks noChangeArrowheads="1"/>
          </p:cNvSpPr>
          <p:nvPr/>
        </p:nvSpPr>
        <p:spPr bwMode="auto">
          <a:xfrm>
            <a:off x="6922005" y="2967335"/>
            <a:ext cx="4801140" cy="461665"/>
          </a:xfrm>
          <a:prstGeom prst="rect">
            <a:avLst/>
          </a:prstGeom>
          <a:noFill/>
          <a:ln w="12700">
            <a:noFill/>
            <a:miter lim="800000"/>
            <a:headEnd/>
            <a:tailEnd/>
          </a:ln>
        </p:spPr>
        <p:txBody>
          <a:bodyPr wrap="square" anchor="ctr">
            <a:prstTxWarp prst="textNoShape">
              <a:avLst/>
            </a:prstTxWarp>
            <a:spAutoFit/>
          </a:bodyPr>
          <a:lstStyle/>
          <a:p>
            <a:pPr algn="ctr" defTabSz="762000"/>
            <a:r>
              <a:rPr kumimoji="1" lang="es-ES_tradnl" sz="1200" i="1" dirty="0">
                <a:latin typeface="Verdana" charset="0"/>
              </a:rPr>
              <a:t>Dolphin Plus</a:t>
            </a:r>
            <a:r>
              <a:rPr kumimoji="1" lang="es-ES_tradnl" sz="1200" dirty="0">
                <a:latin typeface="Verdana" charset="0"/>
              </a:rPr>
              <a:t>, herramienta para configuración de sensores de nivel y de flujo industriales. No, no es lo que queremos…</a:t>
            </a:r>
          </a:p>
        </p:txBody>
      </p:sp>
      <p:sp>
        <p:nvSpPr>
          <p:cNvPr id="10" name="CuadroTexto 9">
            <a:extLst>
              <a:ext uri="{FF2B5EF4-FFF2-40B4-BE49-F238E27FC236}">
                <a16:creationId xmlns:a16="http://schemas.microsoft.com/office/drawing/2014/main" id="{34D01D6C-D49B-C3B8-306E-4FAF9FA8BDBA}"/>
              </a:ext>
            </a:extLst>
          </p:cNvPr>
          <p:cNvSpPr txBox="1"/>
          <p:nvPr/>
        </p:nvSpPr>
        <p:spPr>
          <a:xfrm>
            <a:off x="335503" y="3780598"/>
            <a:ext cx="11387642" cy="2800767"/>
          </a:xfrm>
          <a:prstGeom prst="rect">
            <a:avLst/>
          </a:prstGeom>
          <a:noFill/>
        </p:spPr>
        <p:txBody>
          <a:bodyPr wrap="square">
            <a:spAutoFit/>
          </a:bodyPr>
          <a:lstStyle/>
          <a:p>
            <a:pPr marL="285750" indent="-285750">
              <a:lnSpc>
                <a:spcPct val="110000"/>
              </a:lnSpc>
              <a:spcBef>
                <a:spcPct val="20000"/>
              </a:spcBef>
              <a:spcAft>
                <a:spcPts val="800"/>
              </a:spcAft>
              <a:buClr>
                <a:schemeClr val="accent2"/>
              </a:buClr>
              <a:buFont typeface="Courier New" panose="02070309020205020404" pitchFamily="49" charset="0"/>
              <a:buChar char="o"/>
            </a:pPr>
            <a:r>
              <a:rPr kumimoji="1" lang="es-ES" sz="2000" dirty="0">
                <a:latin typeface="Helvetica" panose="020B0604020202020204" pitchFamily="34" charset="0"/>
                <a:cs typeface="Helvetica" panose="020B0604020202020204" pitchFamily="34" charset="0"/>
              </a:rPr>
              <a:t>Las </a:t>
            </a:r>
            <a:r>
              <a:rPr kumimoji="1" lang="es-ES" sz="2000" b="1" dirty="0">
                <a:latin typeface="Helvetica" panose="020B0604020202020204" pitchFamily="34" charset="0"/>
                <a:cs typeface="Helvetica" panose="020B0604020202020204" pitchFamily="34" charset="0"/>
              </a:rPr>
              <a:t>opciones</a:t>
            </a:r>
            <a:r>
              <a:rPr kumimoji="1" lang="es-ES" sz="2000" dirty="0">
                <a:latin typeface="Helvetica" panose="020B0604020202020204" pitchFamily="34" charset="0"/>
                <a:cs typeface="Helvetica" panose="020B0604020202020204" pitchFamily="34" charset="0"/>
              </a:rPr>
              <a:t> que se ofrecen deben ser lo suficientemente </a:t>
            </a:r>
            <a:r>
              <a:rPr kumimoji="1" lang="es-ES" sz="2000" b="1" dirty="0">
                <a:latin typeface="Helvetica" panose="020B0604020202020204" pitchFamily="34" charset="0"/>
                <a:cs typeface="Helvetica" panose="020B0604020202020204" pitchFamily="34" charset="0"/>
              </a:rPr>
              <a:t>distintas</a:t>
            </a:r>
            <a:r>
              <a:rPr kumimoji="1" lang="es-ES" sz="2000" dirty="0">
                <a:latin typeface="Helvetica" panose="020B0604020202020204" pitchFamily="34" charset="0"/>
                <a:cs typeface="Helvetica" panose="020B0604020202020204" pitchFamily="34" charset="0"/>
              </a:rPr>
              <a:t> como para no dudar entre una u otra.</a:t>
            </a:r>
          </a:p>
          <a:p>
            <a:pPr marL="285750" indent="-285750">
              <a:lnSpc>
                <a:spcPct val="110000"/>
              </a:lnSpc>
              <a:spcBef>
                <a:spcPct val="20000"/>
              </a:spcBef>
              <a:spcAft>
                <a:spcPts val="800"/>
              </a:spcAft>
              <a:buClr>
                <a:schemeClr val="accent2"/>
              </a:buClr>
              <a:buFont typeface="Courier New" panose="02070309020205020404" pitchFamily="49" charset="0"/>
              <a:buChar char="o"/>
            </a:pPr>
            <a:r>
              <a:rPr kumimoji="1" lang="es-ES" sz="2000" dirty="0">
                <a:latin typeface="Helvetica" panose="020B0604020202020204" pitchFamily="34" charset="0"/>
                <a:cs typeface="Helvetica" panose="020B0604020202020204" pitchFamily="34" charset="0"/>
              </a:rPr>
              <a:t>Las </a:t>
            </a:r>
            <a:r>
              <a:rPr kumimoji="1" lang="es-ES" sz="2000" b="1" dirty="0">
                <a:latin typeface="Helvetica" panose="020B0604020202020204" pitchFamily="34" charset="0"/>
                <a:cs typeface="Helvetica" panose="020B0604020202020204" pitchFamily="34" charset="0"/>
              </a:rPr>
              <a:t>instrucciones</a:t>
            </a:r>
            <a:r>
              <a:rPr kumimoji="1" lang="es-ES" sz="2000" dirty="0">
                <a:latin typeface="Helvetica" panose="020B0604020202020204" pitchFamily="34" charset="0"/>
                <a:cs typeface="Helvetica" panose="020B0604020202020204" pitchFamily="34" charset="0"/>
              </a:rPr>
              <a:t> deben </a:t>
            </a:r>
            <a:r>
              <a:rPr kumimoji="1" lang="es-ES" sz="2000" b="1" dirty="0">
                <a:latin typeface="Helvetica" panose="020B0604020202020204" pitchFamily="34" charset="0"/>
                <a:cs typeface="Helvetica" panose="020B0604020202020204" pitchFamily="34" charset="0"/>
              </a:rPr>
              <a:t>desaparecer</a:t>
            </a:r>
            <a:r>
              <a:rPr kumimoji="1" lang="es-ES" sz="2000" dirty="0">
                <a:latin typeface="Helvetica" panose="020B0604020202020204" pitchFamily="34" charset="0"/>
                <a:cs typeface="Helvetica" panose="020B0604020202020204" pitchFamily="34" charset="0"/>
              </a:rPr>
              <a:t> o </a:t>
            </a:r>
            <a:r>
              <a:rPr kumimoji="1" lang="es-ES" sz="2000" b="1" dirty="0">
                <a:latin typeface="Helvetica" panose="020B0604020202020204" pitchFamily="34" charset="0"/>
                <a:cs typeface="Helvetica" panose="020B0604020202020204" pitchFamily="34" charset="0"/>
              </a:rPr>
              <a:t>minimizarse</a:t>
            </a:r>
            <a:r>
              <a:rPr kumimoji="1" lang="es-ES" sz="2000" dirty="0">
                <a:latin typeface="Helvetica" panose="020B0604020202020204" pitchFamily="34" charset="0"/>
                <a:cs typeface="Helvetica" panose="020B0604020202020204" pitchFamily="34" charset="0"/>
              </a:rPr>
              <a:t> al máximo.</a:t>
            </a:r>
          </a:p>
          <a:p>
            <a:pPr lvl="1">
              <a:lnSpc>
                <a:spcPct val="110000"/>
              </a:lnSpc>
              <a:spcBef>
                <a:spcPct val="20000"/>
              </a:spcBef>
              <a:spcAft>
                <a:spcPts val="800"/>
              </a:spcAft>
              <a:buClr>
                <a:schemeClr val="accent2"/>
              </a:buClr>
            </a:pPr>
            <a:r>
              <a:rPr kumimoji="1" lang="es-ES" sz="2000" dirty="0">
                <a:latin typeface="Helvetica" panose="020B0604020202020204" pitchFamily="34" charset="0"/>
                <a:cs typeface="Helvetica" panose="020B0604020202020204" pitchFamily="34" charset="0"/>
              </a:rPr>
              <a:t>En el momento de aparecer, deben ser:</a:t>
            </a:r>
          </a:p>
          <a:p>
            <a:pPr marL="1200150" lvl="2" indent="-285750">
              <a:buClr>
                <a:schemeClr val="accent2"/>
              </a:buClr>
              <a:buFont typeface="Arial" panose="020B0604020202020204" pitchFamily="34" charset="0"/>
              <a:buChar char="•"/>
            </a:pPr>
            <a:r>
              <a:rPr kumimoji="1" lang="es-ES" sz="2000" dirty="0">
                <a:latin typeface="Helvetica" panose="020B0604020202020204" pitchFamily="34" charset="0"/>
                <a:cs typeface="Helvetica" panose="020B0604020202020204" pitchFamily="34" charset="0"/>
              </a:rPr>
              <a:t>Breves</a:t>
            </a:r>
          </a:p>
          <a:p>
            <a:pPr marL="1200150" lvl="2" indent="-285750">
              <a:buClr>
                <a:schemeClr val="accent2"/>
              </a:buClr>
              <a:buFont typeface="Arial" panose="020B0604020202020204" pitchFamily="34" charset="0"/>
              <a:buChar char="•"/>
            </a:pPr>
            <a:r>
              <a:rPr kumimoji="1" lang="es-ES" sz="2000" dirty="0">
                <a:latin typeface="Helvetica" panose="020B0604020202020204" pitchFamily="34" charset="0"/>
                <a:cs typeface="Helvetica" panose="020B0604020202020204" pitchFamily="34" charset="0"/>
              </a:rPr>
              <a:t>Oportunas</a:t>
            </a:r>
          </a:p>
          <a:p>
            <a:pPr marL="1200150" lvl="2" indent="-285750">
              <a:buClr>
                <a:schemeClr val="accent2"/>
              </a:buClr>
              <a:buFont typeface="Arial" panose="020B0604020202020204" pitchFamily="34" charset="0"/>
              <a:buChar char="•"/>
            </a:pPr>
            <a:r>
              <a:rPr kumimoji="1" lang="es-ES" sz="2000" dirty="0">
                <a:latin typeface="Helvetica" panose="020B0604020202020204" pitchFamily="34" charset="0"/>
                <a:cs typeface="Helvetica" panose="020B0604020202020204" pitchFamily="34" charset="0"/>
              </a:rPr>
              <a:t>Visibles </a:t>
            </a:r>
          </a:p>
        </p:txBody>
      </p:sp>
    </p:spTree>
    <p:extLst>
      <p:ext uri="{BB962C8B-B14F-4D97-AF65-F5344CB8AC3E}">
        <p14:creationId xmlns:p14="http://schemas.microsoft.com/office/powerpoint/2010/main" val="3658197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descr="Maceta de pinturas de varios colores en lienzo multicolor">
            <a:extLst>
              <a:ext uri="{FF2B5EF4-FFF2-40B4-BE49-F238E27FC236}">
                <a16:creationId xmlns:a16="http://schemas.microsoft.com/office/drawing/2014/main" id="{9D978C23-4590-A736-1740-3E69870CDB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76325"/>
            <a:ext cx="12192000" cy="7934325"/>
          </a:xfrm>
          <a:prstGeom prst="rect">
            <a:avLst/>
          </a:prstGeom>
        </p:spPr>
      </p:pic>
      <p:sp>
        <p:nvSpPr>
          <p:cNvPr id="7" name="Rectángulo 6">
            <a:extLst>
              <a:ext uri="{FF2B5EF4-FFF2-40B4-BE49-F238E27FC236}">
                <a16:creationId xmlns:a16="http://schemas.microsoft.com/office/drawing/2014/main" id="{49F120EF-45EB-8CDA-4481-DCA1631311B5}"/>
              </a:ext>
            </a:extLst>
          </p:cNvPr>
          <p:cNvSpPr/>
          <p:nvPr/>
        </p:nvSpPr>
        <p:spPr>
          <a:xfrm>
            <a:off x="0" y="2066925"/>
            <a:ext cx="12192000" cy="2286000"/>
          </a:xfrm>
          <a:prstGeom prst="rect">
            <a:avLst/>
          </a:prstGeom>
          <a:solidFill>
            <a:schemeClr val="bg1">
              <a:lumMod val="95000"/>
              <a:lumOff val="5000"/>
              <a:alpha val="7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CuadroTexto 2">
            <a:extLst>
              <a:ext uri="{FF2B5EF4-FFF2-40B4-BE49-F238E27FC236}">
                <a16:creationId xmlns:a16="http://schemas.microsoft.com/office/drawing/2014/main" id="{E6E029AB-9878-40D0-D390-B60064BD2751}"/>
              </a:ext>
            </a:extLst>
          </p:cNvPr>
          <p:cNvSpPr txBox="1"/>
          <p:nvPr/>
        </p:nvSpPr>
        <p:spPr>
          <a:xfrm>
            <a:off x="1646413" y="2383988"/>
            <a:ext cx="8065913" cy="1754326"/>
          </a:xfrm>
          <a:prstGeom prst="rect">
            <a:avLst/>
          </a:prstGeom>
          <a:noFill/>
        </p:spPr>
        <p:txBody>
          <a:bodyPr wrap="square" rtlCol="0">
            <a:spAutoFit/>
          </a:bodyPr>
          <a:lstStyle/>
          <a:p>
            <a:r>
              <a:rPr lang="es-ES" sz="5400" b="1" dirty="0">
                <a:latin typeface="Helvetica" panose="020B0604020202020204" pitchFamily="34" charset="0"/>
                <a:cs typeface="Helvetica" panose="020B0604020202020204" pitchFamily="34" charset="0"/>
              </a:rPr>
              <a:t>Dando </a:t>
            </a:r>
            <a:r>
              <a:rPr lang="es-ES" sz="5400" b="1" dirty="0">
                <a:solidFill>
                  <a:srgbClr val="FFF309"/>
                </a:solidFill>
                <a:latin typeface="Helvetica" panose="020B0604020202020204" pitchFamily="34" charset="0"/>
                <a:cs typeface="Helvetica" panose="020B0604020202020204" pitchFamily="34" charset="0"/>
              </a:rPr>
              <a:t>color</a:t>
            </a:r>
            <a:r>
              <a:rPr lang="es-ES" sz="5400" b="1" dirty="0">
                <a:latin typeface="Helvetica" panose="020B0604020202020204" pitchFamily="34" charset="0"/>
                <a:cs typeface="Helvetica" panose="020B0604020202020204" pitchFamily="34" charset="0"/>
              </a:rPr>
              <a:t> a la interfaz</a:t>
            </a:r>
          </a:p>
        </p:txBody>
      </p:sp>
      <p:cxnSp>
        <p:nvCxnSpPr>
          <p:cNvPr id="5" name="Conector recto 4">
            <a:extLst>
              <a:ext uri="{FF2B5EF4-FFF2-40B4-BE49-F238E27FC236}">
                <a16:creationId xmlns:a16="http://schemas.microsoft.com/office/drawing/2014/main" id="{DD342C8F-8B3B-1A3F-E3AA-55F88A7D11A4}"/>
              </a:ext>
            </a:extLst>
          </p:cNvPr>
          <p:cNvCxnSpPr>
            <a:cxnSpLocks/>
          </p:cNvCxnSpPr>
          <p:nvPr/>
        </p:nvCxnSpPr>
        <p:spPr>
          <a:xfrm>
            <a:off x="1433886" y="2347483"/>
            <a:ext cx="0" cy="182733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61342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E6E029AB-9878-40D0-D390-B60064BD2751}"/>
              </a:ext>
            </a:extLst>
          </p:cNvPr>
          <p:cNvSpPr txBox="1"/>
          <p:nvPr/>
        </p:nvSpPr>
        <p:spPr>
          <a:xfrm>
            <a:off x="1626614" y="2721965"/>
            <a:ext cx="8065913" cy="923330"/>
          </a:xfrm>
          <a:prstGeom prst="rect">
            <a:avLst/>
          </a:prstGeom>
          <a:noFill/>
        </p:spPr>
        <p:txBody>
          <a:bodyPr wrap="square" rtlCol="0">
            <a:spAutoFit/>
          </a:bodyPr>
          <a:lstStyle/>
          <a:p>
            <a:r>
              <a:rPr lang="es-ES" sz="5400" b="1" dirty="0">
                <a:latin typeface="Helvetica" panose="020B0604020202020204" pitchFamily="34" charset="0"/>
                <a:cs typeface="Helvetica" panose="020B0604020202020204" pitchFamily="34" charset="0"/>
              </a:rPr>
              <a:t>La </a:t>
            </a:r>
            <a:r>
              <a:rPr lang="es-ES" sz="5400" b="1" dirty="0">
                <a:solidFill>
                  <a:srgbClr val="FFF309"/>
                </a:solidFill>
                <a:latin typeface="Helvetica" panose="020B0604020202020204" pitchFamily="34" charset="0"/>
                <a:cs typeface="Helvetica" panose="020B0604020202020204" pitchFamily="34" charset="0"/>
              </a:rPr>
              <a:t>guía</a:t>
            </a:r>
            <a:r>
              <a:rPr lang="es-ES" sz="5400" b="1" dirty="0">
                <a:latin typeface="Helvetica" panose="020B0604020202020204" pitchFamily="34" charset="0"/>
                <a:cs typeface="Helvetica" panose="020B0604020202020204" pitchFamily="34" charset="0"/>
              </a:rPr>
              <a:t> de </a:t>
            </a:r>
            <a:r>
              <a:rPr lang="es-ES" sz="5400" b="1" dirty="0">
                <a:solidFill>
                  <a:srgbClr val="FFF309"/>
                </a:solidFill>
                <a:latin typeface="Helvetica" panose="020B0604020202020204" pitchFamily="34" charset="0"/>
                <a:cs typeface="Helvetica" panose="020B0604020202020204" pitchFamily="34" charset="0"/>
              </a:rPr>
              <a:t>estilo</a:t>
            </a:r>
          </a:p>
        </p:txBody>
      </p:sp>
      <p:cxnSp>
        <p:nvCxnSpPr>
          <p:cNvPr id="5" name="Conector recto 4">
            <a:extLst>
              <a:ext uri="{FF2B5EF4-FFF2-40B4-BE49-F238E27FC236}">
                <a16:creationId xmlns:a16="http://schemas.microsoft.com/office/drawing/2014/main" id="{DD342C8F-8B3B-1A3F-E3AA-55F88A7D11A4}"/>
              </a:ext>
            </a:extLst>
          </p:cNvPr>
          <p:cNvCxnSpPr>
            <a:cxnSpLocks/>
          </p:cNvCxnSpPr>
          <p:nvPr/>
        </p:nvCxnSpPr>
        <p:spPr>
          <a:xfrm>
            <a:off x="1405311" y="2414427"/>
            <a:ext cx="0" cy="16130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74629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Interfaz de usuario gráfica&#10;&#10;Descripción generada automáticamente">
            <a:extLst>
              <a:ext uri="{FF2B5EF4-FFF2-40B4-BE49-F238E27FC236}">
                <a16:creationId xmlns:a16="http://schemas.microsoft.com/office/drawing/2014/main" id="{31535243-8062-09A0-EE19-61BCA1541E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400" y="441470"/>
            <a:ext cx="12217400" cy="5975059"/>
          </a:xfrm>
          <a:prstGeom prst="rect">
            <a:avLst/>
          </a:prstGeom>
        </p:spPr>
      </p:pic>
    </p:spTree>
    <p:extLst>
      <p:ext uri="{BB962C8B-B14F-4D97-AF65-F5344CB8AC3E}">
        <p14:creationId xmlns:p14="http://schemas.microsoft.com/office/powerpoint/2010/main" val="28003147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68E81188-952F-FF76-4656-239C36954F45}"/>
              </a:ext>
            </a:extLst>
          </p:cNvPr>
          <p:cNvSpPr txBox="1"/>
          <p:nvPr/>
        </p:nvSpPr>
        <p:spPr>
          <a:xfrm>
            <a:off x="242556" y="233916"/>
            <a:ext cx="1762021" cy="369332"/>
          </a:xfrm>
          <a:prstGeom prst="rect">
            <a:avLst/>
          </a:prstGeom>
          <a:noFill/>
        </p:spPr>
        <p:txBody>
          <a:bodyPr wrap="none" rtlCol="0">
            <a:spAutoFit/>
          </a:bodyPr>
          <a:lstStyle/>
          <a:p>
            <a:r>
              <a:rPr lang="es-ES" dirty="0">
                <a:latin typeface="Helvetica" panose="020B0604020202020204" pitchFamily="34" charset="0"/>
                <a:cs typeface="Helvetica" panose="020B0604020202020204" pitchFamily="34" charset="0"/>
              </a:rPr>
              <a:t>Fase de diseño</a:t>
            </a:r>
          </a:p>
        </p:txBody>
      </p:sp>
      <p:cxnSp>
        <p:nvCxnSpPr>
          <p:cNvPr id="5" name="Conector recto 4">
            <a:extLst>
              <a:ext uri="{FF2B5EF4-FFF2-40B4-BE49-F238E27FC236}">
                <a16:creationId xmlns:a16="http://schemas.microsoft.com/office/drawing/2014/main" id="{6B9E21EB-704C-E1C9-2D0E-D5B4725CA4F6}"/>
              </a:ext>
            </a:extLst>
          </p:cNvPr>
          <p:cNvCxnSpPr>
            <a:cxnSpLocks/>
          </p:cNvCxnSpPr>
          <p:nvPr/>
        </p:nvCxnSpPr>
        <p:spPr>
          <a:xfrm>
            <a:off x="335504" y="706009"/>
            <a:ext cx="19145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CuadroTexto 6">
            <a:extLst>
              <a:ext uri="{FF2B5EF4-FFF2-40B4-BE49-F238E27FC236}">
                <a16:creationId xmlns:a16="http://schemas.microsoft.com/office/drawing/2014/main" id="{31E71381-F944-DFC0-76B1-8C64682F68A0}"/>
              </a:ext>
            </a:extLst>
          </p:cNvPr>
          <p:cNvSpPr txBox="1"/>
          <p:nvPr/>
        </p:nvSpPr>
        <p:spPr>
          <a:xfrm>
            <a:off x="335504" y="1030911"/>
            <a:ext cx="11551696" cy="5616153"/>
          </a:xfrm>
          <a:prstGeom prst="rect">
            <a:avLst/>
          </a:prstGeom>
          <a:noFill/>
        </p:spPr>
        <p:txBody>
          <a:bodyPr wrap="square">
            <a:spAutoFit/>
          </a:bodyPr>
          <a:lstStyle/>
          <a:p>
            <a:r>
              <a:rPr lang="es-ES" sz="2400" dirty="0">
                <a:latin typeface="Helvetica" panose="020B0604020202020204" pitchFamily="34" charset="0"/>
                <a:cs typeface="Helvetica" panose="020B0604020202020204" pitchFamily="34" charset="0"/>
              </a:rPr>
              <a:t>La </a:t>
            </a:r>
            <a:r>
              <a:rPr lang="es-ES" sz="2400" b="1" dirty="0">
                <a:solidFill>
                  <a:srgbClr val="FFF309"/>
                </a:solidFill>
                <a:latin typeface="Helvetica" panose="020B0604020202020204" pitchFamily="34" charset="0"/>
                <a:cs typeface="Helvetica" panose="020B0604020202020204" pitchFamily="34" charset="0"/>
              </a:rPr>
              <a:t>GUÍA DE ESTILOS </a:t>
            </a:r>
            <a:r>
              <a:rPr lang="es-ES" sz="2400" dirty="0">
                <a:latin typeface="Helvetica" panose="020B0604020202020204" pitchFamily="34" charset="0"/>
                <a:cs typeface="Helvetica" panose="020B0604020202020204" pitchFamily="34" charset="0"/>
              </a:rPr>
              <a:t>también conocida como la “Biblia de la marca” es un documento (o varios) que define las pautas y normas de calidad que debe seguir una interfaz. En este documento no sólo se incluirán las pautas visuales, sino que también se incluirán el modo de interacción con el usuario.</a:t>
            </a:r>
          </a:p>
          <a:p>
            <a:endParaRPr lang="es-ES" sz="900" dirty="0">
              <a:latin typeface="Helvetica" panose="020B0604020202020204" pitchFamily="34" charset="0"/>
              <a:cs typeface="Helvetica" panose="020B0604020202020204" pitchFamily="34" charset="0"/>
            </a:endParaRPr>
          </a:p>
          <a:p>
            <a:r>
              <a:rPr lang="es-ES" sz="2400" dirty="0">
                <a:latin typeface="Helvetica" panose="020B0604020202020204" pitchFamily="34" charset="0"/>
                <a:cs typeface="Helvetica" panose="020B0604020202020204" pitchFamily="34" charset="0"/>
              </a:rPr>
              <a:t>Sirve como:</a:t>
            </a:r>
          </a:p>
          <a:p>
            <a:endParaRPr lang="es-ES" sz="800" dirty="0">
              <a:latin typeface="Helvetica" panose="020B0604020202020204" pitchFamily="34" charset="0"/>
              <a:cs typeface="Helvetica" panose="020B0604020202020204" pitchFamily="34" charset="0"/>
            </a:endParaRPr>
          </a:p>
          <a:p>
            <a:pPr marL="457200" indent="-457200">
              <a:lnSpc>
                <a:spcPct val="110000"/>
              </a:lnSpc>
              <a:spcBef>
                <a:spcPct val="20000"/>
              </a:spcBef>
              <a:spcAft>
                <a:spcPts val="600"/>
              </a:spcAft>
              <a:buClr>
                <a:schemeClr val="accent2"/>
              </a:buClr>
              <a:buFont typeface="+mj-lt"/>
              <a:buAutoNum type="arabicPeriod"/>
            </a:pPr>
            <a:r>
              <a:rPr kumimoji="1" lang="es-ES" sz="2400" dirty="0">
                <a:latin typeface="Helvetica" panose="020B0604020202020204" pitchFamily="34" charset="0"/>
                <a:cs typeface="Helvetica" panose="020B0604020202020204" pitchFamily="34" charset="0"/>
              </a:rPr>
              <a:t>Una herramienta para garantizar la </a:t>
            </a:r>
            <a:r>
              <a:rPr kumimoji="1" lang="es-ES" sz="2400" b="1" dirty="0">
                <a:latin typeface="Helvetica" panose="020B0604020202020204" pitchFamily="34" charset="0"/>
                <a:cs typeface="Helvetica" panose="020B0604020202020204" pitchFamily="34" charset="0"/>
              </a:rPr>
              <a:t>coherencia</a:t>
            </a:r>
            <a:r>
              <a:rPr kumimoji="1" lang="es-ES" sz="2400" dirty="0">
                <a:latin typeface="Helvetica" panose="020B0604020202020204" pitchFamily="34" charset="0"/>
                <a:cs typeface="Helvetica" panose="020B0604020202020204" pitchFamily="34" charset="0"/>
              </a:rPr>
              <a:t> de una aplicación (si hay incoherencia, ahuyentaremos a los usuarios).</a:t>
            </a:r>
          </a:p>
          <a:p>
            <a:pPr marL="457200" indent="-457200">
              <a:lnSpc>
                <a:spcPct val="110000"/>
              </a:lnSpc>
              <a:spcBef>
                <a:spcPct val="20000"/>
              </a:spcBef>
              <a:spcAft>
                <a:spcPts val="600"/>
              </a:spcAft>
              <a:buClr>
                <a:schemeClr val="accent2"/>
              </a:buClr>
              <a:buFont typeface="+mj-lt"/>
              <a:buAutoNum type="arabicPeriod"/>
            </a:pPr>
            <a:r>
              <a:rPr lang="es-ES" sz="2400" dirty="0">
                <a:latin typeface="Helvetica" panose="020B0604020202020204" pitchFamily="34" charset="0"/>
                <a:cs typeface="Helvetica" panose="020B0604020202020204" pitchFamily="34" charset="0"/>
              </a:rPr>
              <a:t>Una técnica para conseguir </a:t>
            </a:r>
            <a:r>
              <a:rPr lang="es-ES" sz="2400" b="1" dirty="0">
                <a:latin typeface="Helvetica" panose="020B0604020202020204" pitchFamily="34" charset="0"/>
                <a:cs typeface="Helvetica" panose="020B0604020202020204" pitchFamily="34" charset="0"/>
              </a:rPr>
              <a:t>integrar</a:t>
            </a:r>
            <a:r>
              <a:rPr lang="es-ES" sz="2400" dirty="0">
                <a:latin typeface="Helvetica" panose="020B0604020202020204" pitchFamily="34" charset="0"/>
                <a:cs typeface="Helvetica" panose="020B0604020202020204" pitchFamily="34" charset="0"/>
              </a:rPr>
              <a:t> en un mismo </a:t>
            </a:r>
            <a:r>
              <a:rPr lang="es-ES" sz="2400" b="1" dirty="0">
                <a:latin typeface="Helvetica" panose="020B0604020202020204" pitchFamily="34" charset="0"/>
                <a:cs typeface="Helvetica" panose="020B0604020202020204" pitchFamily="34" charset="0"/>
              </a:rPr>
              <a:t>objetivo</a:t>
            </a:r>
            <a:r>
              <a:rPr lang="es-ES" sz="2400" dirty="0">
                <a:latin typeface="Helvetica" panose="020B0604020202020204" pitchFamily="34" charset="0"/>
                <a:cs typeface="Helvetica" panose="020B0604020202020204" pitchFamily="34" charset="0"/>
              </a:rPr>
              <a:t> a todos los </a:t>
            </a:r>
            <a:r>
              <a:rPr lang="es-ES" sz="2400" b="1" dirty="0">
                <a:latin typeface="Helvetica" panose="020B0604020202020204" pitchFamily="34" charset="0"/>
                <a:cs typeface="Helvetica" panose="020B0604020202020204" pitchFamily="34" charset="0"/>
              </a:rPr>
              <a:t>miembros</a:t>
            </a:r>
            <a:r>
              <a:rPr lang="es-ES" sz="2400" dirty="0">
                <a:latin typeface="Helvetica" panose="020B0604020202020204" pitchFamily="34" charset="0"/>
                <a:cs typeface="Helvetica" panose="020B0604020202020204" pitchFamily="34" charset="0"/>
              </a:rPr>
              <a:t> de un equipo de trabajo, ya que se establecen las pautas que todos deben seguir.</a:t>
            </a:r>
          </a:p>
          <a:p>
            <a:pPr marL="457200" indent="-457200">
              <a:lnSpc>
                <a:spcPct val="110000"/>
              </a:lnSpc>
              <a:spcBef>
                <a:spcPct val="20000"/>
              </a:spcBef>
              <a:spcAft>
                <a:spcPts val="600"/>
              </a:spcAft>
              <a:buClr>
                <a:schemeClr val="accent2"/>
              </a:buClr>
              <a:buFont typeface="+mj-lt"/>
              <a:buAutoNum type="arabicPeriod"/>
            </a:pPr>
            <a:r>
              <a:rPr lang="es-ES" sz="2400" b="1" dirty="0">
                <a:latin typeface="Helvetica" panose="020B0604020202020204" pitchFamily="34" charset="0"/>
                <a:cs typeface="Helvetica" panose="020B0604020202020204" pitchFamily="34" charset="0"/>
              </a:rPr>
              <a:t>Ayuda</a:t>
            </a:r>
            <a:r>
              <a:rPr lang="es-ES" sz="2400" dirty="0">
                <a:latin typeface="Helvetica" panose="020B0604020202020204" pitchFamily="34" charset="0"/>
                <a:cs typeface="Helvetica" panose="020B0604020202020204" pitchFamily="34" charset="0"/>
              </a:rPr>
              <a:t> a la </a:t>
            </a:r>
            <a:r>
              <a:rPr lang="es-ES" sz="2400" b="1" dirty="0">
                <a:latin typeface="Helvetica" panose="020B0604020202020204" pitchFamily="34" charset="0"/>
                <a:cs typeface="Helvetica" panose="020B0604020202020204" pitchFamily="34" charset="0"/>
              </a:rPr>
              <a:t>formación</a:t>
            </a:r>
            <a:r>
              <a:rPr lang="es-ES" sz="2400" dirty="0">
                <a:latin typeface="Helvetica" panose="020B0604020202020204" pitchFamily="34" charset="0"/>
                <a:cs typeface="Helvetica" panose="020B0604020202020204" pitchFamily="34" charset="0"/>
              </a:rPr>
              <a:t> de nuevos miembros de un equipo de trabajo.</a:t>
            </a:r>
          </a:p>
          <a:p>
            <a:pPr marL="457200" indent="-457200">
              <a:lnSpc>
                <a:spcPct val="110000"/>
              </a:lnSpc>
              <a:spcBef>
                <a:spcPct val="20000"/>
              </a:spcBef>
              <a:spcAft>
                <a:spcPts val="600"/>
              </a:spcAft>
              <a:buClr>
                <a:schemeClr val="accent2"/>
              </a:buClr>
              <a:buFont typeface="+mj-lt"/>
              <a:buAutoNum type="arabicPeriod"/>
            </a:pPr>
            <a:r>
              <a:rPr lang="es-ES" sz="2400" dirty="0">
                <a:latin typeface="Helvetica" panose="020B0604020202020204" pitchFamily="34" charset="0"/>
                <a:cs typeface="Helvetica" panose="020B0604020202020204" pitchFamily="34" charset="0"/>
              </a:rPr>
              <a:t>Transmite la </a:t>
            </a:r>
            <a:r>
              <a:rPr lang="es-ES" sz="2400" b="1" dirty="0">
                <a:latin typeface="Helvetica" panose="020B0604020202020204" pitchFamily="34" charset="0"/>
                <a:cs typeface="Helvetica" panose="020B0604020202020204" pitchFamily="34" charset="0"/>
              </a:rPr>
              <a:t>visión</a:t>
            </a:r>
            <a:r>
              <a:rPr lang="es-ES" sz="2400" dirty="0">
                <a:latin typeface="Helvetica" panose="020B0604020202020204" pitchFamily="34" charset="0"/>
                <a:cs typeface="Helvetica" panose="020B0604020202020204" pitchFamily="34" charset="0"/>
              </a:rPr>
              <a:t> y los </a:t>
            </a:r>
            <a:r>
              <a:rPr lang="es-ES" sz="2400" b="1" dirty="0">
                <a:latin typeface="Helvetica" panose="020B0604020202020204" pitchFamily="34" charset="0"/>
                <a:cs typeface="Helvetica" panose="020B0604020202020204" pitchFamily="34" charset="0"/>
              </a:rPr>
              <a:t>valores</a:t>
            </a:r>
            <a:r>
              <a:rPr lang="es-ES" sz="2400" dirty="0">
                <a:latin typeface="Helvetica" panose="020B0604020202020204" pitchFamily="34" charset="0"/>
                <a:cs typeface="Helvetica" panose="020B0604020202020204" pitchFamily="34" charset="0"/>
              </a:rPr>
              <a:t> de la </a:t>
            </a:r>
            <a:r>
              <a:rPr lang="es-ES" sz="2400" b="1" dirty="0">
                <a:latin typeface="Helvetica" panose="020B0604020202020204" pitchFamily="34" charset="0"/>
                <a:cs typeface="Helvetica" panose="020B0604020202020204" pitchFamily="34" charset="0"/>
              </a:rPr>
              <a:t>marca</a:t>
            </a:r>
          </a:p>
        </p:txBody>
      </p:sp>
    </p:spTree>
    <p:extLst>
      <p:ext uri="{BB962C8B-B14F-4D97-AF65-F5344CB8AC3E}">
        <p14:creationId xmlns:p14="http://schemas.microsoft.com/office/powerpoint/2010/main" val="40184504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68E81188-952F-FF76-4656-239C36954F45}"/>
              </a:ext>
            </a:extLst>
          </p:cNvPr>
          <p:cNvSpPr txBox="1"/>
          <p:nvPr/>
        </p:nvSpPr>
        <p:spPr>
          <a:xfrm>
            <a:off x="242556" y="233916"/>
            <a:ext cx="1762021" cy="369332"/>
          </a:xfrm>
          <a:prstGeom prst="rect">
            <a:avLst/>
          </a:prstGeom>
          <a:noFill/>
        </p:spPr>
        <p:txBody>
          <a:bodyPr wrap="none" rtlCol="0">
            <a:spAutoFit/>
          </a:bodyPr>
          <a:lstStyle/>
          <a:p>
            <a:r>
              <a:rPr lang="es-ES" dirty="0">
                <a:latin typeface="Helvetica" panose="020B0604020202020204" pitchFamily="34" charset="0"/>
                <a:cs typeface="Helvetica" panose="020B0604020202020204" pitchFamily="34" charset="0"/>
              </a:rPr>
              <a:t>Fase de diseño</a:t>
            </a:r>
          </a:p>
        </p:txBody>
      </p:sp>
      <p:cxnSp>
        <p:nvCxnSpPr>
          <p:cNvPr id="5" name="Conector recto 4">
            <a:extLst>
              <a:ext uri="{FF2B5EF4-FFF2-40B4-BE49-F238E27FC236}">
                <a16:creationId xmlns:a16="http://schemas.microsoft.com/office/drawing/2014/main" id="{6B9E21EB-704C-E1C9-2D0E-D5B4725CA4F6}"/>
              </a:ext>
            </a:extLst>
          </p:cNvPr>
          <p:cNvCxnSpPr>
            <a:cxnSpLocks/>
          </p:cNvCxnSpPr>
          <p:nvPr/>
        </p:nvCxnSpPr>
        <p:spPr>
          <a:xfrm>
            <a:off x="335504" y="706009"/>
            <a:ext cx="19145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CuadroTexto 6">
            <a:extLst>
              <a:ext uri="{FF2B5EF4-FFF2-40B4-BE49-F238E27FC236}">
                <a16:creationId xmlns:a16="http://schemas.microsoft.com/office/drawing/2014/main" id="{31E71381-F944-DFC0-76B1-8C64682F68A0}"/>
              </a:ext>
            </a:extLst>
          </p:cNvPr>
          <p:cNvSpPr txBox="1"/>
          <p:nvPr/>
        </p:nvSpPr>
        <p:spPr>
          <a:xfrm>
            <a:off x="335504" y="808771"/>
            <a:ext cx="11551696" cy="6694140"/>
          </a:xfrm>
          <a:prstGeom prst="rect">
            <a:avLst/>
          </a:prstGeom>
          <a:noFill/>
        </p:spPr>
        <p:txBody>
          <a:bodyPr wrap="square">
            <a:spAutoFit/>
          </a:bodyPr>
          <a:lstStyle/>
          <a:p>
            <a:r>
              <a:rPr lang="es-ES" sz="2400" dirty="0">
                <a:latin typeface="Helvetica" panose="020B0604020202020204" pitchFamily="34" charset="0"/>
                <a:cs typeface="Helvetica" panose="020B0604020202020204" pitchFamily="34" charset="0"/>
              </a:rPr>
              <a:t>La guía no tiene una estructura única ni tampoco una extensión predefinida, todo depende de hasta qué punto queramos definir el estilo visual y de interacción de nuestra aplicación. Sin embargo, algunas de las preguntas que debe responder son:</a:t>
            </a:r>
          </a:p>
          <a:p>
            <a:pPr marL="800100" lvl="1" indent="-342900">
              <a:spcAft>
                <a:spcPts val="600"/>
              </a:spcAft>
              <a:buClr>
                <a:schemeClr val="accent2">
                  <a:lumMod val="75000"/>
                </a:schemeClr>
              </a:buClr>
              <a:buFont typeface="Courier New" panose="02070309020205020404" pitchFamily="49" charset="0"/>
              <a:buChar char="o"/>
            </a:pPr>
            <a:r>
              <a:rPr lang="es-ES" sz="2400" dirty="0">
                <a:latin typeface="Helvetica" panose="020B0604020202020204" pitchFamily="34" charset="0"/>
                <a:cs typeface="Helvetica" panose="020B0604020202020204" pitchFamily="34" charset="0"/>
              </a:rPr>
              <a:t>¿Qué </a:t>
            </a:r>
            <a:r>
              <a:rPr lang="es-ES" sz="2400" b="1" dirty="0">
                <a:latin typeface="Helvetica" panose="020B0604020202020204" pitchFamily="34" charset="0"/>
                <a:cs typeface="Helvetica" panose="020B0604020202020204" pitchFamily="34" charset="0"/>
              </a:rPr>
              <a:t>colores</a:t>
            </a:r>
            <a:r>
              <a:rPr lang="es-ES" sz="2400" dirty="0">
                <a:latin typeface="Helvetica" panose="020B0604020202020204" pitchFamily="34" charset="0"/>
                <a:cs typeface="Helvetica" panose="020B0604020202020204" pitchFamily="34" charset="0"/>
              </a:rPr>
              <a:t> tendrá la app/web y qué </a:t>
            </a:r>
            <a:r>
              <a:rPr lang="es-ES" sz="2400" b="1" dirty="0">
                <a:latin typeface="Helvetica" panose="020B0604020202020204" pitchFamily="34" charset="0"/>
                <a:cs typeface="Helvetica" panose="020B0604020202020204" pitchFamily="34" charset="0"/>
              </a:rPr>
              <a:t>tonos</a:t>
            </a:r>
            <a:r>
              <a:rPr lang="es-ES" sz="2400" dirty="0">
                <a:latin typeface="Helvetica" panose="020B0604020202020204" pitchFamily="34" charset="0"/>
                <a:cs typeface="Helvetica" panose="020B0604020202020204" pitchFamily="34" charset="0"/>
              </a:rPr>
              <a:t>?</a:t>
            </a:r>
          </a:p>
          <a:p>
            <a:pPr marL="800100" lvl="1" indent="-342900">
              <a:spcAft>
                <a:spcPts val="600"/>
              </a:spcAft>
              <a:buClr>
                <a:schemeClr val="accent2">
                  <a:lumMod val="75000"/>
                </a:schemeClr>
              </a:buClr>
              <a:buFont typeface="Courier New" panose="02070309020205020404" pitchFamily="49" charset="0"/>
              <a:buChar char="o"/>
            </a:pPr>
            <a:r>
              <a:rPr lang="es-ES" sz="2400" dirty="0">
                <a:latin typeface="Helvetica" panose="020B0604020202020204" pitchFamily="34" charset="0"/>
                <a:cs typeface="Helvetica" panose="020B0604020202020204" pitchFamily="34" charset="0"/>
              </a:rPr>
              <a:t>¿Qué </a:t>
            </a:r>
            <a:r>
              <a:rPr lang="es-ES" sz="2400" b="1" dirty="0">
                <a:latin typeface="Helvetica" panose="020B0604020202020204" pitchFamily="34" charset="0"/>
                <a:cs typeface="Helvetica" panose="020B0604020202020204" pitchFamily="34" charset="0"/>
              </a:rPr>
              <a:t>fuentes</a:t>
            </a:r>
            <a:r>
              <a:rPr lang="es-ES" sz="2400" dirty="0">
                <a:latin typeface="Helvetica" panose="020B0604020202020204" pitchFamily="34" charset="0"/>
                <a:cs typeface="Helvetica" panose="020B0604020202020204" pitchFamily="34" charset="0"/>
              </a:rPr>
              <a:t> se usarán?</a:t>
            </a:r>
          </a:p>
          <a:p>
            <a:pPr marL="800100" lvl="1" indent="-342900">
              <a:spcAft>
                <a:spcPts val="600"/>
              </a:spcAft>
              <a:buClr>
                <a:schemeClr val="accent2">
                  <a:lumMod val="75000"/>
                </a:schemeClr>
              </a:buClr>
              <a:buFont typeface="Courier New" panose="02070309020205020404" pitchFamily="49" charset="0"/>
              <a:buChar char="o"/>
            </a:pPr>
            <a:r>
              <a:rPr lang="es-ES" sz="2400" dirty="0">
                <a:latin typeface="Helvetica" panose="020B0604020202020204" pitchFamily="34" charset="0"/>
                <a:cs typeface="Helvetica" panose="020B0604020202020204" pitchFamily="34" charset="0"/>
              </a:rPr>
              <a:t>¿Qué </a:t>
            </a:r>
            <a:r>
              <a:rPr lang="es-ES" sz="2400" b="1" dirty="0">
                <a:latin typeface="Helvetica" panose="020B0604020202020204" pitchFamily="34" charset="0"/>
                <a:cs typeface="Helvetica" panose="020B0604020202020204" pitchFamily="34" charset="0"/>
              </a:rPr>
              <a:t>formato</a:t>
            </a:r>
            <a:r>
              <a:rPr lang="es-ES" sz="2400" dirty="0">
                <a:latin typeface="Helvetica" panose="020B0604020202020204" pitchFamily="34" charset="0"/>
                <a:cs typeface="Helvetica" panose="020B0604020202020204" pitchFamily="34" charset="0"/>
              </a:rPr>
              <a:t> de </a:t>
            </a:r>
            <a:r>
              <a:rPr lang="es-ES" sz="2400" b="1" dirty="0">
                <a:latin typeface="Helvetica" panose="020B0604020202020204" pitchFamily="34" charset="0"/>
                <a:cs typeface="Helvetica" panose="020B0604020202020204" pitchFamily="34" charset="0"/>
              </a:rPr>
              <a:t>fuente</a:t>
            </a:r>
            <a:r>
              <a:rPr lang="es-ES" sz="2400" dirty="0">
                <a:latin typeface="Helvetica" panose="020B0604020202020204" pitchFamily="34" charset="0"/>
                <a:cs typeface="Helvetica" panose="020B0604020202020204" pitchFamily="34" charset="0"/>
              </a:rPr>
              <a:t> se usará para los </a:t>
            </a:r>
            <a:r>
              <a:rPr lang="es-ES" sz="2400" b="1" dirty="0">
                <a:latin typeface="Helvetica" panose="020B0604020202020204" pitchFamily="34" charset="0"/>
                <a:cs typeface="Helvetica" panose="020B0604020202020204" pitchFamily="34" charset="0"/>
              </a:rPr>
              <a:t>títulos</a:t>
            </a:r>
            <a:r>
              <a:rPr lang="es-ES" sz="2400" dirty="0">
                <a:latin typeface="Helvetica" panose="020B0604020202020204" pitchFamily="34" charset="0"/>
                <a:cs typeface="Helvetica" panose="020B0604020202020204" pitchFamily="34" charset="0"/>
              </a:rPr>
              <a:t>, </a:t>
            </a:r>
            <a:r>
              <a:rPr lang="es-ES" sz="2400" b="1" dirty="0">
                <a:latin typeface="Helvetica" panose="020B0604020202020204" pitchFamily="34" charset="0"/>
                <a:cs typeface="Helvetica" panose="020B0604020202020204" pitchFamily="34" charset="0"/>
              </a:rPr>
              <a:t>subtítulos</a:t>
            </a:r>
            <a:r>
              <a:rPr lang="es-ES" sz="2400" dirty="0">
                <a:latin typeface="Helvetica" panose="020B0604020202020204" pitchFamily="34" charset="0"/>
                <a:cs typeface="Helvetica" panose="020B0604020202020204" pitchFamily="34" charset="0"/>
              </a:rPr>
              <a:t>, </a:t>
            </a:r>
            <a:r>
              <a:rPr lang="es-ES" sz="2400" b="1" dirty="0">
                <a:latin typeface="Helvetica" panose="020B0604020202020204" pitchFamily="34" charset="0"/>
                <a:cs typeface="Helvetica" panose="020B0604020202020204" pitchFamily="34" charset="0"/>
              </a:rPr>
              <a:t>encabezados</a:t>
            </a:r>
            <a:r>
              <a:rPr lang="es-ES" sz="2400" dirty="0">
                <a:latin typeface="Helvetica" panose="020B0604020202020204" pitchFamily="34" charset="0"/>
                <a:cs typeface="Helvetica" panose="020B0604020202020204" pitchFamily="34" charset="0"/>
              </a:rPr>
              <a:t> y el </a:t>
            </a:r>
            <a:r>
              <a:rPr lang="es-ES" sz="2400" b="1" dirty="0">
                <a:latin typeface="Helvetica" panose="020B0604020202020204" pitchFamily="34" charset="0"/>
                <a:cs typeface="Helvetica" panose="020B0604020202020204" pitchFamily="34" charset="0"/>
              </a:rPr>
              <a:t>texto</a:t>
            </a:r>
            <a:r>
              <a:rPr lang="es-ES" sz="2400" dirty="0">
                <a:latin typeface="Helvetica" panose="020B0604020202020204" pitchFamily="34" charset="0"/>
                <a:cs typeface="Helvetica" panose="020B0604020202020204" pitchFamily="34" charset="0"/>
              </a:rPr>
              <a:t> </a:t>
            </a:r>
            <a:r>
              <a:rPr lang="es-ES" sz="2400" b="1" dirty="0">
                <a:latin typeface="Helvetica" panose="020B0604020202020204" pitchFamily="34" charset="0"/>
                <a:cs typeface="Helvetica" panose="020B0604020202020204" pitchFamily="34" charset="0"/>
              </a:rPr>
              <a:t>principal</a:t>
            </a:r>
            <a:r>
              <a:rPr lang="es-ES" sz="2400" dirty="0">
                <a:latin typeface="Helvetica" panose="020B0604020202020204" pitchFamily="34" charset="0"/>
                <a:cs typeface="Helvetica" panose="020B0604020202020204" pitchFamily="34" charset="0"/>
              </a:rPr>
              <a:t>?</a:t>
            </a:r>
          </a:p>
          <a:p>
            <a:pPr marL="800100" lvl="1" indent="-342900">
              <a:spcAft>
                <a:spcPts val="600"/>
              </a:spcAft>
              <a:buClr>
                <a:schemeClr val="accent2">
                  <a:lumMod val="75000"/>
                </a:schemeClr>
              </a:buClr>
              <a:buFont typeface="Courier New" panose="02070309020205020404" pitchFamily="49" charset="0"/>
              <a:buChar char="o"/>
            </a:pPr>
            <a:r>
              <a:rPr lang="es-ES" sz="2400" dirty="0">
                <a:latin typeface="Helvetica" panose="020B0604020202020204" pitchFamily="34" charset="0"/>
                <a:cs typeface="Helvetica" panose="020B0604020202020204" pitchFamily="34" charset="0"/>
              </a:rPr>
              <a:t>¿Cuál será la </a:t>
            </a:r>
            <a:r>
              <a:rPr lang="es-ES" sz="2400" b="1" dirty="0">
                <a:latin typeface="Helvetica" panose="020B0604020202020204" pitchFamily="34" charset="0"/>
                <a:cs typeface="Helvetica" panose="020B0604020202020204" pitchFamily="34" charset="0"/>
              </a:rPr>
              <a:t>estructura</a:t>
            </a:r>
            <a:r>
              <a:rPr lang="es-ES" sz="2400" dirty="0">
                <a:latin typeface="Helvetica" panose="020B0604020202020204" pitchFamily="34" charset="0"/>
                <a:cs typeface="Helvetica" panose="020B0604020202020204" pitchFamily="34" charset="0"/>
              </a:rPr>
              <a:t>?</a:t>
            </a:r>
          </a:p>
          <a:p>
            <a:pPr marL="800100" lvl="1" indent="-342900">
              <a:spcAft>
                <a:spcPts val="600"/>
              </a:spcAft>
              <a:buClr>
                <a:schemeClr val="accent2">
                  <a:lumMod val="75000"/>
                </a:schemeClr>
              </a:buClr>
              <a:buFont typeface="Courier New" panose="02070309020205020404" pitchFamily="49" charset="0"/>
              <a:buChar char="o"/>
            </a:pPr>
            <a:r>
              <a:rPr lang="es-ES" sz="2400" dirty="0">
                <a:latin typeface="Helvetica" panose="020B0604020202020204" pitchFamily="34" charset="0"/>
                <a:cs typeface="Helvetica" panose="020B0604020202020204" pitchFamily="34" charset="0"/>
              </a:rPr>
              <a:t>¿Habrá </a:t>
            </a:r>
            <a:r>
              <a:rPr lang="es-ES" sz="2400" b="1" dirty="0">
                <a:latin typeface="Helvetica" panose="020B0604020202020204" pitchFamily="34" charset="0"/>
                <a:cs typeface="Helvetica" panose="020B0604020202020204" pitchFamily="34" charset="0"/>
              </a:rPr>
              <a:t>encabezado</a:t>
            </a:r>
            <a:r>
              <a:rPr lang="es-ES" sz="2400" dirty="0">
                <a:latin typeface="Helvetica" panose="020B0604020202020204" pitchFamily="34" charset="0"/>
                <a:cs typeface="Helvetica" panose="020B0604020202020204" pitchFamily="34" charset="0"/>
              </a:rPr>
              <a:t>, </a:t>
            </a:r>
            <a:r>
              <a:rPr lang="es-ES" sz="2400" b="1" dirty="0">
                <a:latin typeface="Helvetica" panose="020B0604020202020204" pitchFamily="34" charset="0"/>
                <a:cs typeface="Helvetica" panose="020B0604020202020204" pitchFamily="34" charset="0"/>
              </a:rPr>
              <a:t>pie de página </a:t>
            </a:r>
            <a:r>
              <a:rPr lang="es-ES" sz="2400" dirty="0">
                <a:latin typeface="Helvetica" panose="020B0604020202020204" pitchFamily="34" charset="0"/>
                <a:cs typeface="Helvetica" panose="020B0604020202020204" pitchFamily="34" charset="0"/>
              </a:rPr>
              <a:t>o </a:t>
            </a:r>
            <a:r>
              <a:rPr lang="es-ES" sz="2400" b="1" dirty="0">
                <a:latin typeface="Helvetica" panose="020B0604020202020204" pitchFamily="34" charset="0"/>
                <a:cs typeface="Helvetica" panose="020B0604020202020204" pitchFamily="34" charset="0"/>
              </a:rPr>
              <a:t>menús</a:t>
            </a:r>
            <a:r>
              <a:rPr lang="es-ES" sz="2400" dirty="0">
                <a:latin typeface="Helvetica" panose="020B0604020202020204" pitchFamily="34" charset="0"/>
                <a:cs typeface="Helvetica" panose="020B0604020202020204" pitchFamily="34" charset="0"/>
              </a:rPr>
              <a:t>?</a:t>
            </a:r>
          </a:p>
          <a:p>
            <a:pPr marL="800100" lvl="1" indent="-342900">
              <a:spcAft>
                <a:spcPts val="600"/>
              </a:spcAft>
              <a:buClr>
                <a:schemeClr val="accent2">
                  <a:lumMod val="75000"/>
                </a:schemeClr>
              </a:buClr>
              <a:buFont typeface="Courier New" panose="02070309020205020404" pitchFamily="49" charset="0"/>
              <a:buChar char="o"/>
            </a:pPr>
            <a:r>
              <a:rPr lang="es-ES" sz="2400" dirty="0">
                <a:latin typeface="Helvetica" panose="020B0604020202020204" pitchFamily="34" charset="0"/>
                <a:cs typeface="Helvetica" panose="020B0604020202020204" pitchFamily="34" charset="0"/>
              </a:rPr>
              <a:t>¿Habrá un </a:t>
            </a:r>
            <a:r>
              <a:rPr lang="es-ES" sz="2400" b="1" dirty="0">
                <a:latin typeface="Helvetica" panose="020B0604020202020204" pitchFamily="34" charset="0"/>
                <a:cs typeface="Helvetica" panose="020B0604020202020204" pitchFamily="34" charset="0"/>
              </a:rPr>
              <a:t>menú</a:t>
            </a:r>
            <a:r>
              <a:rPr lang="es-ES" sz="2400" dirty="0">
                <a:latin typeface="Helvetica" panose="020B0604020202020204" pitchFamily="34" charset="0"/>
                <a:cs typeface="Helvetica" panose="020B0604020202020204" pitchFamily="34" charset="0"/>
              </a:rPr>
              <a:t> o varios? ¿De qué tipos? ¿Cuántos y dónde colocarlos? </a:t>
            </a:r>
          </a:p>
          <a:p>
            <a:pPr marL="800100" lvl="1" indent="-342900">
              <a:spcAft>
                <a:spcPts val="600"/>
              </a:spcAft>
              <a:buClr>
                <a:schemeClr val="accent2">
                  <a:lumMod val="75000"/>
                </a:schemeClr>
              </a:buClr>
              <a:buFont typeface="Courier New" panose="02070309020205020404" pitchFamily="49" charset="0"/>
              <a:buChar char="o"/>
            </a:pPr>
            <a:r>
              <a:rPr lang="es-ES" sz="2400" dirty="0">
                <a:latin typeface="Helvetica" panose="020B0604020202020204" pitchFamily="34" charset="0"/>
                <a:cs typeface="Helvetica" panose="020B0604020202020204" pitchFamily="34" charset="0"/>
              </a:rPr>
              <a:t>¿Qué aspecto tendrán los elementos interactivos como los botones?</a:t>
            </a:r>
          </a:p>
          <a:p>
            <a:pPr marL="800100" lvl="1" indent="-342900">
              <a:spcAft>
                <a:spcPts val="600"/>
              </a:spcAft>
              <a:buClr>
                <a:schemeClr val="accent2">
                  <a:lumMod val="75000"/>
                </a:schemeClr>
              </a:buClr>
              <a:buFont typeface="Courier New" panose="02070309020205020404" pitchFamily="49" charset="0"/>
              <a:buChar char="o"/>
            </a:pPr>
            <a:r>
              <a:rPr lang="es-ES" sz="2400" dirty="0">
                <a:latin typeface="Helvetica" panose="020B0604020202020204" pitchFamily="34" charset="0"/>
                <a:cs typeface="Helvetica" panose="020B0604020202020204" pitchFamily="34" charset="0"/>
              </a:rPr>
              <a:t>¿Qué </a:t>
            </a:r>
            <a:r>
              <a:rPr lang="es-ES" sz="2400" b="1" dirty="0">
                <a:latin typeface="Helvetica" panose="020B0604020202020204" pitchFamily="34" charset="0"/>
                <a:cs typeface="Helvetica" panose="020B0604020202020204" pitchFamily="34" charset="0"/>
              </a:rPr>
              <a:t>imágenes</a:t>
            </a:r>
            <a:r>
              <a:rPr lang="es-ES" sz="2400" dirty="0">
                <a:latin typeface="Helvetica" panose="020B0604020202020204" pitchFamily="34" charset="0"/>
                <a:cs typeface="Helvetica" panose="020B0604020202020204" pitchFamily="34" charset="0"/>
              </a:rPr>
              <a:t> se mostrarán? ¿Dónde se colocarán?</a:t>
            </a:r>
          </a:p>
          <a:p>
            <a:pPr marL="800100" lvl="1" indent="-342900">
              <a:spcAft>
                <a:spcPts val="600"/>
              </a:spcAft>
              <a:buClr>
                <a:schemeClr val="accent2">
                  <a:lumMod val="75000"/>
                </a:schemeClr>
              </a:buClr>
              <a:buFont typeface="Courier New" panose="02070309020205020404" pitchFamily="49" charset="0"/>
              <a:buChar char="o"/>
            </a:pPr>
            <a:r>
              <a:rPr lang="es-ES" sz="2400" dirty="0">
                <a:latin typeface="Helvetica" panose="020B0604020202020204" pitchFamily="34" charset="0"/>
                <a:cs typeface="Helvetica" panose="020B0604020202020204" pitchFamily="34" charset="0"/>
              </a:rPr>
              <a:t>¿Habrá </a:t>
            </a:r>
            <a:r>
              <a:rPr lang="es-ES" sz="2400" b="1" dirty="0">
                <a:latin typeface="Helvetica" panose="020B0604020202020204" pitchFamily="34" charset="0"/>
                <a:cs typeface="Helvetica" panose="020B0604020202020204" pitchFamily="34" charset="0"/>
              </a:rPr>
              <a:t>logotipo</a:t>
            </a:r>
            <a:r>
              <a:rPr lang="es-ES" sz="2400" dirty="0">
                <a:latin typeface="Helvetica" panose="020B0604020202020204" pitchFamily="34" charset="0"/>
                <a:cs typeface="Helvetica" panose="020B0604020202020204" pitchFamily="34" charset="0"/>
              </a:rPr>
              <a:t>? ¿Dónde se colocará?</a:t>
            </a:r>
          </a:p>
          <a:p>
            <a:endParaRPr lang="es-ES" sz="2400" dirty="0">
              <a:latin typeface="Helvetica" panose="020B0604020202020204" pitchFamily="34" charset="0"/>
              <a:cs typeface="Helvetica" panose="020B0604020202020204" pitchFamily="34" charset="0"/>
            </a:endParaRPr>
          </a:p>
          <a:p>
            <a:endParaRPr lang="es-ES" sz="24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41704036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68E81188-952F-FF76-4656-239C36954F45}"/>
              </a:ext>
            </a:extLst>
          </p:cNvPr>
          <p:cNvSpPr txBox="1"/>
          <p:nvPr/>
        </p:nvSpPr>
        <p:spPr>
          <a:xfrm>
            <a:off x="242556" y="233916"/>
            <a:ext cx="1762021" cy="369332"/>
          </a:xfrm>
          <a:prstGeom prst="rect">
            <a:avLst/>
          </a:prstGeom>
          <a:noFill/>
        </p:spPr>
        <p:txBody>
          <a:bodyPr wrap="none" rtlCol="0">
            <a:spAutoFit/>
          </a:bodyPr>
          <a:lstStyle/>
          <a:p>
            <a:r>
              <a:rPr lang="es-ES" dirty="0">
                <a:latin typeface="Helvetica" panose="020B0604020202020204" pitchFamily="34" charset="0"/>
                <a:cs typeface="Helvetica" panose="020B0604020202020204" pitchFamily="34" charset="0"/>
              </a:rPr>
              <a:t>Fase de diseño</a:t>
            </a:r>
          </a:p>
        </p:txBody>
      </p:sp>
      <p:cxnSp>
        <p:nvCxnSpPr>
          <p:cNvPr id="5" name="Conector recto 4">
            <a:extLst>
              <a:ext uri="{FF2B5EF4-FFF2-40B4-BE49-F238E27FC236}">
                <a16:creationId xmlns:a16="http://schemas.microsoft.com/office/drawing/2014/main" id="{6B9E21EB-704C-E1C9-2D0E-D5B4725CA4F6}"/>
              </a:ext>
            </a:extLst>
          </p:cNvPr>
          <p:cNvCxnSpPr>
            <a:cxnSpLocks/>
          </p:cNvCxnSpPr>
          <p:nvPr/>
        </p:nvCxnSpPr>
        <p:spPr>
          <a:xfrm>
            <a:off x="335504" y="706009"/>
            <a:ext cx="19145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CuadroTexto 6">
            <a:extLst>
              <a:ext uri="{FF2B5EF4-FFF2-40B4-BE49-F238E27FC236}">
                <a16:creationId xmlns:a16="http://schemas.microsoft.com/office/drawing/2014/main" id="{31E71381-F944-DFC0-76B1-8C64682F68A0}"/>
              </a:ext>
            </a:extLst>
          </p:cNvPr>
          <p:cNvSpPr txBox="1"/>
          <p:nvPr/>
        </p:nvSpPr>
        <p:spPr>
          <a:xfrm>
            <a:off x="254210" y="932596"/>
            <a:ext cx="5318768" cy="6370975"/>
          </a:xfrm>
          <a:prstGeom prst="rect">
            <a:avLst/>
          </a:prstGeom>
          <a:noFill/>
        </p:spPr>
        <p:txBody>
          <a:bodyPr wrap="square">
            <a:spAutoFit/>
          </a:bodyPr>
          <a:lstStyle/>
          <a:p>
            <a:r>
              <a:rPr lang="es-ES" sz="2400" dirty="0">
                <a:latin typeface="Helvetica" panose="020B0604020202020204" pitchFamily="34" charset="0"/>
                <a:cs typeface="Helvetica" panose="020B0604020202020204" pitchFamily="34" charset="0"/>
              </a:rPr>
              <a:t>1.- El </a:t>
            </a:r>
            <a:r>
              <a:rPr lang="es-ES" sz="2400" b="1" dirty="0">
                <a:solidFill>
                  <a:srgbClr val="FFF309"/>
                </a:solidFill>
                <a:latin typeface="Helvetica" panose="020B0604020202020204" pitchFamily="34" charset="0"/>
                <a:cs typeface="Helvetica" panose="020B0604020202020204" pitchFamily="34" charset="0"/>
              </a:rPr>
              <a:t>LOGOTIPO</a:t>
            </a:r>
          </a:p>
          <a:p>
            <a:endParaRPr lang="es-ES" sz="2400" dirty="0">
              <a:latin typeface="Helvetica" panose="020B0604020202020204" pitchFamily="34" charset="0"/>
              <a:cs typeface="Helvetica" panose="020B0604020202020204" pitchFamily="34" charset="0"/>
            </a:endParaRPr>
          </a:p>
          <a:p>
            <a:r>
              <a:rPr lang="es-ES" sz="2400" dirty="0">
                <a:latin typeface="Helvetica" panose="020B0604020202020204" pitchFamily="34" charset="0"/>
                <a:cs typeface="Helvetica" panose="020B0604020202020204" pitchFamily="34" charset="0"/>
              </a:rPr>
              <a:t>Existen varias versiones de un logotipo, dependiendo el formato (tamaño) sobre el que se está mostrando o por si queremos usar uno más simplificado o con color único. En la guía debemos incluir los </a:t>
            </a:r>
            <a:r>
              <a:rPr lang="es-ES" sz="2400" b="1" dirty="0">
                <a:latin typeface="Helvetica" panose="020B0604020202020204" pitchFamily="34" charset="0"/>
                <a:cs typeface="Helvetica" panose="020B0604020202020204" pitchFamily="34" charset="0"/>
              </a:rPr>
              <a:t>logos</a:t>
            </a:r>
            <a:r>
              <a:rPr lang="es-ES" sz="2400" dirty="0">
                <a:latin typeface="Helvetica" panose="020B0604020202020204" pitchFamily="34" charset="0"/>
                <a:cs typeface="Helvetica" panose="020B0604020202020204" pitchFamily="34" charset="0"/>
              </a:rPr>
              <a:t> que se </a:t>
            </a:r>
            <a:r>
              <a:rPr lang="es-ES" sz="2400" b="1" dirty="0">
                <a:latin typeface="Helvetica" panose="020B0604020202020204" pitchFamily="34" charset="0"/>
                <a:cs typeface="Helvetica" panose="020B0604020202020204" pitchFamily="34" charset="0"/>
              </a:rPr>
              <a:t>aceptan</a:t>
            </a:r>
            <a:r>
              <a:rPr lang="es-ES" sz="2400" dirty="0">
                <a:latin typeface="Helvetica" panose="020B0604020202020204" pitchFamily="34" charset="0"/>
                <a:cs typeface="Helvetica" panose="020B0604020202020204" pitchFamily="34" charset="0"/>
              </a:rPr>
              <a:t>, cuando utilizar cada uno y tamaño mínimo y máximo. Especificaremos también </a:t>
            </a:r>
            <a:r>
              <a:rPr lang="es-ES" sz="2400" b="1" dirty="0">
                <a:latin typeface="Helvetica" panose="020B0604020202020204" pitchFamily="34" charset="0"/>
                <a:cs typeface="Helvetica" panose="020B0604020202020204" pitchFamily="34" charset="0"/>
              </a:rPr>
              <a:t>espacio alrededor</a:t>
            </a:r>
            <a:r>
              <a:rPr lang="es-ES" sz="2400" dirty="0">
                <a:latin typeface="Helvetica" panose="020B0604020202020204" pitchFamily="34" charset="0"/>
                <a:cs typeface="Helvetica" panose="020B0604020202020204" pitchFamily="34" charset="0"/>
              </a:rPr>
              <a:t>, positivos y negativos, así como las posibilidades que se incluyen últimamente de los </a:t>
            </a:r>
            <a:r>
              <a:rPr lang="es-ES" sz="2400" b="1" dirty="0">
                <a:latin typeface="Helvetica" panose="020B0604020202020204" pitchFamily="34" charset="0"/>
                <a:cs typeface="Helvetica" panose="020B0604020202020204" pitchFamily="34" charset="0"/>
              </a:rPr>
              <a:t>logos responsive</a:t>
            </a:r>
            <a:r>
              <a:rPr lang="es-ES" sz="2400" dirty="0">
                <a:latin typeface="Helvetica" panose="020B0604020202020204" pitchFamily="34" charset="0"/>
                <a:cs typeface="Helvetica" panose="020B0604020202020204" pitchFamily="34" charset="0"/>
              </a:rPr>
              <a:t>	</a:t>
            </a:r>
          </a:p>
          <a:p>
            <a:endParaRPr lang="es-ES" sz="2400" dirty="0">
              <a:latin typeface="Helvetica" panose="020B0604020202020204" pitchFamily="34" charset="0"/>
              <a:cs typeface="Helvetica" panose="020B0604020202020204" pitchFamily="34" charset="0"/>
            </a:endParaRPr>
          </a:p>
          <a:p>
            <a:endParaRPr lang="es-ES" sz="2400" dirty="0">
              <a:latin typeface="Helvetica" panose="020B0604020202020204" pitchFamily="34" charset="0"/>
              <a:cs typeface="Helvetica" panose="020B0604020202020204" pitchFamily="34" charset="0"/>
            </a:endParaRPr>
          </a:p>
        </p:txBody>
      </p:sp>
      <p:pic>
        <p:nvPicPr>
          <p:cNvPr id="3" name="Imagen 2" descr="Imagen que contiene Interfaz de usuario gráfica&#10;&#10;Descripción generada automáticamente">
            <a:extLst>
              <a:ext uri="{FF2B5EF4-FFF2-40B4-BE49-F238E27FC236}">
                <a16:creationId xmlns:a16="http://schemas.microsoft.com/office/drawing/2014/main" id="{CC674329-110F-07CF-1550-FCE395B8A6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72978" y="1858318"/>
            <a:ext cx="6533298" cy="4208164"/>
          </a:xfrm>
          <a:prstGeom prst="rect">
            <a:avLst/>
          </a:prstGeom>
        </p:spPr>
      </p:pic>
    </p:spTree>
    <p:extLst>
      <p:ext uri="{BB962C8B-B14F-4D97-AF65-F5344CB8AC3E}">
        <p14:creationId xmlns:p14="http://schemas.microsoft.com/office/powerpoint/2010/main" val="15577505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68E81188-952F-FF76-4656-239C36954F45}"/>
              </a:ext>
            </a:extLst>
          </p:cNvPr>
          <p:cNvSpPr txBox="1"/>
          <p:nvPr/>
        </p:nvSpPr>
        <p:spPr>
          <a:xfrm>
            <a:off x="242556" y="233916"/>
            <a:ext cx="1762021" cy="369332"/>
          </a:xfrm>
          <a:prstGeom prst="rect">
            <a:avLst/>
          </a:prstGeom>
          <a:noFill/>
        </p:spPr>
        <p:txBody>
          <a:bodyPr wrap="none" rtlCol="0">
            <a:spAutoFit/>
          </a:bodyPr>
          <a:lstStyle/>
          <a:p>
            <a:r>
              <a:rPr lang="es-ES" dirty="0">
                <a:latin typeface="Helvetica" panose="020B0604020202020204" pitchFamily="34" charset="0"/>
                <a:cs typeface="Helvetica" panose="020B0604020202020204" pitchFamily="34" charset="0"/>
              </a:rPr>
              <a:t>Fase de diseño</a:t>
            </a:r>
          </a:p>
        </p:txBody>
      </p:sp>
      <p:cxnSp>
        <p:nvCxnSpPr>
          <p:cNvPr id="5" name="Conector recto 4">
            <a:extLst>
              <a:ext uri="{FF2B5EF4-FFF2-40B4-BE49-F238E27FC236}">
                <a16:creationId xmlns:a16="http://schemas.microsoft.com/office/drawing/2014/main" id="{6B9E21EB-704C-E1C9-2D0E-D5B4725CA4F6}"/>
              </a:ext>
            </a:extLst>
          </p:cNvPr>
          <p:cNvCxnSpPr>
            <a:cxnSpLocks/>
          </p:cNvCxnSpPr>
          <p:nvPr/>
        </p:nvCxnSpPr>
        <p:spPr>
          <a:xfrm>
            <a:off x="335504" y="706009"/>
            <a:ext cx="19145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CuadroTexto 6">
            <a:extLst>
              <a:ext uri="{FF2B5EF4-FFF2-40B4-BE49-F238E27FC236}">
                <a16:creationId xmlns:a16="http://schemas.microsoft.com/office/drawing/2014/main" id="{31E71381-F944-DFC0-76B1-8C64682F68A0}"/>
              </a:ext>
            </a:extLst>
          </p:cNvPr>
          <p:cNvSpPr txBox="1"/>
          <p:nvPr/>
        </p:nvSpPr>
        <p:spPr>
          <a:xfrm>
            <a:off x="335504" y="1048147"/>
            <a:ext cx="11744957" cy="1631216"/>
          </a:xfrm>
          <a:prstGeom prst="rect">
            <a:avLst/>
          </a:prstGeom>
          <a:noFill/>
        </p:spPr>
        <p:txBody>
          <a:bodyPr wrap="square">
            <a:spAutoFit/>
          </a:bodyPr>
          <a:lstStyle/>
          <a:p>
            <a:r>
              <a:rPr lang="es-ES" sz="2400" dirty="0">
                <a:latin typeface="Helvetica" panose="020B0604020202020204" pitchFamily="34" charset="0"/>
                <a:cs typeface="Helvetica" panose="020B0604020202020204" pitchFamily="34" charset="0"/>
              </a:rPr>
              <a:t>2.- La </a:t>
            </a:r>
            <a:r>
              <a:rPr lang="es-ES" sz="2400" b="1" dirty="0">
                <a:solidFill>
                  <a:srgbClr val="FFF309"/>
                </a:solidFill>
                <a:latin typeface="Helvetica" panose="020B0604020202020204" pitchFamily="34" charset="0"/>
                <a:cs typeface="Helvetica" panose="020B0604020202020204" pitchFamily="34" charset="0"/>
              </a:rPr>
              <a:t>PALETA DE COLORES</a:t>
            </a:r>
          </a:p>
          <a:p>
            <a:endParaRPr lang="es-ES" sz="900" dirty="0">
              <a:latin typeface="Helvetica" panose="020B0604020202020204" pitchFamily="34" charset="0"/>
              <a:cs typeface="Helvetica" panose="020B0604020202020204" pitchFamily="34" charset="0"/>
            </a:endParaRPr>
          </a:p>
          <a:p>
            <a:r>
              <a:rPr lang="es-ES" sz="2200" dirty="0">
                <a:latin typeface="Helvetica" panose="020B0604020202020204" pitchFamily="34" charset="0"/>
                <a:cs typeface="Helvetica" panose="020B0604020202020204" pitchFamily="34" charset="0"/>
              </a:rPr>
              <a:t>Al igual que el logo, la paleta de colores aporta </a:t>
            </a:r>
            <a:r>
              <a:rPr lang="es-ES" sz="2200" b="1" dirty="0">
                <a:latin typeface="Helvetica" panose="020B0604020202020204" pitchFamily="34" charset="0"/>
                <a:cs typeface="Helvetica" panose="020B0604020202020204" pitchFamily="34" charset="0"/>
              </a:rPr>
              <a:t>cohesión</a:t>
            </a:r>
            <a:r>
              <a:rPr lang="es-ES" sz="2200" dirty="0">
                <a:latin typeface="Helvetica" panose="020B0604020202020204" pitchFamily="34" charset="0"/>
                <a:cs typeface="Helvetica" panose="020B0604020202020204" pitchFamily="34" charset="0"/>
              </a:rPr>
              <a:t> y </a:t>
            </a:r>
            <a:r>
              <a:rPr lang="es-ES" sz="2200" b="1" dirty="0">
                <a:latin typeface="Helvetica" panose="020B0604020202020204" pitchFamily="34" charset="0"/>
                <a:cs typeface="Helvetica" panose="020B0604020202020204" pitchFamily="34" charset="0"/>
              </a:rPr>
              <a:t>coherencia.</a:t>
            </a:r>
          </a:p>
          <a:p>
            <a:endParaRPr lang="es-ES" sz="900" b="1" dirty="0">
              <a:latin typeface="Helvetica" panose="020B0604020202020204" pitchFamily="34" charset="0"/>
              <a:cs typeface="Helvetica" panose="020B0604020202020204" pitchFamily="34" charset="0"/>
            </a:endParaRPr>
          </a:p>
          <a:p>
            <a:pPr algn="ctr"/>
            <a:r>
              <a:rPr lang="es-ES" sz="2200" dirty="0">
                <a:latin typeface="Helvetica" panose="020B0604020202020204" pitchFamily="34" charset="0"/>
                <a:cs typeface="Helvetica" panose="020B0604020202020204" pitchFamily="34" charset="0"/>
              </a:rPr>
              <a:t>“</a:t>
            </a:r>
            <a:r>
              <a:rPr lang="es-ES" sz="2200" i="1" dirty="0"/>
              <a:t>Es el esqueleto invisible que mantiene una marca desde el punto de vista visual</a:t>
            </a:r>
            <a:r>
              <a:rPr lang="es-ES" sz="2200" dirty="0"/>
              <a:t>”</a:t>
            </a:r>
          </a:p>
          <a:p>
            <a:pPr algn="ctr"/>
            <a:endParaRPr lang="es-ES" sz="1400" dirty="0"/>
          </a:p>
        </p:txBody>
      </p:sp>
      <p:pic>
        <p:nvPicPr>
          <p:cNvPr id="10" name="Imagen 9">
            <a:extLst>
              <a:ext uri="{FF2B5EF4-FFF2-40B4-BE49-F238E27FC236}">
                <a16:creationId xmlns:a16="http://schemas.microsoft.com/office/drawing/2014/main" id="{C3C2E96A-866D-0115-1542-1E447C3EB880}"/>
              </a:ext>
            </a:extLst>
          </p:cNvPr>
          <p:cNvPicPr>
            <a:picLocks noChangeAspect="1"/>
          </p:cNvPicPr>
          <p:nvPr/>
        </p:nvPicPr>
        <p:blipFill>
          <a:blip r:embed="rId2"/>
          <a:stretch>
            <a:fillRect/>
          </a:stretch>
        </p:blipFill>
        <p:spPr>
          <a:xfrm>
            <a:off x="7214987" y="3429000"/>
            <a:ext cx="4872092" cy="2635722"/>
          </a:xfrm>
          <a:prstGeom prst="rect">
            <a:avLst/>
          </a:prstGeom>
        </p:spPr>
      </p:pic>
      <p:sp>
        <p:nvSpPr>
          <p:cNvPr id="14" name="CuadroTexto 13">
            <a:extLst>
              <a:ext uri="{FF2B5EF4-FFF2-40B4-BE49-F238E27FC236}">
                <a16:creationId xmlns:a16="http://schemas.microsoft.com/office/drawing/2014/main" id="{64AC528B-388E-71A0-6FE1-4FB73EFC6991}"/>
              </a:ext>
            </a:extLst>
          </p:cNvPr>
          <p:cNvSpPr txBox="1"/>
          <p:nvPr/>
        </p:nvSpPr>
        <p:spPr>
          <a:xfrm>
            <a:off x="335504" y="2923285"/>
            <a:ext cx="6718439" cy="3323987"/>
          </a:xfrm>
          <a:prstGeom prst="rect">
            <a:avLst/>
          </a:prstGeom>
          <a:noFill/>
        </p:spPr>
        <p:txBody>
          <a:bodyPr wrap="square">
            <a:spAutoFit/>
          </a:bodyPr>
          <a:lstStyle/>
          <a:p>
            <a:r>
              <a:rPr lang="es-ES" sz="2100" dirty="0">
                <a:latin typeface="Helvetica" panose="020B0604020202020204"/>
                <a:cs typeface="Helvetica" panose="020B0604020202020204"/>
              </a:rPr>
              <a:t>La gama cromática o paleta de colores presenta los colores utilizados como base del proyecto (COLORES PRIMARIOS o DOMINANTES). Como pauta general, se recomienda no definir más de 3 COLORES primarios, para que el diseño no se resienta de demasiada variación cromática y, además, no se debe alejar demasiado del logo, para mantener la consistencia del conjunto. La paleta se ha de expresar, al menos, en los sistemas de color: RGB, CMYK, HEX o en otros tan importantes como Pantone o el </a:t>
            </a:r>
            <a:r>
              <a:rPr lang="es-ES" sz="2100" b="1" dirty="0">
                <a:solidFill>
                  <a:srgbClr val="FFF309"/>
                </a:solidFill>
                <a:latin typeface="Helvetica" panose="020B0604020202020204"/>
                <a:cs typeface="Helvetica" panose="020B0604020202020204"/>
                <a:hlinkClick r:id="rId3">
                  <a:extLst>
                    <a:ext uri="{A12FA001-AC4F-418D-AE19-62706E023703}">
                      <ahyp:hlinkClr xmlns:ahyp="http://schemas.microsoft.com/office/drawing/2018/hyperlinkcolor" val="tx"/>
                    </a:ext>
                  </a:extLst>
                </a:hlinkClick>
              </a:rPr>
              <a:t>HSL</a:t>
            </a:r>
            <a:r>
              <a:rPr lang="es-ES" sz="2100" dirty="0">
                <a:latin typeface="Helvetica" panose="020B0604020202020204"/>
                <a:cs typeface="Helvetica" panose="020B0604020202020204"/>
              </a:rPr>
              <a:t>.</a:t>
            </a:r>
          </a:p>
        </p:txBody>
      </p:sp>
    </p:spTree>
    <p:extLst>
      <p:ext uri="{BB962C8B-B14F-4D97-AF65-F5344CB8AC3E}">
        <p14:creationId xmlns:p14="http://schemas.microsoft.com/office/powerpoint/2010/main" val="31740829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68E81188-952F-FF76-4656-239C36954F45}"/>
              </a:ext>
            </a:extLst>
          </p:cNvPr>
          <p:cNvSpPr txBox="1"/>
          <p:nvPr/>
        </p:nvSpPr>
        <p:spPr>
          <a:xfrm>
            <a:off x="242556" y="233916"/>
            <a:ext cx="1762021" cy="369332"/>
          </a:xfrm>
          <a:prstGeom prst="rect">
            <a:avLst/>
          </a:prstGeom>
          <a:noFill/>
        </p:spPr>
        <p:txBody>
          <a:bodyPr wrap="none" rtlCol="0">
            <a:spAutoFit/>
          </a:bodyPr>
          <a:lstStyle/>
          <a:p>
            <a:r>
              <a:rPr lang="es-ES" dirty="0">
                <a:latin typeface="Helvetica" panose="020B0604020202020204" pitchFamily="34" charset="0"/>
                <a:cs typeface="Helvetica" panose="020B0604020202020204" pitchFamily="34" charset="0"/>
              </a:rPr>
              <a:t>Fase de diseño</a:t>
            </a:r>
          </a:p>
        </p:txBody>
      </p:sp>
      <p:cxnSp>
        <p:nvCxnSpPr>
          <p:cNvPr id="5" name="Conector recto 4">
            <a:extLst>
              <a:ext uri="{FF2B5EF4-FFF2-40B4-BE49-F238E27FC236}">
                <a16:creationId xmlns:a16="http://schemas.microsoft.com/office/drawing/2014/main" id="{6B9E21EB-704C-E1C9-2D0E-D5B4725CA4F6}"/>
              </a:ext>
            </a:extLst>
          </p:cNvPr>
          <p:cNvCxnSpPr>
            <a:cxnSpLocks/>
          </p:cNvCxnSpPr>
          <p:nvPr/>
        </p:nvCxnSpPr>
        <p:spPr>
          <a:xfrm>
            <a:off x="335504" y="706009"/>
            <a:ext cx="19145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CuadroTexto 13">
            <a:extLst>
              <a:ext uri="{FF2B5EF4-FFF2-40B4-BE49-F238E27FC236}">
                <a16:creationId xmlns:a16="http://schemas.microsoft.com/office/drawing/2014/main" id="{64AC528B-388E-71A0-6FE1-4FB73EFC6991}"/>
              </a:ext>
            </a:extLst>
          </p:cNvPr>
          <p:cNvSpPr txBox="1"/>
          <p:nvPr/>
        </p:nvSpPr>
        <p:spPr>
          <a:xfrm>
            <a:off x="242556" y="1038502"/>
            <a:ext cx="11672636" cy="1061829"/>
          </a:xfrm>
          <a:prstGeom prst="rect">
            <a:avLst/>
          </a:prstGeom>
          <a:noFill/>
        </p:spPr>
        <p:txBody>
          <a:bodyPr wrap="square">
            <a:spAutoFit/>
          </a:bodyPr>
          <a:lstStyle/>
          <a:p>
            <a:r>
              <a:rPr lang="es-ES" sz="2100" dirty="0">
                <a:latin typeface="Helvetica" panose="020B0604020202020204"/>
                <a:cs typeface="Helvetica" panose="020B0604020202020204"/>
              </a:rPr>
              <a:t>En la guía de estilo deberá aparecer qué colores se van a utilizar para cada cosa: Fondo, enlaces, texto del cuerpo, botones, menús y cabeceras y las combinaciones adecuadas que se deben usar entre esos colores. Un ejemplo de esto último lo tenemos en la guía de Netflix:</a:t>
            </a:r>
          </a:p>
        </p:txBody>
      </p:sp>
      <p:pic>
        <p:nvPicPr>
          <p:cNvPr id="3" name="Imagen 2" descr="Imagen que contiene Texto&#10;&#10;Descripción generada automáticamente">
            <a:extLst>
              <a:ext uri="{FF2B5EF4-FFF2-40B4-BE49-F238E27FC236}">
                <a16:creationId xmlns:a16="http://schemas.microsoft.com/office/drawing/2014/main" id="{74AC04AB-9C6A-C98D-0ABA-C7BF375210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51508" y="2354590"/>
            <a:ext cx="7991473" cy="4331871"/>
          </a:xfrm>
          <a:prstGeom prst="rect">
            <a:avLst/>
          </a:prstGeom>
        </p:spPr>
      </p:pic>
    </p:spTree>
    <p:extLst>
      <p:ext uri="{BB962C8B-B14F-4D97-AF65-F5344CB8AC3E}">
        <p14:creationId xmlns:p14="http://schemas.microsoft.com/office/powerpoint/2010/main" val="11282454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68E81188-952F-FF76-4656-239C36954F45}"/>
              </a:ext>
            </a:extLst>
          </p:cNvPr>
          <p:cNvSpPr txBox="1"/>
          <p:nvPr/>
        </p:nvSpPr>
        <p:spPr>
          <a:xfrm>
            <a:off x="242556" y="233916"/>
            <a:ext cx="1762021" cy="369332"/>
          </a:xfrm>
          <a:prstGeom prst="rect">
            <a:avLst/>
          </a:prstGeom>
          <a:noFill/>
        </p:spPr>
        <p:txBody>
          <a:bodyPr wrap="none" rtlCol="0">
            <a:spAutoFit/>
          </a:bodyPr>
          <a:lstStyle/>
          <a:p>
            <a:r>
              <a:rPr lang="es-ES" dirty="0">
                <a:latin typeface="Helvetica" panose="020B0604020202020204" pitchFamily="34" charset="0"/>
                <a:cs typeface="Helvetica" panose="020B0604020202020204" pitchFamily="34" charset="0"/>
              </a:rPr>
              <a:t>Fase de diseño</a:t>
            </a:r>
          </a:p>
        </p:txBody>
      </p:sp>
      <p:cxnSp>
        <p:nvCxnSpPr>
          <p:cNvPr id="5" name="Conector recto 4">
            <a:extLst>
              <a:ext uri="{FF2B5EF4-FFF2-40B4-BE49-F238E27FC236}">
                <a16:creationId xmlns:a16="http://schemas.microsoft.com/office/drawing/2014/main" id="{6B9E21EB-704C-E1C9-2D0E-D5B4725CA4F6}"/>
              </a:ext>
            </a:extLst>
          </p:cNvPr>
          <p:cNvCxnSpPr>
            <a:cxnSpLocks/>
          </p:cNvCxnSpPr>
          <p:nvPr/>
        </p:nvCxnSpPr>
        <p:spPr>
          <a:xfrm>
            <a:off x="335504" y="706009"/>
            <a:ext cx="19145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CuadroTexto 7">
            <a:extLst>
              <a:ext uri="{FF2B5EF4-FFF2-40B4-BE49-F238E27FC236}">
                <a16:creationId xmlns:a16="http://schemas.microsoft.com/office/drawing/2014/main" id="{4506147B-D4AA-58C9-00B7-84366198FFD0}"/>
              </a:ext>
            </a:extLst>
          </p:cNvPr>
          <p:cNvSpPr txBox="1"/>
          <p:nvPr/>
        </p:nvSpPr>
        <p:spPr>
          <a:xfrm>
            <a:off x="335504" y="830487"/>
            <a:ext cx="11809525" cy="3262432"/>
          </a:xfrm>
          <a:prstGeom prst="rect">
            <a:avLst/>
          </a:prstGeom>
          <a:noFill/>
        </p:spPr>
        <p:txBody>
          <a:bodyPr wrap="square">
            <a:spAutoFit/>
          </a:bodyPr>
          <a:lstStyle/>
          <a:p>
            <a:r>
              <a:rPr lang="es-ES" sz="2200" dirty="0">
                <a:latin typeface="Helvetica" panose="020B0604020202020204" pitchFamily="34" charset="0"/>
                <a:cs typeface="Helvetica" panose="020B0604020202020204" pitchFamily="34" charset="0"/>
              </a:rPr>
              <a:t>En muchos casos, se suelen incluir paletas de colores SECUNDARIAS e incluso EXTENDIDAS con COLORES COMPLEMENTARIOS a los principales, jugando con la luminosidad de los colores, para dar una </a:t>
            </a:r>
            <a:r>
              <a:rPr lang="es-ES" sz="2200" b="1" dirty="0">
                <a:latin typeface="Helvetica" panose="020B0604020202020204" pitchFamily="34" charset="0"/>
                <a:cs typeface="Helvetica" panose="020B0604020202020204" pitchFamily="34" charset="0"/>
              </a:rPr>
              <a:t>imagen fresca </a:t>
            </a:r>
            <a:r>
              <a:rPr lang="es-ES" sz="2200" dirty="0">
                <a:latin typeface="Helvetica" panose="020B0604020202020204" pitchFamily="34" charset="0"/>
                <a:cs typeface="Helvetica" panose="020B0604020202020204" pitchFamily="34" charset="0"/>
              </a:rPr>
              <a:t>y </a:t>
            </a:r>
            <a:r>
              <a:rPr lang="es-ES" sz="2200" b="1" dirty="0">
                <a:latin typeface="Helvetica" panose="020B0604020202020204" pitchFamily="34" charset="0"/>
                <a:cs typeface="Helvetica" panose="020B0604020202020204" pitchFamily="34" charset="0"/>
              </a:rPr>
              <a:t>romper con la monotonía </a:t>
            </a:r>
            <a:r>
              <a:rPr lang="es-ES" sz="2200" dirty="0">
                <a:latin typeface="Helvetica" panose="020B0604020202020204" pitchFamily="34" charset="0"/>
                <a:cs typeface="Helvetica" panose="020B0604020202020204" pitchFamily="34" charset="0"/>
              </a:rPr>
              <a:t>de los colores primarios y para </a:t>
            </a:r>
            <a:r>
              <a:rPr lang="es-ES" sz="2200" b="1" dirty="0">
                <a:latin typeface="Helvetica" panose="020B0604020202020204" pitchFamily="34" charset="0"/>
                <a:cs typeface="Helvetica" panose="020B0604020202020204" pitchFamily="34" charset="0"/>
              </a:rPr>
              <a:t>suavizar</a:t>
            </a:r>
            <a:r>
              <a:rPr lang="es-ES" sz="2200" dirty="0">
                <a:latin typeface="Helvetica" panose="020B0604020202020204" pitchFamily="34" charset="0"/>
                <a:cs typeface="Helvetica" panose="020B0604020202020204" pitchFamily="34" charset="0"/>
              </a:rPr>
              <a:t> el aspecto o llamar la atención para realizar acciones.</a:t>
            </a:r>
          </a:p>
          <a:p>
            <a:endParaRPr lang="es-ES" sz="800" dirty="0">
              <a:latin typeface="Helvetica" panose="020B0604020202020204" pitchFamily="34" charset="0"/>
              <a:cs typeface="Helvetica" panose="020B0604020202020204" pitchFamily="34" charset="0"/>
            </a:endParaRPr>
          </a:p>
          <a:p>
            <a:r>
              <a:rPr lang="es-ES" sz="2200" dirty="0">
                <a:latin typeface="Helvetica" panose="020B0604020202020204" pitchFamily="34" charset="0"/>
                <a:cs typeface="Helvetica" panose="020B0604020202020204" pitchFamily="34" charset="0"/>
              </a:rPr>
              <a:t>Aquí un ejemplo de la paleta usada por la empresa </a:t>
            </a:r>
            <a:r>
              <a:rPr lang="es-ES" sz="2200" b="1" dirty="0">
                <a:solidFill>
                  <a:srgbClr val="FFF309"/>
                </a:solidFill>
                <a:latin typeface="Helvetica" panose="020B0604020202020204" pitchFamily="34" charset="0"/>
                <a:cs typeface="Helvetica" panose="020B0604020202020204" pitchFamily="34" charset="0"/>
                <a:hlinkClick r:id="rId2">
                  <a:extLst>
                    <a:ext uri="{A12FA001-AC4F-418D-AE19-62706E023703}">
                      <ahyp:hlinkClr xmlns:ahyp="http://schemas.microsoft.com/office/drawing/2018/hyperlinkcolor" val="tx"/>
                    </a:ext>
                  </a:extLst>
                </a:hlinkClick>
              </a:rPr>
              <a:t>Atlassian</a:t>
            </a:r>
            <a:r>
              <a:rPr lang="es-ES" sz="2200" b="1" dirty="0">
                <a:solidFill>
                  <a:srgbClr val="FFF309"/>
                </a:solidFill>
                <a:latin typeface="Helvetica" panose="020B0604020202020204" pitchFamily="34" charset="0"/>
                <a:cs typeface="Helvetica" panose="020B0604020202020204" pitchFamily="34" charset="0"/>
              </a:rPr>
              <a:t>, </a:t>
            </a:r>
            <a:r>
              <a:rPr lang="es-ES" sz="2200" dirty="0">
                <a:latin typeface="Helvetica" panose="020B0604020202020204" pitchFamily="34" charset="0"/>
                <a:cs typeface="Helvetica" panose="020B0604020202020204" pitchFamily="34" charset="0"/>
              </a:rPr>
              <a:t>que incluye la combinación con los textos y si pasan o no el test de contraste:</a:t>
            </a:r>
          </a:p>
          <a:p>
            <a:endParaRPr lang="es-ES" sz="2200" dirty="0">
              <a:latin typeface="Helvetica" panose="020B0604020202020204" pitchFamily="34" charset="0"/>
              <a:cs typeface="Helvetica" panose="020B0604020202020204" pitchFamily="34" charset="0"/>
            </a:endParaRPr>
          </a:p>
          <a:p>
            <a:endParaRPr lang="es-ES" sz="2200" dirty="0">
              <a:latin typeface="Helvetica" panose="020B0604020202020204" pitchFamily="34" charset="0"/>
              <a:cs typeface="Helvetica" panose="020B0604020202020204" pitchFamily="34" charset="0"/>
            </a:endParaRPr>
          </a:p>
          <a:p>
            <a:endParaRPr lang="es-ES" sz="2200" dirty="0">
              <a:latin typeface="Helvetica" panose="020B0604020202020204" pitchFamily="34" charset="0"/>
              <a:cs typeface="Helvetica" panose="020B0604020202020204" pitchFamily="34" charset="0"/>
            </a:endParaRPr>
          </a:p>
        </p:txBody>
      </p:sp>
      <p:pic>
        <p:nvPicPr>
          <p:cNvPr id="3" name="Imagen 2">
            <a:extLst>
              <a:ext uri="{FF2B5EF4-FFF2-40B4-BE49-F238E27FC236}">
                <a16:creationId xmlns:a16="http://schemas.microsoft.com/office/drawing/2014/main" id="{A26EAA30-00E1-9C80-5B06-053753979F88}"/>
              </a:ext>
            </a:extLst>
          </p:cNvPr>
          <p:cNvPicPr>
            <a:picLocks noChangeAspect="1"/>
          </p:cNvPicPr>
          <p:nvPr/>
        </p:nvPicPr>
        <p:blipFill>
          <a:blip r:embed="rId3"/>
          <a:stretch>
            <a:fillRect/>
          </a:stretch>
        </p:blipFill>
        <p:spPr>
          <a:xfrm>
            <a:off x="3437937" y="3429000"/>
            <a:ext cx="8614144" cy="3178034"/>
          </a:xfrm>
          <a:prstGeom prst="rect">
            <a:avLst/>
          </a:prstGeom>
        </p:spPr>
      </p:pic>
      <p:sp>
        <p:nvSpPr>
          <p:cNvPr id="9" name="CuadroTexto 8">
            <a:extLst>
              <a:ext uri="{FF2B5EF4-FFF2-40B4-BE49-F238E27FC236}">
                <a16:creationId xmlns:a16="http://schemas.microsoft.com/office/drawing/2014/main" id="{694D5E0F-942B-9DD7-B4F4-D3AA452CD0EF}"/>
              </a:ext>
            </a:extLst>
          </p:cNvPr>
          <p:cNvSpPr txBox="1"/>
          <p:nvPr/>
        </p:nvSpPr>
        <p:spPr>
          <a:xfrm>
            <a:off x="431000" y="3363718"/>
            <a:ext cx="2728303" cy="3308598"/>
          </a:xfrm>
          <a:prstGeom prst="rect">
            <a:avLst/>
          </a:prstGeom>
          <a:noFill/>
        </p:spPr>
        <p:txBody>
          <a:bodyPr wrap="square">
            <a:spAutoFit/>
          </a:bodyPr>
          <a:lstStyle/>
          <a:p>
            <a:r>
              <a:rPr lang="en-US" sz="1900" i="1" dirty="0"/>
              <a:t>“We use blue (B400) for primary actions, buttons, text links, for indicating progress and representing authentication. Neutral (N800) is used primarily for body text and headings, and white (N0) is used for page backgrounds”</a:t>
            </a:r>
            <a:endParaRPr lang="es-ES" sz="1900" dirty="0"/>
          </a:p>
        </p:txBody>
      </p:sp>
    </p:spTree>
    <p:extLst>
      <p:ext uri="{BB962C8B-B14F-4D97-AF65-F5344CB8AC3E}">
        <p14:creationId xmlns:p14="http://schemas.microsoft.com/office/powerpoint/2010/main" val="39388869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68E81188-952F-FF76-4656-239C36954F45}"/>
              </a:ext>
            </a:extLst>
          </p:cNvPr>
          <p:cNvSpPr txBox="1"/>
          <p:nvPr/>
        </p:nvSpPr>
        <p:spPr>
          <a:xfrm>
            <a:off x="242556" y="233916"/>
            <a:ext cx="1762021" cy="369332"/>
          </a:xfrm>
          <a:prstGeom prst="rect">
            <a:avLst/>
          </a:prstGeom>
          <a:noFill/>
        </p:spPr>
        <p:txBody>
          <a:bodyPr wrap="none" rtlCol="0">
            <a:spAutoFit/>
          </a:bodyPr>
          <a:lstStyle/>
          <a:p>
            <a:r>
              <a:rPr lang="es-ES" dirty="0">
                <a:latin typeface="Helvetica" panose="020B0604020202020204" pitchFamily="34" charset="0"/>
                <a:cs typeface="Helvetica" panose="020B0604020202020204" pitchFamily="34" charset="0"/>
              </a:rPr>
              <a:t>Fase de diseño</a:t>
            </a:r>
          </a:p>
        </p:txBody>
      </p:sp>
      <p:cxnSp>
        <p:nvCxnSpPr>
          <p:cNvPr id="5" name="Conector recto 4">
            <a:extLst>
              <a:ext uri="{FF2B5EF4-FFF2-40B4-BE49-F238E27FC236}">
                <a16:creationId xmlns:a16="http://schemas.microsoft.com/office/drawing/2014/main" id="{6B9E21EB-704C-E1C9-2D0E-D5B4725CA4F6}"/>
              </a:ext>
            </a:extLst>
          </p:cNvPr>
          <p:cNvCxnSpPr>
            <a:cxnSpLocks/>
          </p:cNvCxnSpPr>
          <p:nvPr/>
        </p:nvCxnSpPr>
        <p:spPr>
          <a:xfrm>
            <a:off x="335504" y="706009"/>
            <a:ext cx="19145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Imagen 5">
            <a:extLst>
              <a:ext uri="{FF2B5EF4-FFF2-40B4-BE49-F238E27FC236}">
                <a16:creationId xmlns:a16="http://schemas.microsoft.com/office/drawing/2014/main" id="{C134E0A6-C9DB-15EF-2CE4-6E8B445246AD}"/>
              </a:ext>
            </a:extLst>
          </p:cNvPr>
          <p:cNvPicPr>
            <a:picLocks noChangeAspect="1"/>
          </p:cNvPicPr>
          <p:nvPr/>
        </p:nvPicPr>
        <p:blipFill>
          <a:blip r:embed="rId2"/>
          <a:stretch>
            <a:fillRect/>
          </a:stretch>
        </p:blipFill>
        <p:spPr>
          <a:xfrm>
            <a:off x="4157993" y="1158317"/>
            <a:ext cx="7914141" cy="5243844"/>
          </a:xfrm>
          <a:prstGeom prst="rect">
            <a:avLst/>
          </a:prstGeom>
        </p:spPr>
      </p:pic>
      <p:sp>
        <p:nvSpPr>
          <p:cNvPr id="10" name="CuadroTexto 9">
            <a:extLst>
              <a:ext uri="{FF2B5EF4-FFF2-40B4-BE49-F238E27FC236}">
                <a16:creationId xmlns:a16="http://schemas.microsoft.com/office/drawing/2014/main" id="{7F68F2A7-B154-DA7F-C242-91FE5589339B}"/>
              </a:ext>
            </a:extLst>
          </p:cNvPr>
          <p:cNvSpPr txBox="1"/>
          <p:nvPr/>
        </p:nvSpPr>
        <p:spPr>
          <a:xfrm>
            <a:off x="218143" y="1788187"/>
            <a:ext cx="3939851" cy="2723823"/>
          </a:xfrm>
          <a:prstGeom prst="rect">
            <a:avLst/>
          </a:prstGeom>
          <a:noFill/>
        </p:spPr>
        <p:txBody>
          <a:bodyPr wrap="square">
            <a:spAutoFit/>
          </a:bodyPr>
          <a:lstStyle/>
          <a:p>
            <a:r>
              <a:rPr lang="en-US" sz="1900" i="1" dirty="0"/>
              <a:t>“Our secondary palette contains a variety of colors to keep things </a:t>
            </a:r>
            <a:r>
              <a:rPr lang="en-US" sz="1900" b="1" i="1" dirty="0"/>
              <a:t>fresh</a:t>
            </a:r>
            <a:r>
              <a:rPr lang="en-US" sz="1900" i="1" dirty="0"/>
              <a:t> and </a:t>
            </a:r>
            <a:r>
              <a:rPr lang="en-US" sz="1900" b="1" i="1" dirty="0"/>
              <a:t>interesting</a:t>
            </a:r>
            <a:r>
              <a:rPr lang="en-US" sz="1900" i="1" dirty="0"/>
              <a:t>. We lean on these colors more frequently when brand </a:t>
            </a:r>
            <a:r>
              <a:rPr lang="en-US" sz="1900" b="1" i="1" dirty="0"/>
              <a:t>awareness is high</a:t>
            </a:r>
            <a:r>
              <a:rPr lang="en-US" sz="1900" i="1" dirty="0"/>
              <a:t>. When used in conjunction with our primary palette, these colors make every moment feel on-brand and every interaction informative.”</a:t>
            </a:r>
            <a:endParaRPr lang="es-ES" sz="1900" i="1" dirty="0"/>
          </a:p>
        </p:txBody>
      </p:sp>
    </p:spTree>
    <p:extLst>
      <p:ext uri="{BB962C8B-B14F-4D97-AF65-F5344CB8AC3E}">
        <p14:creationId xmlns:p14="http://schemas.microsoft.com/office/powerpoint/2010/main" val="26072729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656356E3-1F57-FF0A-3BB2-2F467FE5AE31}"/>
              </a:ext>
            </a:extLst>
          </p:cNvPr>
          <p:cNvSpPr/>
          <p:nvPr/>
        </p:nvSpPr>
        <p:spPr>
          <a:xfrm>
            <a:off x="6557148" y="4570742"/>
            <a:ext cx="5634852" cy="228725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CuadroTexto 3">
            <a:extLst>
              <a:ext uri="{FF2B5EF4-FFF2-40B4-BE49-F238E27FC236}">
                <a16:creationId xmlns:a16="http://schemas.microsoft.com/office/drawing/2014/main" id="{68E81188-952F-FF76-4656-239C36954F45}"/>
              </a:ext>
            </a:extLst>
          </p:cNvPr>
          <p:cNvSpPr txBox="1"/>
          <p:nvPr/>
        </p:nvSpPr>
        <p:spPr>
          <a:xfrm>
            <a:off x="242556" y="233916"/>
            <a:ext cx="1762021" cy="369332"/>
          </a:xfrm>
          <a:prstGeom prst="rect">
            <a:avLst/>
          </a:prstGeom>
          <a:noFill/>
        </p:spPr>
        <p:txBody>
          <a:bodyPr wrap="none" rtlCol="0">
            <a:spAutoFit/>
          </a:bodyPr>
          <a:lstStyle/>
          <a:p>
            <a:r>
              <a:rPr lang="es-ES" dirty="0">
                <a:latin typeface="Helvetica" panose="020B0604020202020204" pitchFamily="34" charset="0"/>
                <a:cs typeface="Helvetica" panose="020B0604020202020204" pitchFamily="34" charset="0"/>
              </a:rPr>
              <a:t>Fase de diseño</a:t>
            </a:r>
          </a:p>
        </p:txBody>
      </p:sp>
      <p:cxnSp>
        <p:nvCxnSpPr>
          <p:cNvPr id="5" name="Conector recto 4">
            <a:extLst>
              <a:ext uri="{FF2B5EF4-FFF2-40B4-BE49-F238E27FC236}">
                <a16:creationId xmlns:a16="http://schemas.microsoft.com/office/drawing/2014/main" id="{6B9E21EB-704C-E1C9-2D0E-D5B4725CA4F6}"/>
              </a:ext>
            </a:extLst>
          </p:cNvPr>
          <p:cNvCxnSpPr>
            <a:cxnSpLocks/>
          </p:cNvCxnSpPr>
          <p:nvPr/>
        </p:nvCxnSpPr>
        <p:spPr>
          <a:xfrm>
            <a:off x="335504" y="706009"/>
            <a:ext cx="19145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CuadroTexto 7">
            <a:extLst>
              <a:ext uri="{FF2B5EF4-FFF2-40B4-BE49-F238E27FC236}">
                <a16:creationId xmlns:a16="http://schemas.microsoft.com/office/drawing/2014/main" id="{4506147B-D4AA-58C9-00B7-84366198FFD0}"/>
              </a:ext>
            </a:extLst>
          </p:cNvPr>
          <p:cNvSpPr txBox="1"/>
          <p:nvPr/>
        </p:nvSpPr>
        <p:spPr>
          <a:xfrm>
            <a:off x="177586" y="2169091"/>
            <a:ext cx="5918414" cy="3323987"/>
          </a:xfrm>
          <a:prstGeom prst="rect">
            <a:avLst/>
          </a:prstGeom>
          <a:noFill/>
        </p:spPr>
        <p:txBody>
          <a:bodyPr wrap="square">
            <a:spAutoFit/>
          </a:bodyPr>
          <a:lstStyle/>
          <a:p>
            <a:r>
              <a:rPr lang="es-ES" sz="2100" dirty="0">
                <a:latin typeface="Helvetica" panose="020B0604020202020204" pitchFamily="34" charset="0"/>
                <a:cs typeface="Helvetica" panose="020B0604020202020204" pitchFamily="34" charset="0"/>
              </a:rPr>
              <a:t>En algunos casos puede ser interesante incluir también combinaciones de </a:t>
            </a:r>
            <a:r>
              <a:rPr lang="es-ES" sz="2100" b="1" dirty="0">
                <a:latin typeface="Helvetica" panose="020B0604020202020204" pitchFamily="34" charset="0"/>
                <a:cs typeface="Helvetica" panose="020B0604020202020204" pitchFamily="34" charset="0"/>
              </a:rPr>
              <a:t>colores con alto contraste </a:t>
            </a:r>
            <a:r>
              <a:rPr lang="es-ES" sz="2100" dirty="0">
                <a:latin typeface="Helvetica" panose="020B0604020202020204" pitchFamily="34" charset="0"/>
                <a:cs typeface="Helvetica" panose="020B0604020202020204" pitchFamily="34" charset="0"/>
              </a:rPr>
              <a:t>para establecer puntos de atención en la página, o los correspondientes a las opciones </a:t>
            </a:r>
            <a:r>
              <a:rPr lang="es-ES" sz="2100" b="1" i="1" dirty="0" err="1">
                <a:latin typeface="Helvetica" panose="020B0604020202020204" pitchFamily="34" charset="0"/>
                <a:cs typeface="Helvetica" panose="020B0604020202020204" pitchFamily="34" charset="0"/>
              </a:rPr>
              <a:t>call-to-action</a:t>
            </a:r>
            <a:r>
              <a:rPr lang="es-ES" sz="2100" b="1" i="1" dirty="0">
                <a:latin typeface="Helvetica" panose="020B0604020202020204" pitchFamily="34" charset="0"/>
                <a:cs typeface="Helvetica" panose="020B0604020202020204" pitchFamily="34" charset="0"/>
              </a:rPr>
              <a:t>. </a:t>
            </a:r>
            <a:r>
              <a:rPr lang="es-ES" sz="2100" dirty="0">
                <a:latin typeface="Helvetica" panose="020B0604020202020204" pitchFamily="34" charset="0"/>
                <a:cs typeface="Helvetica" panose="020B0604020202020204" pitchFamily="34" charset="0"/>
              </a:rPr>
              <a:t>Un alto contraste aumenta considerablemente las posibilidades de éxito a la hora de que el usuario realice una acción. </a:t>
            </a:r>
            <a:r>
              <a:rPr lang="es-ES" sz="2100" b="1" dirty="0">
                <a:solidFill>
                  <a:srgbClr val="FFF309"/>
                </a:solidFill>
                <a:latin typeface="Helvetica" panose="020B0604020202020204" pitchFamily="34" charset="0"/>
                <a:cs typeface="Helvetica" panose="020B0604020202020204" pitchFamily="34" charset="0"/>
                <a:hlinkClick r:id="rId2">
                  <a:extLst>
                    <a:ext uri="{A12FA001-AC4F-418D-AE19-62706E023703}">
                      <ahyp:hlinkClr xmlns:ahyp="http://schemas.microsoft.com/office/drawing/2018/hyperlinkcolor" val="tx"/>
                    </a:ext>
                  </a:extLst>
                </a:hlinkClick>
              </a:rPr>
              <a:t>Aquí</a:t>
            </a:r>
            <a:r>
              <a:rPr lang="es-ES" sz="2100" dirty="0">
                <a:latin typeface="Helvetica" panose="020B0604020202020204" pitchFamily="34" charset="0"/>
                <a:cs typeface="Helvetica" panose="020B0604020202020204" pitchFamily="34" charset="0"/>
              </a:rPr>
              <a:t> una página muy interesante que hace un estudio de calor sobre algunas webs muy conocidas.</a:t>
            </a:r>
          </a:p>
        </p:txBody>
      </p:sp>
      <p:pic>
        <p:nvPicPr>
          <p:cNvPr id="13" name="Imagen 12">
            <a:extLst>
              <a:ext uri="{FF2B5EF4-FFF2-40B4-BE49-F238E27FC236}">
                <a16:creationId xmlns:a16="http://schemas.microsoft.com/office/drawing/2014/main" id="{84CAA0B2-9B8A-9FCC-D20F-24049505AB91}"/>
              </a:ext>
            </a:extLst>
          </p:cNvPr>
          <p:cNvPicPr>
            <a:picLocks noChangeAspect="1"/>
          </p:cNvPicPr>
          <p:nvPr/>
        </p:nvPicPr>
        <p:blipFill>
          <a:blip r:embed="rId3"/>
          <a:stretch>
            <a:fillRect/>
          </a:stretch>
        </p:blipFill>
        <p:spPr>
          <a:xfrm>
            <a:off x="7376298" y="4570742"/>
            <a:ext cx="4139427" cy="2257535"/>
          </a:xfrm>
          <a:prstGeom prst="rect">
            <a:avLst/>
          </a:prstGeom>
        </p:spPr>
      </p:pic>
      <p:pic>
        <p:nvPicPr>
          <p:cNvPr id="9" name="Imagen 8">
            <a:extLst>
              <a:ext uri="{FF2B5EF4-FFF2-40B4-BE49-F238E27FC236}">
                <a16:creationId xmlns:a16="http://schemas.microsoft.com/office/drawing/2014/main" id="{230B0193-2410-BE43-28AC-F2B30E0ED504}"/>
              </a:ext>
            </a:extLst>
          </p:cNvPr>
          <p:cNvPicPr>
            <a:picLocks noChangeAspect="1"/>
          </p:cNvPicPr>
          <p:nvPr/>
        </p:nvPicPr>
        <p:blipFill rotWithShape="1">
          <a:blip r:embed="rId4"/>
          <a:srcRect t="5892" r="-1" b="6343"/>
          <a:stretch/>
        </p:blipFill>
        <p:spPr>
          <a:xfrm>
            <a:off x="6557148" y="2283505"/>
            <a:ext cx="5634852" cy="2287247"/>
          </a:xfrm>
          <a:custGeom>
            <a:avLst/>
            <a:gdLst/>
            <a:ahLst/>
            <a:cxnLst/>
            <a:rect l="l" t="t" r="r" b="b"/>
            <a:pathLst>
              <a:path w="5634852" h="2287247">
                <a:moveTo>
                  <a:pt x="0" y="0"/>
                </a:moveTo>
                <a:lnTo>
                  <a:pt x="5634852" y="0"/>
                </a:lnTo>
                <a:lnTo>
                  <a:pt x="5634852" y="2287247"/>
                </a:lnTo>
                <a:lnTo>
                  <a:pt x="0" y="2287247"/>
                </a:lnTo>
                <a:close/>
              </a:path>
            </a:pathLst>
          </a:custGeom>
        </p:spPr>
      </p:pic>
      <p:pic>
        <p:nvPicPr>
          <p:cNvPr id="10" name="Imagen 9">
            <a:extLst>
              <a:ext uri="{FF2B5EF4-FFF2-40B4-BE49-F238E27FC236}">
                <a16:creationId xmlns:a16="http://schemas.microsoft.com/office/drawing/2014/main" id="{2709227D-9B9E-D0AC-4C4A-D994F2DD9E1C}"/>
              </a:ext>
            </a:extLst>
          </p:cNvPr>
          <p:cNvPicPr>
            <a:picLocks noChangeAspect="1"/>
          </p:cNvPicPr>
          <p:nvPr/>
        </p:nvPicPr>
        <p:blipFill rotWithShape="1">
          <a:blip r:embed="rId5"/>
          <a:srcRect t="10296" r="-1" b="-1"/>
          <a:stretch/>
        </p:blipFill>
        <p:spPr>
          <a:xfrm>
            <a:off x="6557148" y="10"/>
            <a:ext cx="5634852" cy="2287237"/>
          </a:xfrm>
          <a:custGeom>
            <a:avLst/>
            <a:gdLst/>
            <a:ahLst/>
            <a:cxnLst/>
            <a:rect l="l" t="t" r="r" b="b"/>
            <a:pathLst>
              <a:path w="5634852" h="2287247">
                <a:moveTo>
                  <a:pt x="0" y="0"/>
                </a:moveTo>
                <a:lnTo>
                  <a:pt x="5634852" y="0"/>
                </a:lnTo>
                <a:lnTo>
                  <a:pt x="5634852" y="2287247"/>
                </a:lnTo>
                <a:lnTo>
                  <a:pt x="0" y="2287247"/>
                </a:lnTo>
                <a:close/>
              </a:path>
            </a:pathLst>
          </a:custGeom>
        </p:spPr>
      </p:pic>
    </p:spTree>
    <p:extLst>
      <p:ext uri="{BB962C8B-B14F-4D97-AF65-F5344CB8AC3E}">
        <p14:creationId xmlns:p14="http://schemas.microsoft.com/office/powerpoint/2010/main" val="37142720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68E81188-952F-FF76-4656-239C36954F45}"/>
              </a:ext>
            </a:extLst>
          </p:cNvPr>
          <p:cNvSpPr txBox="1"/>
          <p:nvPr/>
        </p:nvSpPr>
        <p:spPr>
          <a:xfrm>
            <a:off x="242556" y="233916"/>
            <a:ext cx="1762021" cy="369332"/>
          </a:xfrm>
          <a:prstGeom prst="rect">
            <a:avLst/>
          </a:prstGeom>
          <a:noFill/>
        </p:spPr>
        <p:txBody>
          <a:bodyPr wrap="none" rtlCol="0">
            <a:spAutoFit/>
          </a:bodyPr>
          <a:lstStyle/>
          <a:p>
            <a:r>
              <a:rPr lang="es-ES" dirty="0">
                <a:latin typeface="Helvetica" panose="020B0604020202020204" pitchFamily="34" charset="0"/>
                <a:cs typeface="Helvetica" panose="020B0604020202020204" pitchFamily="34" charset="0"/>
              </a:rPr>
              <a:t>Fase de diseño</a:t>
            </a:r>
          </a:p>
        </p:txBody>
      </p:sp>
      <p:cxnSp>
        <p:nvCxnSpPr>
          <p:cNvPr id="5" name="Conector recto 4">
            <a:extLst>
              <a:ext uri="{FF2B5EF4-FFF2-40B4-BE49-F238E27FC236}">
                <a16:creationId xmlns:a16="http://schemas.microsoft.com/office/drawing/2014/main" id="{6B9E21EB-704C-E1C9-2D0E-D5B4725CA4F6}"/>
              </a:ext>
            </a:extLst>
          </p:cNvPr>
          <p:cNvCxnSpPr>
            <a:cxnSpLocks/>
          </p:cNvCxnSpPr>
          <p:nvPr/>
        </p:nvCxnSpPr>
        <p:spPr>
          <a:xfrm>
            <a:off x="335504" y="706009"/>
            <a:ext cx="19145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7F68F2A7-B154-DA7F-C242-91FE5589339B}"/>
              </a:ext>
            </a:extLst>
          </p:cNvPr>
          <p:cNvSpPr txBox="1"/>
          <p:nvPr/>
        </p:nvSpPr>
        <p:spPr>
          <a:xfrm>
            <a:off x="242556" y="1908825"/>
            <a:ext cx="2254469" cy="3693319"/>
          </a:xfrm>
          <a:prstGeom prst="rect">
            <a:avLst/>
          </a:prstGeom>
          <a:noFill/>
        </p:spPr>
        <p:txBody>
          <a:bodyPr wrap="square">
            <a:spAutoFit/>
          </a:bodyPr>
          <a:lstStyle/>
          <a:p>
            <a:r>
              <a:rPr lang="es-ES" dirty="0">
                <a:latin typeface="Helvetica" panose="020B0604020202020204"/>
                <a:cs typeface="Helvetica" panose="020B0604020202020204"/>
              </a:rPr>
              <a:t>Y si tu interfaz depende de una amplia gama de colores para su propia funcionalidad, ayudará mucho si se detallan toda la gama completa de colores, como hace la empresa </a:t>
            </a:r>
            <a:r>
              <a:rPr lang="es-ES" i="1" dirty="0">
                <a:latin typeface="Helvetica" panose="020B0604020202020204"/>
                <a:cs typeface="Helvetica" panose="020B0604020202020204"/>
              </a:rPr>
              <a:t>Trello</a:t>
            </a:r>
            <a:r>
              <a:rPr lang="es-ES" dirty="0">
                <a:latin typeface="Helvetica" panose="020B0604020202020204"/>
                <a:cs typeface="Helvetica" panose="020B0604020202020204"/>
              </a:rPr>
              <a:t> (propiedad de </a:t>
            </a:r>
            <a:r>
              <a:rPr lang="es-ES" i="1" dirty="0" err="1">
                <a:latin typeface="Helvetica" panose="020B0604020202020204"/>
                <a:cs typeface="Helvetica" panose="020B0604020202020204"/>
              </a:rPr>
              <a:t>Atlassian</a:t>
            </a:r>
            <a:r>
              <a:rPr lang="es-ES" dirty="0">
                <a:latin typeface="Helvetica" panose="020B0604020202020204"/>
                <a:cs typeface="Helvetica" panose="020B0604020202020204"/>
              </a:rPr>
              <a:t>)</a:t>
            </a:r>
          </a:p>
        </p:txBody>
      </p:sp>
      <p:pic>
        <p:nvPicPr>
          <p:cNvPr id="8" name="Imagen 7" descr="Tabla, Calendario&#10;&#10;Descripción generada automáticamente">
            <a:extLst>
              <a:ext uri="{FF2B5EF4-FFF2-40B4-BE49-F238E27FC236}">
                <a16:creationId xmlns:a16="http://schemas.microsoft.com/office/drawing/2014/main" id="{142C4535-6807-30D4-AC1D-B38A978366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73422" y="1175657"/>
            <a:ext cx="9518578" cy="5159656"/>
          </a:xfrm>
          <a:prstGeom prst="rect">
            <a:avLst/>
          </a:prstGeom>
        </p:spPr>
      </p:pic>
    </p:spTree>
    <p:extLst>
      <p:ext uri="{BB962C8B-B14F-4D97-AF65-F5344CB8AC3E}">
        <p14:creationId xmlns:p14="http://schemas.microsoft.com/office/powerpoint/2010/main" val="40981772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68E81188-952F-FF76-4656-239C36954F45}"/>
              </a:ext>
            </a:extLst>
          </p:cNvPr>
          <p:cNvSpPr txBox="1"/>
          <p:nvPr/>
        </p:nvSpPr>
        <p:spPr>
          <a:xfrm>
            <a:off x="242556" y="233916"/>
            <a:ext cx="1762021" cy="369332"/>
          </a:xfrm>
          <a:prstGeom prst="rect">
            <a:avLst/>
          </a:prstGeom>
          <a:noFill/>
        </p:spPr>
        <p:txBody>
          <a:bodyPr wrap="none" rtlCol="0">
            <a:spAutoFit/>
          </a:bodyPr>
          <a:lstStyle/>
          <a:p>
            <a:r>
              <a:rPr lang="es-ES" dirty="0">
                <a:latin typeface="Helvetica" panose="020B0604020202020204" pitchFamily="34" charset="0"/>
                <a:cs typeface="Helvetica" panose="020B0604020202020204" pitchFamily="34" charset="0"/>
              </a:rPr>
              <a:t>Fase de diseño</a:t>
            </a:r>
          </a:p>
        </p:txBody>
      </p:sp>
      <p:cxnSp>
        <p:nvCxnSpPr>
          <p:cNvPr id="5" name="Conector recto 4">
            <a:extLst>
              <a:ext uri="{FF2B5EF4-FFF2-40B4-BE49-F238E27FC236}">
                <a16:creationId xmlns:a16="http://schemas.microsoft.com/office/drawing/2014/main" id="{6B9E21EB-704C-E1C9-2D0E-D5B4725CA4F6}"/>
              </a:ext>
            </a:extLst>
          </p:cNvPr>
          <p:cNvCxnSpPr>
            <a:cxnSpLocks/>
          </p:cNvCxnSpPr>
          <p:nvPr/>
        </p:nvCxnSpPr>
        <p:spPr>
          <a:xfrm>
            <a:off x="335504" y="706009"/>
            <a:ext cx="19145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CuadroTexto 7">
            <a:extLst>
              <a:ext uri="{FF2B5EF4-FFF2-40B4-BE49-F238E27FC236}">
                <a16:creationId xmlns:a16="http://schemas.microsoft.com/office/drawing/2014/main" id="{4506147B-D4AA-58C9-00B7-84366198FFD0}"/>
              </a:ext>
            </a:extLst>
          </p:cNvPr>
          <p:cNvSpPr txBox="1"/>
          <p:nvPr/>
        </p:nvSpPr>
        <p:spPr>
          <a:xfrm>
            <a:off x="242557" y="1542518"/>
            <a:ext cx="5853444" cy="4031873"/>
          </a:xfrm>
          <a:prstGeom prst="rect">
            <a:avLst/>
          </a:prstGeom>
          <a:noFill/>
        </p:spPr>
        <p:txBody>
          <a:bodyPr wrap="square">
            <a:spAutoFit/>
          </a:bodyPr>
          <a:lstStyle/>
          <a:p>
            <a:r>
              <a:rPr lang="es-ES" sz="2800" b="1" dirty="0">
                <a:latin typeface="Helvetica" panose="020B0604020202020204" pitchFamily="34" charset="0"/>
                <a:cs typeface="Helvetica" panose="020B0604020202020204" pitchFamily="34" charset="0"/>
              </a:rPr>
              <a:t>TEORÍA DEL COLOR</a:t>
            </a:r>
          </a:p>
          <a:p>
            <a:endParaRPr lang="es-ES" sz="2200" dirty="0">
              <a:latin typeface="Helvetica" panose="020B0604020202020204" pitchFamily="34" charset="0"/>
              <a:cs typeface="Helvetica" panose="020B0604020202020204" pitchFamily="34" charset="0"/>
            </a:endParaRPr>
          </a:p>
          <a:p>
            <a:r>
              <a:rPr lang="es-ES" sz="2200" dirty="0">
                <a:latin typeface="Helvetica" panose="020B0604020202020204" pitchFamily="34" charset="0"/>
                <a:cs typeface="Helvetica" panose="020B0604020202020204" pitchFamily="34" charset="0"/>
              </a:rPr>
              <a:t>Para conseguir una gama coherente de colores, deberemos echar mano de los colores </a:t>
            </a:r>
            <a:r>
              <a:rPr lang="es-ES" sz="2200" b="1" dirty="0">
                <a:solidFill>
                  <a:srgbClr val="FFF309"/>
                </a:solidFill>
                <a:latin typeface="Helvetica" panose="020B0604020202020204" pitchFamily="34" charset="0"/>
                <a:cs typeface="Helvetica" panose="020B0604020202020204" pitchFamily="34" charset="0"/>
              </a:rPr>
              <a:t>complementarios</a:t>
            </a:r>
            <a:r>
              <a:rPr lang="es-ES" sz="2200" b="1" dirty="0">
                <a:latin typeface="Helvetica" panose="020B0604020202020204" pitchFamily="34" charset="0"/>
                <a:cs typeface="Helvetica" panose="020B0604020202020204" pitchFamily="34" charset="0"/>
              </a:rPr>
              <a:t> </a:t>
            </a:r>
            <a:r>
              <a:rPr lang="es-ES" sz="2200" dirty="0">
                <a:latin typeface="Helvetica" panose="020B0604020202020204" pitchFamily="34" charset="0"/>
                <a:cs typeface="Helvetica" panose="020B0604020202020204" pitchFamily="34" charset="0"/>
              </a:rPr>
              <a:t>y realizar los test de contraste con el color y el grosor de la tipografía. La rueda de colores nos ayuda a poder dar con esos colores complementarios y análogos de otros que tan bien combinan entre ellos. </a:t>
            </a:r>
          </a:p>
          <a:p>
            <a:endParaRPr lang="es-ES" sz="800" dirty="0">
              <a:latin typeface="Helvetica" panose="020B0604020202020204" pitchFamily="34" charset="0"/>
              <a:cs typeface="Helvetica" panose="020B0604020202020204" pitchFamily="34" charset="0"/>
            </a:endParaRPr>
          </a:p>
          <a:p>
            <a:pPr algn="ctr"/>
            <a:r>
              <a:rPr lang="es-ES" sz="2200" dirty="0">
                <a:latin typeface="Helvetica" panose="020B0604020202020204" pitchFamily="34" charset="0"/>
                <a:cs typeface="Helvetica" panose="020B0604020202020204" pitchFamily="34" charset="0"/>
              </a:rPr>
              <a:t>	</a:t>
            </a:r>
          </a:p>
        </p:txBody>
      </p:sp>
      <p:pic>
        <p:nvPicPr>
          <p:cNvPr id="2" name="Imagen 1">
            <a:extLst>
              <a:ext uri="{FF2B5EF4-FFF2-40B4-BE49-F238E27FC236}">
                <a16:creationId xmlns:a16="http://schemas.microsoft.com/office/drawing/2014/main" id="{5FF06522-AA24-9AE7-8BD3-D8C919507F8A}"/>
              </a:ext>
            </a:extLst>
          </p:cNvPr>
          <p:cNvPicPr>
            <a:picLocks noChangeAspect="1"/>
          </p:cNvPicPr>
          <p:nvPr/>
        </p:nvPicPr>
        <p:blipFill rotWithShape="1">
          <a:blip r:embed="rId2"/>
          <a:srcRect l="250" r="-1" b="-1"/>
          <a:stretch/>
        </p:blipFill>
        <p:spPr>
          <a:xfrm>
            <a:off x="6651170" y="603248"/>
            <a:ext cx="5298273" cy="5298273"/>
          </a:xfrm>
          <a:custGeom>
            <a:avLst/>
            <a:gdLst/>
            <a:ahLst/>
            <a:cxnLst/>
            <a:rect l="l" t="t" r="r" b="b"/>
            <a:pathLst>
              <a:path w="5132388" h="5132388">
                <a:moveTo>
                  <a:pt x="2566194" y="0"/>
                </a:moveTo>
                <a:cubicBezTo>
                  <a:pt x="3983464" y="0"/>
                  <a:pt x="5132388" y="1148924"/>
                  <a:pt x="5132388" y="2566194"/>
                </a:cubicBezTo>
                <a:cubicBezTo>
                  <a:pt x="5132388" y="3983464"/>
                  <a:pt x="3983464" y="5132388"/>
                  <a:pt x="2566194" y="5132388"/>
                </a:cubicBezTo>
                <a:cubicBezTo>
                  <a:pt x="1148924" y="5132388"/>
                  <a:pt x="0" y="3983464"/>
                  <a:pt x="0" y="2566194"/>
                </a:cubicBezTo>
                <a:cubicBezTo>
                  <a:pt x="0" y="1148924"/>
                  <a:pt x="1148924" y="0"/>
                  <a:pt x="2566194" y="0"/>
                </a:cubicBezTo>
                <a:close/>
              </a:path>
            </a:pathLst>
          </a:custGeom>
        </p:spPr>
      </p:pic>
      <p:sp>
        <p:nvSpPr>
          <p:cNvPr id="7" name="CuadroTexto 6">
            <a:extLst>
              <a:ext uri="{FF2B5EF4-FFF2-40B4-BE49-F238E27FC236}">
                <a16:creationId xmlns:a16="http://schemas.microsoft.com/office/drawing/2014/main" id="{EBD6EBE0-3737-6B28-5CAA-493642C20378}"/>
              </a:ext>
            </a:extLst>
          </p:cNvPr>
          <p:cNvSpPr txBox="1"/>
          <p:nvPr/>
        </p:nvSpPr>
        <p:spPr>
          <a:xfrm>
            <a:off x="6252306" y="6047003"/>
            <a:ext cx="6096000" cy="415498"/>
          </a:xfrm>
          <a:prstGeom prst="rect">
            <a:avLst/>
          </a:prstGeom>
          <a:noFill/>
        </p:spPr>
        <p:txBody>
          <a:bodyPr wrap="square">
            <a:spAutoFit/>
          </a:bodyPr>
          <a:lstStyle/>
          <a:p>
            <a:pPr algn="ctr"/>
            <a:r>
              <a:rPr lang="es-ES" sz="2100" dirty="0">
                <a:latin typeface="Helvetica" panose="020B0604020202020204" pitchFamily="34" charset="0"/>
                <a:cs typeface="Helvetica" panose="020B0604020202020204" pitchFamily="34" charset="0"/>
              </a:rPr>
              <a:t>¿Cómo sacar partido de la rueda de colores?</a:t>
            </a:r>
          </a:p>
        </p:txBody>
      </p:sp>
    </p:spTree>
    <p:extLst>
      <p:ext uri="{BB962C8B-B14F-4D97-AF65-F5344CB8AC3E}">
        <p14:creationId xmlns:p14="http://schemas.microsoft.com/office/powerpoint/2010/main" val="12300865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68E81188-952F-FF76-4656-239C36954F45}"/>
              </a:ext>
            </a:extLst>
          </p:cNvPr>
          <p:cNvSpPr txBox="1"/>
          <p:nvPr/>
        </p:nvSpPr>
        <p:spPr>
          <a:xfrm>
            <a:off x="242556" y="233916"/>
            <a:ext cx="1762021" cy="369332"/>
          </a:xfrm>
          <a:prstGeom prst="rect">
            <a:avLst/>
          </a:prstGeom>
          <a:noFill/>
        </p:spPr>
        <p:txBody>
          <a:bodyPr wrap="none" rtlCol="0">
            <a:spAutoFit/>
          </a:bodyPr>
          <a:lstStyle/>
          <a:p>
            <a:r>
              <a:rPr lang="es-ES" dirty="0">
                <a:latin typeface="Helvetica" panose="020B0604020202020204" pitchFamily="34" charset="0"/>
                <a:cs typeface="Helvetica" panose="020B0604020202020204" pitchFamily="34" charset="0"/>
              </a:rPr>
              <a:t>Fase de diseño</a:t>
            </a:r>
          </a:p>
        </p:txBody>
      </p:sp>
      <p:cxnSp>
        <p:nvCxnSpPr>
          <p:cNvPr id="5" name="Conector recto 4">
            <a:extLst>
              <a:ext uri="{FF2B5EF4-FFF2-40B4-BE49-F238E27FC236}">
                <a16:creationId xmlns:a16="http://schemas.microsoft.com/office/drawing/2014/main" id="{6B9E21EB-704C-E1C9-2D0E-D5B4725CA4F6}"/>
              </a:ext>
            </a:extLst>
          </p:cNvPr>
          <p:cNvCxnSpPr>
            <a:cxnSpLocks/>
          </p:cNvCxnSpPr>
          <p:nvPr/>
        </p:nvCxnSpPr>
        <p:spPr>
          <a:xfrm>
            <a:off x="335504" y="706009"/>
            <a:ext cx="19145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CuadroTexto 7">
            <a:extLst>
              <a:ext uri="{FF2B5EF4-FFF2-40B4-BE49-F238E27FC236}">
                <a16:creationId xmlns:a16="http://schemas.microsoft.com/office/drawing/2014/main" id="{4506147B-D4AA-58C9-00B7-84366198FFD0}"/>
              </a:ext>
            </a:extLst>
          </p:cNvPr>
          <p:cNvSpPr txBox="1"/>
          <p:nvPr/>
        </p:nvSpPr>
        <p:spPr>
          <a:xfrm>
            <a:off x="298781" y="1043784"/>
            <a:ext cx="11245149" cy="1107996"/>
          </a:xfrm>
          <a:prstGeom prst="rect">
            <a:avLst/>
          </a:prstGeom>
          <a:noFill/>
        </p:spPr>
        <p:txBody>
          <a:bodyPr wrap="square">
            <a:spAutoFit/>
          </a:bodyPr>
          <a:lstStyle/>
          <a:p>
            <a:r>
              <a:rPr lang="es-ES" sz="2200" dirty="0">
                <a:latin typeface="Helvetica" panose="020B0604020202020204" pitchFamily="34" charset="0"/>
                <a:cs typeface="Helvetica" panose="020B0604020202020204" pitchFamily="34" charset="0"/>
              </a:rPr>
              <a:t>En la rueda de colores, los colores, también conocidos como </a:t>
            </a:r>
            <a:r>
              <a:rPr lang="es-ES" sz="2200" b="1" dirty="0">
                <a:latin typeface="Helvetica" panose="020B0604020202020204" pitchFamily="34" charset="0"/>
                <a:cs typeface="Helvetica" panose="020B0604020202020204" pitchFamily="34" charset="0"/>
              </a:rPr>
              <a:t>tonalidades (</a:t>
            </a:r>
            <a:r>
              <a:rPr lang="es-ES" sz="2200" b="1" i="1" dirty="0" err="1">
                <a:latin typeface="Helvetica" panose="020B0604020202020204" pitchFamily="34" charset="0"/>
                <a:cs typeface="Helvetica" panose="020B0604020202020204" pitchFamily="34" charset="0"/>
              </a:rPr>
              <a:t>hues</a:t>
            </a:r>
            <a:r>
              <a:rPr lang="es-ES" sz="2200" b="1" dirty="0">
                <a:latin typeface="Helvetica" panose="020B0604020202020204" pitchFamily="34" charset="0"/>
                <a:cs typeface="Helvetica" panose="020B0604020202020204" pitchFamily="34" charset="0"/>
              </a:rPr>
              <a:t>), </a:t>
            </a:r>
            <a:r>
              <a:rPr lang="es-ES" sz="2200" dirty="0">
                <a:latin typeface="Helvetica" panose="020B0604020202020204" pitchFamily="34" charset="0"/>
                <a:cs typeface="Helvetica" panose="020B0604020202020204" pitchFamily="34" charset="0"/>
              </a:rPr>
              <a:t>se dividen en tres categorías principales:</a:t>
            </a:r>
            <a:endParaRPr lang="es-ES" sz="800" dirty="0">
              <a:latin typeface="Helvetica" panose="020B0604020202020204" pitchFamily="34" charset="0"/>
              <a:cs typeface="Helvetica" panose="020B0604020202020204" pitchFamily="34" charset="0"/>
            </a:endParaRPr>
          </a:p>
          <a:p>
            <a:pPr algn="ctr"/>
            <a:r>
              <a:rPr lang="es-ES" sz="2200" dirty="0">
                <a:latin typeface="Helvetica" panose="020B0604020202020204" pitchFamily="34" charset="0"/>
                <a:cs typeface="Helvetica" panose="020B0604020202020204" pitchFamily="34" charset="0"/>
              </a:rPr>
              <a:t>	</a:t>
            </a:r>
          </a:p>
        </p:txBody>
      </p:sp>
      <p:pic>
        <p:nvPicPr>
          <p:cNvPr id="6" name="Imagen 5" descr="Gráfico, Gráfico de proyección solar&#10;&#10;Descripción generada automáticamente">
            <a:extLst>
              <a:ext uri="{FF2B5EF4-FFF2-40B4-BE49-F238E27FC236}">
                <a16:creationId xmlns:a16="http://schemas.microsoft.com/office/drawing/2014/main" id="{C5517C0F-431B-2781-425A-246469E4444D}"/>
              </a:ext>
            </a:extLst>
          </p:cNvPr>
          <p:cNvPicPr>
            <a:picLocks noChangeAspect="1"/>
          </p:cNvPicPr>
          <p:nvPr/>
        </p:nvPicPr>
        <p:blipFill rotWithShape="1">
          <a:blip r:embed="rId2">
            <a:extLst>
              <a:ext uri="{28A0092B-C50C-407E-A947-70E740481C1C}">
                <a14:useLocalDpi xmlns:a14="http://schemas.microsoft.com/office/drawing/2010/main" val="0"/>
              </a:ext>
            </a:extLst>
          </a:blip>
          <a:srcRect l="33057" t="4668" r="33467" b="5314"/>
          <a:stretch/>
        </p:blipFill>
        <p:spPr>
          <a:xfrm>
            <a:off x="175284" y="2032459"/>
            <a:ext cx="3826277" cy="3858403"/>
          </a:xfrm>
          <a:prstGeom prst="flowChartConnector">
            <a:avLst/>
          </a:prstGeom>
        </p:spPr>
      </p:pic>
      <p:pic>
        <p:nvPicPr>
          <p:cNvPr id="10" name="Imagen 9" descr="Diagrama&#10;&#10;Descripción generada automáticamente">
            <a:extLst>
              <a:ext uri="{FF2B5EF4-FFF2-40B4-BE49-F238E27FC236}">
                <a16:creationId xmlns:a16="http://schemas.microsoft.com/office/drawing/2014/main" id="{205FD85F-2B5A-D0F4-4E00-F780B54F4390}"/>
              </a:ext>
            </a:extLst>
          </p:cNvPr>
          <p:cNvPicPr>
            <a:picLocks noChangeAspect="1"/>
          </p:cNvPicPr>
          <p:nvPr/>
        </p:nvPicPr>
        <p:blipFill rotWithShape="1">
          <a:blip r:embed="rId3">
            <a:extLst>
              <a:ext uri="{28A0092B-C50C-407E-A947-70E740481C1C}">
                <a14:useLocalDpi xmlns:a14="http://schemas.microsoft.com/office/drawing/2010/main" val="0"/>
              </a:ext>
            </a:extLst>
          </a:blip>
          <a:srcRect l="32835" t="3967" r="32757" b="4487"/>
          <a:stretch/>
        </p:blipFill>
        <p:spPr>
          <a:xfrm>
            <a:off x="3839937" y="2003499"/>
            <a:ext cx="3932808" cy="3923930"/>
          </a:xfrm>
          <a:prstGeom prst="flowChartConnector">
            <a:avLst/>
          </a:prstGeom>
        </p:spPr>
      </p:pic>
      <p:pic>
        <p:nvPicPr>
          <p:cNvPr id="12" name="Imagen 11" descr="Gráfico, Gráfico de proyección solar&#10;&#10;Descripción generada automáticamente">
            <a:extLst>
              <a:ext uri="{FF2B5EF4-FFF2-40B4-BE49-F238E27FC236}">
                <a16:creationId xmlns:a16="http://schemas.microsoft.com/office/drawing/2014/main" id="{6DA9F72C-7AE5-D40F-C6B6-4089D9C6A99D}"/>
              </a:ext>
            </a:extLst>
          </p:cNvPr>
          <p:cNvPicPr>
            <a:picLocks noChangeAspect="1"/>
          </p:cNvPicPr>
          <p:nvPr/>
        </p:nvPicPr>
        <p:blipFill rotWithShape="1">
          <a:blip r:embed="rId4">
            <a:extLst>
              <a:ext uri="{28A0092B-C50C-407E-A947-70E740481C1C}">
                <a14:useLocalDpi xmlns:a14="http://schemas.microsoft.com/office/drawing/2010/main" val="0"/>
              </a:ext>
            </a:extLst>
          </a:blip>
          <a:srcRect l="32654" t="3139" r="32628" b="3243"/>
          <a:stretch/>
        </p:blipFill>
        <p:spPr>
          <a:xfrm>
            <a:off x="7674179" y="1955306"/>
            <a:ext cx="3968318" cy="4012708"/>
          </a:xfrm>
          <a:prstGeom prst="flowChartConnector">
            <a:avLst/>
          </a:prstGeom>
        </p:spPr>
      </p:pic>
    </p:spTree>
    <p:extLst>
      <p:ext uri="{BB962C8B-B14F-4D97-AF65-F5344CB8AC3E}">
        <p14:creationId xmlns:p14="http://schemas.microsoft.com/office/powerpoint/2010/main" val="37769948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68E81188-952F-FF76-4656-239C36954F45}"/>
              </a:ext>
            </a:extLst>
          </p:cNvPr>
          <p:cNvSpPr txBox="1"/>
          <p:nvPr/>
        </p:nvSpPr>
        <p:spPr>
          <a:xfrm>
            <a:off x="242556" y="233916"/>
            <a:ext cx="1762021" cy="369332"/>
          </a:xfrm>
          <a:prstGeom prst="rect">
            <a:avLst/>
          </a:prstGeom>
          <a:noFill/>
        </p:spPr>
        <p:txBody>
          <a:bodyPr wrap="none" rtlCol="0">
            <a:spAutoFit/>
          </a:bodyPr>
          <a:lstStyle/>
          <a:p>
            <a:r>
              <a:rPr lang="es-ES" dirty="0">
                <a:latin typeface="Helvetica" panose="020B0604020202020204" pitchFamily="34" charset="0"/>
                <a:cs typeface="Helvetica" panose="020B0604020202020204" pitchFamily="34" charset="0"/>
              </a:rPr>
              <a:t>Fase de diseño</a:t>
            </a:r>
          </a:p>
        </p:txBody>
      </p:sp>
      <p:cxnSp>
        <p:nvCxnSpPr>
          <p:cNvPr id="5" name="Conector recto 4">
            <a:extLst>
              <a:ext uri="{FF2B5EF4-FFF2-40B4-BE49-F238E27FC236}">
                <a16:creationId xmlns:a16="http://schemas.microsoft.com/office/drawing/2014/main" id="{6B9E21EB-704C-E1C9-2D0E-D5B4725CA4F6}"/>
              </a:ext>
            </a:extLst>
          </p:cNvPr>
          <p:cNvCxnSpPr>
            <a:cxnSpLocks/>
          </p:cNvCxnSpPr>
          <p:nvPr/>
        </p:nvCxnSpPr>
        <p:spPr>
          <a:xfrm>
            <a:off x="335504" y="706009"/>
            <a:ext cx="19145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CuadroTexto 7">
            <a:extLst>
              <a:ext uri="{FF2B5EF4-FFF2-40B4-BE49-F238E27FC236}">
                <a16:creationId xmlns:a16="http://schemas.microsoft.com/office/drawing/2014/main" id="{4506147B-D4AA-58C9-00B7-84366198FFD0}"/>
              </a:ext>
            </a:extLst>
          </p:cNvPr>
          <p:cNvSpPr txBox="1"/>
          <p:nvPr/>
        </p:nvSpPr>
        <p:spPr>
          <a:xfrm>
            <a:off x="242556" y="1078980"/>
            <a:ext cx="11710632" cy="1107996"/>
          </a:xfrm>
          <a:prstGeom prst="rect">
            <a:avLst/>
          </a:prstGeom>
          <a:noFill/>
        </p:spPr>
        <p:txBody>
          <a:bodyPr wrap="square">
            <a:spAutoFit/>
          </a:bodyPr>
          <a:lstStyle/>
          <a:p>
            <a:r>
              <a:rPr lang="es-ES" sz="2200" dirty="0">
                <a:latin typeface="Helvetica" panose="020B0604020202020204" pitchFamily="34" charset="0"/>
                <a:cs typeface="Helvetica" panose="020B0604020202020204" pitchFamily="34" charset="0"/>
              </a:rPr>
              <a:t>Los colores complementarios se pueden obtener de tres maneras diferentes y así hacer </a:t>
            </a:r>
            <a:r>
              <a:rPr lang="es-ES" sz="2200" b="1" dirty="0">
                <a:latin typeface="Helvetica" panose="020B0604020202020204" pitchFamily="34" charset="0"/>
                <a:cs typeface="Helvetica" panose="020B0604020202020204" pitchFamily="34" charset="0"/>
              </a:rPr>
              <a:t>COMBINACIONES ARMÓNICAS </a:t>
            </a:r>
            <a:r>
              <a:rPr lang="es-ES" sz="2200" dirty="0">
                <a:latin typeface="Helvetica" panose="020B0604020202020204" pitchFamily="34" charset="0"/>
                <a:cs typeface="Helvetica" panose="020B0604020202020204" pitchFamily="34" charset="0"/>
              </a:rPr>
              <a:t>de color: </a:t>
            </a:r>
            <a:endParaRPr lang="es-ES" sz="800" dirty="0">
              <a:latin typeface="Helvetica" panose="020B0604020202020204" pitchFamily="34" charset="0"/>
              <a:cs typeface="Helvetica" panose="020B0604020202020204" pitchFamily="34" charset="0"/>
            </a:endParaRPr>
          </a:p>
          <a:p>
            <a:pPr algn="ctr"/>
            <a:r>
              <a:rPr lang="es-ES" sz="2200" dirty="0">
                <a:latin typeface="Helvetica" panose="020B0604020202020204" pitchFamily="34" charset="0"/>
                <a:cs typeface="Helvetica" panose="020B0604020202020204" pitchFamily="34" charset="0"/>
              </a:rPr>
              <a:t>	</a:t>
            </a:r>
          </a:p>
        </p:txBody>
      </p:sp>
      <p:pic>
        <p:nvPicPr>
          <p:cNvPr id="9" name="Imagen 8" descr="Gráfico, Gráfico de proyección solar&#10;&#10;Descripción generada automáticamente">
            <a:extLst>
              <a:ext uri="{FF2B5EF4-FFF2-40B4-BE49-F238E27FC236}">
                <a16:creationId xmlns:a16="http://schemas.microsoft.com/office/drawing/2014/main" id="{18638BBF-DFE7-704C-BC76-23613384AD58}"/>
              </a:ext>
            </a:extLst>
          </p:cNvPr>
          <p:cNvPicPr>
            <a:picLocks noChangeAspect="1"/>
          </p:cNvPicPr>
          <p:nvPr/>
        </p:nvPicPr>
        <p:blipFill rotWithShape="1">
          <a:blip r:embed="rId2">
            <a:extLst>
              <a:ext uri="{28A0092B-C50C-407E-A947-70E740481C1C}">
                <a14:useLocalDpi xmlns:a14="http://schemas.microsoft.com/office/drawing/2010/main" val="0"/>
              </a:ext>
            </a:extLst>
          </a:blip>
          <a:srcRect l="26013" r="28956"/>
          <a:stretch/>
        </p:blipFill>
        <p:spPr>
          <a:xfrm>
            <a:off x="6096000" y="2103888"/>
            <a:ext cx="5306996" cy="4419460"/>
          </a:xfrm>
          <a:prstGeom prst="rect">
            <a:avLst/>
          </a:prstGeom>
        </p:spPr>
      </p:pic>
      <p:sp>
        <p:nvSpPr>
          <p:cNvPr id="18" name="CuadroTexto 17">
            <a:extLst>
              <a:ext uri="{FF2B5EF4-FFF2-40B4-BE49-F238E27FC236}">
                <a16:creationId xmlns:a16="http://schemas.microsoft.com/office/drawing/2014/main" id="{DDDEF465-548E-EA9A-3796-B73DF9240049}"/>
              </a:ext>
            </a:extLst>
          </p:cNvPr>
          <p:cNvSpPr txBox="1"/>
          <p:nvPr/>
        </p:nvSpPr>
        <p:spPr>
          <a:xfrm>
            <a:off x="240684" y="2321004"/>
            <a:ext cx="5170302" cy="3139321"/>
          </a:xfrm>
          <a:prstGeom prst="rect">
            <a:avLst/>
          </a:prstGeom>
          <a:noFill/>
        </p:spPr>
        <p:txBody>
          <a:bodyPr wrap="square">
            <a:spAutoFit/>
          </a:bodyPr>
          <a:lstStyle/>
          <a:p>
            <a:r>
              <a:rPr lang="es-ES" sz="2200" dirty="0">
                <a:latin typeface="Helvetica" panose="020B0604020202020204" pitchFamily="34" charset="0"/>
                <a:cs typeface="Helvetica" panose="020B0604020202020204" pitchFamily="34" charset="0"/>
              </a:rPr>
              <a:t>Combinaciones </a:t>
            </a:r>
            <a:r>
              <a:rPr lang="es-ES" sz="2200" b="1" dirty="0">
                <a:latin typeface="Helvetica" panose="020B0604020202020204" pitchFamily="34" charset="0"/>
                <a:cs typeface="Helvetica" panose="020B0604020202020204" pitchFamily="34" charset="0"/>
              </a:rPr>
              <a:t>BINARIAS</a:t>
            </a:r>
            <a:r>
              <a:rPr lang="es-ES" sz="2200" dirty="0">
                <a:latin typeface="Helvetica" panose="020B0604020202020204" pitchFamily="34" charset="0"/>
                <a:cs typeface="Helvetica" panose="020B0604020202020204" pitchFamily="34" charset="0"/>
              </a:rPr>
              <a:t> de extremos:</a:t>
            </a:r>
          </a:p>
          <a:p>
            <a:endParaRPr lang="es-ES" sz="2200" dirty="0">
              <a:latin typeface="Helvetica" panose="020B0604020202020204" pitchFamily="34" charset="0"/>
              <a:cs typeface="Helvetica" panose="020B0604020202020204" pitchFamily="34" charset="0"/>
            </a:endParaRPr>
          </a:p>
          <a:p>
            <a:r>
              <a:rPr lang="es-ES" sz="2200" dirty="0">
                <a:latin typeface="Helvetica" panose="020B0604020202020204" pitchFamily="34" charset="0"/>
                <a:cs typeface="Helvetica" panose="020B0604020202020204" pitchFamily="34" charset="0"/>
              </a:rPr>
              <a:t>Los colores complementarios son colores que </a:t>
            </a:r>
            <a:r>
              <a:rPr lang="es-ES" sz="2200" b="1" dirty="0">
                <a:latin typeface="Helvetica" panose="020B0604020202020204" pitchFamily="34" charset="0"/>
                <a:cs typeface="Helvetica" panose="020B0604020202020204" pitchFamily="34" charset="0"/>
              </a:rPr>
              <a:t>contrastan fuertemente </a:t>
            </a:r>
            <a:r>
              <a:rPr lang="es-ES" sz="2200" dirty="0">
                <a:latin typeface="Helvetica" panose="020B0604020202020204" pitchFamily="34" charset="0"/>
                <a:cs typeface="Helvetica" panose="020B0604020202020204" pitchFamily="34" charset="0"/>
              </a:rPr>
              <a:t>entre sí, así que cuando se usan juntos en un logo o en una interfaz, ambos colores son atrevidos y llamativos. </a:t>
            </a:r>
            <a:endParaRPr lang="es-ES" sz="800" dirty="0">
              <a:latin typeface="Helvetica" panose="020B0604020202020204" pitchFamily="34" charset="0"/>
              <a:cs typeface="Helvetica" panose="020B0604020202020204" pitchFamily="34" charset="0"/>
            </a:endParaRPr>
          </a:p>
          <a:p>
            <a:pPr algn="ctr"/>
            <a:r>
              <a:rPr lang="es-ES" sz="2200" dirty="0">
                <a:latin typeface="Helvetica" panose="020B0604020202020204" pitchFamily="34" charset="0"/>
                <a:cs typeface="Helvetica" panose="020B0604020202020204" pitchFamily="34" charset="0"/>
              </a:rPr>
              <a:t>	</a:t>
            </a:r>
          </a:p>
        </p:txBody>
      </p:sp>
    </p:spTree>
    <p:extLst>
      <p:ext uri="{BB962C8B-B14F-4D97-AF65-F5344CB8AC3E}">
        <p14:creationId xmlns:p14="http://schemas.microsoft.com/office/powerpoint/2010/main" val="29324169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68E81188-952F-FF76-4656-239C36954F45}"/>
              </a:ext>
            </a:extLst>
          </p:cNvPr>
          <p:cNvSpPr txBox="1"/>
          <p:nvPr/>
        </p:nvSpPr>
        <p:spPr>
          <a:xfrm>
            <a:off x="242556" y="233916"/>
            <a:ext cx="1762021" cy="369332"/>
          </a:xfrm>
          <a:prstGeom prst="rect">
            <a:avLst/>
          </a:prstGeom>
          <a:noFill/>
        </p:spPr>
        <p:txBody>
          <a:bodyPr wrap="none" rtlCol="0">
            <a:spAutoFit/>
          </a:bodyPr>
          <a:lstStyle/>
          <a:p>
            <a:r>
              <a:rPr lang="es-ES" dirty="0">
                <a:latin typeface="Helvetica" panose="020B0604020202020204" pitchFamily="34" charset="0"/>
                <a:cs typeface="Helvetica" panose="020B0604020202020204" pitchFamily="34" charset="0"/>
              </a:rPr>
              <a:t>Fase de diseño</a:t>
            </a:r>
          </a:p>
        </p:txBody>
      </p:sp>
      <p:cxnSp>
        <p:nvCxnSpPr>
          <p:cNvPr id="5" name="Conector recto 4">
            <a:extLst>
              <a:ext uri="{FF2B5EF4-FFF2-40B4-BE49-F238E27FC236}">
                <a16:creationId xmlns:a16="http://schemas.microsoft.com/office/drawing/2014/main" id="{6B9E21EB-704C-E1C9-2D0E-D5B4725CA4F6}"/>
              </a:ext>
            </a:extLst>
          </p:cNvPr>
          <p:cNvCxnSpPr>
            <a:cxnSpLocks/>
          </p:cNvCxnSpPr>
          <p:nvPr/>
        </p:nvCxnSpPr>
        <p:spPr>
          <a:xfrm>
            <a:off x="335504" y="706009"/>
            <a:ext cx="19145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CuadroTexto 7">
            <a:extLst>
              <a:ext uri="{FF2B5EF4-FFF2-40B4-BE49-F238E27FC236}">
                <a16:creationId xmlns:a16="http://schemas.microsoft.com/office/drawing/2014/main" id="{4506147B-D4AA-58C9-00B7-84366198FFD0}"/>
              </a:ext>
            </a:extLst>
          </p:cNvPr>
          <p:cNvSpPr txBox="1"/>
          <p:nvPr/>
        </p:nvSpPr>
        <p:spPr>
          <a:xfrm>
            <a:off x="242556" y="908586"/>
            <a:ext cx="11710632" cy="769441"/>
          </a:xfrm>
          <a:prstGeom prst="rect">
            <a:avLst/>
          </a:prstGeom>
          <a:noFill/>
        </p:spPr>
        <p:txBody>
          <a:bodyPr wrap="square">
            <a:spAutoFit/>
          </a:bodyPr>
          <a:lstStyle/>
          <a:p>
            <a:r>
              <a:rPr lang="es-ES" sz="2200" dirty="0">
                <a:latin typeface="Helvetica" panose="020B0604020202020204" pitchFamily="34" charset="0"/>
                <a:cs typeface="Helvetica" panose="020B0604020202020204" pitchFamily="34" charset="0"/>
              </a:rPr>
              <a:t>Y las combinaciones se usan en todo tipo de objetos:</a:t>
            </a:r>
            <a:endParaRPr lang="es-ES" sz="800" dirty="0">
              <a:latin typeface="Helvetica" panose="020B0604020202020204" pitchFamily="34" charset="0"/>
              <a:cs typeface="Helvetica" panose="020B0604020202020204" pitchFamily="34" charset="0"/>
            </a:endParaRPr>
          </a:p>
          <a:p>
            <a:pPr algn="ctr"/>
            <a:r>
              <a:rPr lang="es-ES" sz="2200" dirty="0">
                <a:latin typeface="Helvetica" panose="020B0604020202020204" pitchFamily="34" charset="0"/>
                <a:cs typeface="Helvetica" panose="020B0604020202020204" pitchFamily="34" charset="0"/>
              </a:rPr>
              <a:t>	</a:t>
            </a:r>
          </a:p>
        </p:txBody>
      </p:sp>
      <p:pic>
        <p:nvPicPr>
          <p:cNvPr id="11" name="Imagen 10" descr="Un grupo de personas de pie&#10;&#10;Descripción generada automáticamente con confianza baja">
            <a:extLst>
              <a:ext uri="{FF2B5EF4-FFF2-40B4-BE49-F238E27FC236}">
                <a16:creationId xmlns:a16="http://schemas.microsoft.com/office/drawing/2014/main" id="{B6605FCC-B817-91C5-236C-5104B6A6C273}"/>
              </a:ext>
            </a:extLst>
          </p:cNvPr>
          <p:cNvPicPr>
            <a:picLocks noChangeAspect="1"/>
          </p:cNvPicPr>
          <p:nvPr/>
        </p:nvPicPr>
        <p:blipFill rotWithShape="1">
          <a:blip r:embed="rId2">
            <a:extLst>
              <a:ext uri="{28A0092B-C50C-407E-A947-70E740481C1C}">
                <a14:useLocalDpi xmlns:a14="http://schemas.microsoft.com/office/drawing/2010/main" val="0"/>
              </a:ext>
            </a:extLst>
          </a:blip>
          <a:srcRect r="32021"/>
          <a:stretch/>
        </p:blipFill>
        <p:spPr>
          <a:xfrm>
            <a:off x="335504" y="1699496"/>
            <a:ext cx="5502722" cy="4613975"/>
          </a:xfrm>
          <a:prstGeom prst="rect">
            <a:avLst/>
          </a:prstGeom>
        </p:spPr>
      </p:pic>
      <p:grpSp>
        <p:nvGrpSpPr>
          <p:cNvPr id="15" name="Grupo 14">
            <a:extLst>
              <a:ext uri="{FF2B5EF4-FFF2-40B4-BE49-F238E27FC236}">
                <a16:creationId xmlns:a16="http://schemas.microsoft.com/office/drawing/2014/main" id="{92F18284-3971-E96D-A712-7528BC2A3AA0}"/>
              </a:ext>
            </a:extLst>
          </p:cNvPr>
          <p:cNvGrpSpPr/>
          <p:nvPr/>
        </p:nvGrpSpPr>
        <p:grpSpPr>
          <a:xfrm>
            <a:off x="6853668" y="1432874"/>
            <a:ext cx="4788435" cy="5312005"/>
            <a:chOff x="6472801" y="1593898"/>
            <a:chExt cx="5105203" cy="5264102"/>
          </a:xfrm>
        </p:grpSpPr>
        <p:grpSp>
          <p:nvGrpSpPr>
            <p:cNvPr id="14" name="Grupo 13">
              <a:extLst>
                <a:ext uri="{FF2B5EF4-FFF2-40B4-BE49-F238E27FC236}">
                  <a16:creationId xmlns:a16="http://schemas.microsoft.com/office/drawing/2014/main" id="{8A3EF66E-CF4E-187D-6DA9-9D86DCDECCF1}"/>
                </a:ext>
              </a:extLst>
            </p:cNvPr>
            <p:cNvGrpSpPr/>
            <p:nvPr/>
          </p:nvGrpSpPr>
          <p:grpSpPr>
            <a:xfrm>
              <a:off x="6472801" y="1593898"/>
              <a:ext cx="5105203" cy="5264102"/>
              <a:chOff x="6472801" y="1593898"/>
              <a:chExt cx="5105203" cy="5264102"/>
            </a:xfrm>
          </p:grpSpPr>
          <p:sp>
            <p:nvSpPr>
              <p:cNvPr id="13" name="Rectángulo 12">
                <a:extLst>
                  <a:ext uri="{FF2B5EF4-FFF2-40B4-BE49-F238E27FC236}">
                    <a16:creationId xmlns:a16="http://schemas.microsoft.com/office/drawing/2014/main" id="{A1C4303D-A060-5E6E-DF11-D61CED1F1A0E}"/>
                  </a:ext>
                </a:extLst>
              </p:cNvPr>
              <p:cNvSpPr/>
              <p:nvPr/>
            </p:nvSpPr>
            <p:spPr>
              <a:xfrm>
                <a:off x="6472801" y="4140212"/>
                <a:ext cx="5105203" cy="271778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3" name="Imagen 2">
                <a:extLst>
                  <a:ext uri="{FF2B5EF4-FFF2-40B4-BE49-F238E27FC236}">
                    <a16:creationId xmlns:a16="http://schemas.microsoft.com/office/drawing/2014/main" id="{F214B434-313A-FAA7-44BA-F73FF9808EE3}"/>
                  </a:ext>
                </a:extLst>
              </p:cNvPr>
              <p:cNvPicPr>
                <a:picLocks noChangeAspect="1"/>
              </p:cNvPicPr>
              <p:nvPr/>
            </p:nvPicPr>
            <p:blipFill>
              <a:blip r:embed="rId3"/>
              <a:stretch>
                <a:fillRect/>
              </a:stretch>
            </p:blipFill>
            <p:spPr>
              <a:xfrm>
                <a:off x="6472801" y="1593898"/>
                <a:ext cx="5105203" cy="2546314"/>
              </a:xfrm>
              <a:prstGeom prst="rect">
                <a:avLst/>
              </a:prstGeom>
            </p:spPr>
          </p:pic>
        </p:grpSp>
        <p:pic>
          <p:nvPicPr>
            <p:cNvPr id="12" name="Imagen 11" descr="Imagen que contiene verde, par, pieza, tabla&#10;&#10;Descripción generada automáticamente">
              <a:extLst>
                <a:ext uri="{FF2B5EF4-FFF2-40B4-BE49-F238E27FC236}">
                  <a16:creationId xmlns:a16="http://schemas.microsoft.com/office/drawing/2014/main" id="{501607B9-1FCA-C4AB-DB6F-674D1001D8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59478" y="4087954"/>
              <a:ext cx="2331848" cy="2755138"/>
            </a:xfrm>
            <a:prstGeom prst="rect">
              <a:avLst/>
            </a:prstGeom>
          </p:spPr>
        </p:pic>
      </p:grpSp>
    </p:spTree>
    <p:extLst>
      <p:ext uri="{BB962C8B-B14F-4D97-AF65-F5344CB8AC3E}">
        <p14:creationId xmlns:p14="http://schemas.microsoft.com/office/powerpoint/2010/main" val="1771054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68E81188-952F-FF76-4656-239C36954F45}"/>
              </a:ext>
            </a:extLst>
          </p:cNvPr>
          <p:cNvSpPr txBox="1"/>
          <p:nvPr/>
        </p:nvSpPr>
        <p:spPr>
          <a:xfrm>
            <a:off x="242556" y="233916"/>
            <a:ext cx="1762021" cy="369332"/>
          </a:xfrm>
          <a:prstGeom prst="rect">
            <a:avLst/>
          </a:prstGeom>
          <a:noFill/>
        </p:spPr>
        <p:txBody>
          <a:bodyPr wrap="none" rtlCol="0">
            <a:spAutoFit/>
          </a:bodyPr>
          <a:lstStyle/>
          <a:p>
            <a:r>
              <a:rPr lang="es-ES" dirty="0">
                <a:latin typeface="Helvetica" panose="020B0604020202020204" pitchFamily="34" charset="0"/>
                <a:cs typeface="Helvetica" panose="020B0604020202020204" pitchFamily="34" charset="0"/>
              </a:rPr>
              <a:t>Fase de diseño</a:t>
            </a:r>
          </a:p>
        </p:txBody>
      </p:sp>
      <p:cxnSp>
        <p:nvCxnSpPr>
          <p:cNvPr id="5" name="Conector recto 4">
            <a:extLst>
              <a:ext uri="{FF2B5EF4-FFF2-40B4-BE49-F238E27FC236}">
                <a16:creationId xmlns:a16="http://schemas.microsoft.com/office/drawing/2014/main" id="{6B9E21EB-704C-E1C9-2D0E-D5B4725CA4F6}"/>
              </a:ext>
            </a:extLst>
          </p:cNvPr>
          <p:cNvCxnSpPr>
            <a:cxnSpLocks/>
          </p:cNvCxnSpPr>
          <p:nvPr/>
        </p:nvCxnSpPr>
        <p:spPr>
          <a:xfrm>
            <a:off x="335504" y="706009"/>
            <a:ext cx="19145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CuadroTexto 7">
            <a:extLst>
              <a:ext uri="{FF2B5EF4-FFF2-40B4-BE49-F238E27FC236}">
                <a16:creationId xmlns:a16="http://schemas.microsoft.com/office/drawing/2014/main" id="{4506147B-D4AA-58C9-00B7-84366198FFD0}"/>
              </a:ext>
            </a:extLst>
          </p:cNvPr>
          <p:cNvSpPr txBox="1"/>
          <p:nvPr/>
        </p:nvSpPr>
        <p:spPr>
          <a:xfrm>
            <a:off x="335504" y="1613186"/>
            <a:ext cx="3689741" cy="2123658"/>
          </a:xfrm>
          <a:prstGeom prst="rect">
            <a:avLst/>
          </a:prstGeom>
          <a:noFill/>
        </p:spPr>
        <p:txBody>
          <a:bodyPr wrap="square">
            <a:spAutoFit/>
          </a:bodyPr>
          <a:lstStyle/>
          <a:p>
            <a:r>
              <a:rPr lang="es-ES" sz="2200" dirty="0">
                <a:latin typeface="Helvetica" panose="020B0604020202020204" pitchFamily="34" charset="0"/>
                <a:cs typeface="Helvetica" panose="020B0604020202020204" pitchFamily="34" charset="0"/>
              </a:rPr>
              <a:t>Si queremos jugar con más tonalidades, usaremos las combinaciones de </a:t>
            </a:r>
            <a:r>
              <a:rPr lang="es-ES" sz="2200" b="1" dirty="0">
                <a:latin typeface="Helvetica" panose="020B0604020202020204" pitchFamily="34" charset="0"/>
                <a:cs typeface="Helvetica" panose="020B0604020202020204" pitchFamily="34" charset="0"/>
              </a:rPr>
              <a:t>TRIADAS</a:t>
            </a:r>
            <a:r>
              <a:rPr lang="es-ES" sz="2200" dirty="0">
                <a:latin typeface="Helvetica" panose="020B0604020202020204" pitchFamily="34" charset="0"/>
                <a:cs typeface="Helvetica" panose="020B0604020202020204" pitchFamily="34" charset="0"/>
              </a:rPr>
              <a:t> de colores y las </a:t>
            </a:r>
            <a:r>
              <a:rPr lang="es-ES" sz="2200" b="1" dirty="0">
                <a:latin typeface="Helvetica" panose="020B0604020202020204" pitchFamily="34" charset="0"/>
                <a:cs typeface="Helvetica" panose="020B0604020202020204" pitchFamily="34" charset="0"/>
              </a:rPr>
              <a:t>TETRAÉDRICAS</a:t>
            </a:r>
            <a:endParaRPr lang="es-ES" sz="800" b="1" dirty="0">
              <a:latin typeface="Helvetica" panose="020B0604020202020204" pitchFamily="34" charset="0"/>
              <a:cs typeface="Helvetica" panose="020B0604020202020204" pitchFamily="34" charset="0"/>
            </a:endParaRPr>
          </a:p>
          <a:p>
            <a:pPr algn="ctr"/>
            <a:r>
              <a:rPr lang="es-ES" sz="2200" dirty="0">
                <a:latin typeface="Helvetica" panose="020B0604020202020204" pitchFamily="34" charset="0"/>
                <a:cs typeface="Helvetica" panose="020B0604020202020204" pitchFamily="34" charset="0"/>
              </a:rPr>
              <a:t>	</a:t>
            </a:r>
          </a:p>
        </p:txBody>
      </p:sp>
      <p:pic>
        <p:nvPicPr>
          <p:cNvPr id="17" name="Imagen 16" descr="Gráfico, Gráfico de proyección solar&#10;&#10;Descripción generada automáticamente">
            <a:extLst>
              <a:ext uri="{FF2B5EF4-FFF2-40B4-BE49-F238E27FC236}">
                <a16:creationId xmlns:a16="http://schemas.microsoft.com/office/drawing/2014/main" id="{E1F19AA7-F403-B04A-72DE-2C51D462C174}"/>
              </a:ext>
            </a:extLst>
          </p:cNvPr>
          <p:cNvPicPr>
            <a:picLocks noChangeAspect="1"/>
          </p:cNvPicPr>
          <p:nvPr/>
        </p:nvPicPr>
        <p:blipFill rotWithShape="1">
          <a:blip r:embed="rId2">
            <a:extLst>
              <a:ext uri="{28A0092B-C50C-407E-A947-70E740481C1C}">
                <a14:useLocalDpi xmlns:a14="http://schemas.microsoft.com/office/drawing/2010/main" val="0"/>
              </a:ext>
            </a:extLst>
          </a:blip>
          <a:srcRect l="26605" r="23910"/>
          <a:stretch/>
        </p:blipFill>
        <p:spPr>
          <a:xfrm>
            <a:off x="4631315" y="922059"/>
            <a:ext cx="7428710" cy="5629570"/>
          </a:xfrm>
          <a:prstGeom prst="rect">
            <a:avLst/>
          </a:prstGeom>
        </p:spPr>
      </p:pic>
    </p:spTree>
    <p:extLst>
      <p:ext uri="{BB962C8B-B14F-4D97-AF65-F5344CB8AC3E}">
        <p14:creationId xmlns:p14="http://schemas.microsoft.com/office/powerpoint/2010/main" val="26144626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68E81188-952F-FF76-4656-239C36954F45}"/>
              </a:ext>
            </a:extLst>
          </p:cNvPr>
          <p:cNvSpPr txBox="1"/>
          <p:nvPr/>
        </p:nvSpPr>
        <p:spPr>
          <a:xfrm>
            <a:off x="242556" y="233916"/>
            <a:ext cx="1762021" cy="369332"/>
          </a:xfrm>
          <a:prstGeom prst="rect">
            <a:avLst/>
          </a:prstGeom>
          <a:noFill/>
        </p:spPr>
        <p:txBody>
          <a:bodyPr wrap="none" rtlCol="0">
            <a:spAutoFit/>
          </a:bodyPr>
          <a:lstStyle/>
          <a:p>
            <a:r>
              <a:rPr lang="es-ES" dirty="0">
                <a:latin typeface="Helvetica" panose="020B0604020202020204" pitchFamily="34" charset="0"/>
                <a:cs typeface="Helvetica" panose="020B0604020202020204" pitchFamily="34" charset="0"/>
              </a:rPr>
              <a:t>Fase de diseño</a:t>
            </a:r>
          </a:p>
        </p:txBody>
      </p:sp>
      <p:cxnSp>
        <p:nvCxnSpPr>
          <p:cNvPr id="5" name="Conector recto 4">
            <a:extLst>
              <a:ext uri="{FF2B5EF4-FFF2-40B4-BE49-F238E27FC236}">
                <a16:creationId xmlns:a16="http://schemas.microsoft.com/office/drawing/2014/main" id="{6B9E21EB-704C-E1C9-2D0E-D5B4725CA4F6}"/>
              </a:ext>
            </a:extLst>
          </p:cNvPr>
          <p:cNvCxnSpPr>
            <a:cxnSpLocks/>
          </p:cNvCxnSpPr>
          <p:nvPr/>
        </p:nvCxnSpPr>
        <p:spPr>
          <a:xfrm>
            <a:off x="335504" y="706009"/>
            <a:ext cx="19145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CuadroTexto 7">
            <a:extLst>
              <a:ext uri="{FF2B5EF4-FFF2-40B4-BE49-F238E27FC236}">
                <a16:creationId xmlns:a16="http://schemas.microsoft.com/office/drawing/2014/main" id="{4506147B-D4AA-58C9-00B7-84366198FFD0}"/>
              </a:ext>
            </a:extLst>
          </p:cNvPr>
          <p:cNvSpPr txBox="1"/>
          <p:nvPr/>
        </p:nvSpPr>
        <p:spPr>
          <a:xfrm>
            <a:off x="335504" y="893342"/>
            <a:ext cx="5760496" cy="3739485"/>
          </a:xfrm>
          <a:prstGeom prst="rect">
            <a:avLst/>
          </a:prstGeom>
          <a:noFill/>
        </p:spPr>
        <p:txBody>
          <a:bodyPr wrap="square">
            <a:spAutoFit/>
          </a:bodyPr>
          <a:lstStyle/>
          <a:p>
            <a:r>
              <a:rPr lang="es-ES" sz="2200" dirty="0">
                <a:latin typeface="Helvetica" panose="020B0604020202020204" pitchFamily="34" charset="0"/>
                <a:cs typeface="Helvetica" panose="020B0604020202020204" pitchFamily="34" charset="0"/>
              </a:rPr>
              <a:t>La última de las combinaciones (aunque existen más, como el </a:t>
            </a:r>
            <a:r>
              <a:rPr lang="es-ES" sz="2200" b="1" i="1" dirty="0">
                <a:solidFill>
                  <a:srgbClr val="FFFF00"/>
                </a:solidFill>
                <a:latin typeface="Helvetica" panose="020B0604020202020204" pitchFamily="34" charset="0"/>
                <a:cs typeface="Helvetica" panose="020B0604020202020204" pitchFamily="34" charset="0"/>
                <a:hlinkClick r:id="rId2">
                  <a:extLst>
                    <a:ext uri="{A12FA001-AC4F-418D-AE19-62706E023703}">
                      <ahyp:hlinkClr xmlns:ahyp="http://schemas.microsoft.com/office/drawing/2018/hyperlinkcolor" val="tx"/>
                    </a:ext>
                  </a:extLst>
                </a:hlinkClick>
              </a:rPr>
              <a:t>Split complementary</a:t>
            </a:r>
            <a:r>
              <a:rPr lang="es-ES" sz="2200" dirty="0">
                <a:latin typeface="Helvetica" panose="020B0604020202020204" pitchFamily="34" charset="0"/>
                <a:cs typeface="Helvetica" panose="020B0604020202020204" pitchFamily="34" charset="0"/>
              </a:rPr>
              <a:t>) son los colores </a:t>
            </a:r>
            <a:r>
              <a:rPr lang="es-ES" sz="2200" b="1" dirty="0">
                <a:latin typeface="Helvetica" panose="020B0604020202020204" pitchFamily="34" charset="0"/>
                <a:cs typeface="Helvetica" panose="020B0604020202020204" pitchFamily="34" charset="0"/>
              </a:rPr>
              <a:t>ANÁLOGOS</a:t>
            </a:r>
            <a:r>
              <a:rPr lang="es-ES" sz="2200" dirty="0">
                <a:latin typeface="Helvetica" panose="020B0604020202020204" pitchFamily="34" charset="0"/>
                <a:cs typeface="Helvetica" panose="020B0604020202020204" pitchFamily="34" charset="0"/>
              </a:rPr>
              <a:t>, que son aquellos entre los que existe algo de contraste y se conserva la armonía. Sirven para dar un aspecto más sutil a las interfaces. </a:t>
            </a:r>
          </a:p>
          <a:p>
            <a:endParaRPr lang="es-ES" sz="100" dirty="0">
              <a:latin typeface="Helvetica" panose="020B0604020202020204" pitchFamily="34" charset="0"/>
              <a:cs typeface="Helvetica" panose="020B0604020202020204" pitchFamily="34" charset="0"/>
            </a:endParaRPr>
          </a:p>
          <a:p>
            <a:endParaRPr lang="es-ES" sz="1600" dirty="0">
              <a:latin typeface="Helvetica" panose="020B0604020202020204" pitchFamily="34" charset="0"/>
              <a:cs typeface="Helvetica" panose="020B0604020202020204" pitchFamily="34" charset="0"/>
            </a:endParaRPr>
          </a:p>
          <a:p>
            <a:r>
              <a:rPr lang="es-ES" sz="2200" dirty="0">
                <a:latin typeface="Helvetica" panose="020B0604020202020204" pitchFamily="34" charset="0"/>
                <a:cs typeface="Helvetica" panose="020B0604020202020204" pitchFamily="34" charset="0"/>
              </a:rPr>
              <a:t>Probando las combinaciones sales cosas inesperadamente resultonas…</a:t>
            </a:r>
            <a:endParaRPr lang="es-ES" sz="800" b="1" dirty="0">
              <a:latin typeface="Helvetica" panose="020B0604020202020204" pitchFamily="34" charset="0"/>
              <a:cs typeface="Helvetica" panose="020B0604020202020204" pitchFamily="34" charset="0"/>
            </a:endParaRPr>
          </a:p>
          <a:p>
            <a:pPr algn="ctr"/>
            <a:r>
              <a:rPr lang="es-ES" sz="2200" dirty="0">
                <a:latin typeface="Helvetica" panose="020B0604020202020204" pitchFamily="34" charset="0"/>
                <a:cs typeface="Helvetica" panose="020B0604020202020204" pitchFamily="34" charset="0"/>
              </a:rPr>
              <a:t>	</a:t>
            </a:r>
          </a:p>
        </p:txBody>
      </p:sp>
      <p:pic>
        <p:nvPicPr>
          <p:cNvPr id="3" name="Imagen 2" descr="Gráfico&#10;&#10;Descripción generada automáticamente">
            <a:extLst>
              <a:ext uri="{FF2B5EF4-FFF2-40B4-BE49-F238E27FC236}">
                <a16:creationId xmlns:a16="http://schemas.microsoft.com/office/drawing/2014/main" id="{DA1303B0-75B1-D0A4-251E-FC26EFFD316E}"/>
              </a:ext>
            </a:extLst>
          </p:cNvPr>
          <p:cNvPicPr>
            <a:picLocks noChangeAspect="1"/>
          </p:cNvPicPr>
          <p:nvPr/>
        </p:nvPicPr>
        <p:blipFill rotWithShape="1">
          <a:blip r:embed="rId3">
            <a:extLst>
              <a:ext uri="{28A0092B-C50C-407E-A947-70E740481C1C}">
                <a14:useLocalDpi xmlns:a14="http://schemas.microsoft.com/office/drawing/2010/main" val="0"/>
              </a:ext>
            </a:extLst>
          </a:blip>
          <a:srcRect l="28419" r="31883"/>
          <a:stretch/>
        </p:blipFill>
        <p:spPr>
          <a:xfrm>
            <a:off x="6385766" y="362891"/>
            <a:ext cx="5458120" cy="5155965"/>
          </a:xfrm>
          <a:prstGeom prst="rect">
            <a:avLst/>
          </a:prstGeom>
        </p:spPr>
      </p:pic>
      <p:pic>
        <p:nvPicPr>
          <p:cNvPr id="7" name="Imagen 6" descr="Un coche deportivo de color verde&#10;&#10;Descripción generada automáticamente">
            <a:extLst>
              <a:ext uri="{FF2B5EF4-FFF2-40B4-BE49-F238E27FC236}">
                <a16:creationId xmlns:a16="http://schemas.microsoft.com/office/drawing/2014/main" id="{DD8F6D39-AE21-71F3-63C3-404B6F7D16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4081" y="4388550"/>
            <a:ext cx="4962319" cy="2260612"/>
          </a:xfrm>
          <a:prstGeom prst="rect">
            <a:avLst/>
          </a:prstGeom>
        </p:spPr>
      </p:pic>
    </p:spTree>
    <p:extLst>
      <p:ext uri="{BB962C8B-B14F-4D97-AF65-F5344CB8AC3E}">
        <p14:creationId xmlns:p14="http://schemas.microsoft.com/office/powerpoint/2010/main" val="30695378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68E81188-952F-FF76-4656-239C36954F45}"/>
              </a:ext>
            </a:extLst>
          </p:cNvPr>
          <p:cNvSpPr txBox="1"/>
          <p:nvPr/>
        </p:nvSpPr>
        <p:spPr>
          <a:xfrm>
            <a:off x="242556" y="233916"/>
            <a:ext cx="1762021" cy="369332"/>
          </a:xfrm>
          <a:prstGeom prst="rect">
            <a:avLst/>
          </a:prstGeom>
          <a:noFill/>
        </p:spPr>
        <p:txBody>
          <a:bodyPr wrap="none" rtlCol="0">
            <a:spAutoFit/>
          </a:bodyPr>
          <a:lstStyle/>
          <a:p>
            <a:r>
              <a:rPr lang="es-ES" dirty="0">
                <a:latin typeface="Helvetica" panose="020B0604020202020204" pitchFamily="34" charset="0"/>
                <a:cs typeface="Helvetica" panose="020B0604020202020204" pitchFamily="34" charset="0"/>
              </a:rPr>
              <a:t>Fase de diseño</a:t>
            </a:r>
          </a:p>
        </p:txBody>
      </p:sp>
      <p:cxnSp>
        <p:nvCxnSpPr>
          <p:cNvPr id="5" name="Conector recto 4">
            <a:extLst>
              <a:ext uri="{FF2B5EF4-FFF2-40B4-BE49-F238E27FC236}">
                <a16:creationId xmlns:a16="http://schemas.microsoft.com/office/drawing/2014/main" id="{6B9E21EB-704C-E1C9-2D0E-D5B4725CA4F6}"/>
              </a:ext>
            </a:extLst>
          </p:cNvPr>
          <p:cNvCxnSpPr>
            <a:cxnSpLocks/>
          </p:cNvCxnSpPr>
          <p:nvPr/>
        </p:nvCxnSpPr>
        <p:spPr>
          <a:xfrm>
            <a:off x="335504" y="706009"/>
            <a:ext cx="19145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CuadroTexto 7">
            <a:extLst>
              <a:ext uri="{FF2B5EF4-FFF2-40B4-BE49-F238E27FC236}">
                <a16:creationId xmlns:a16="http://schemas.microsoft.com/office/drawing/2014/main" id="{4506147B-D4AA-58C9-00B7-84366198FFD0}"/>
              </a:ext>
            </a:extLst>
          </p:cNvPr>
          <p:cNvSpPr txBox="1"/>
          <p:nvPr/>
        </p:nvSpPr>
        <p:spPr>
          <a:xfrm>
            <a:off x="242556" y="1005028"/>
            <a:ext cx="3094533" cy="5509200"/>
          </a:xfrm>
          <a:prstGeom prst="rect">
            <a:avLst/>
          </a:prstGeom>
          <a:noFill/>
        </p:spPr>
        <p:txBody>
          <a:bodyPr wrap="square">
            <a:spAutoFit/>
          </a:bodyPr>
          <a:lstStyle/>
          <a:p>
            <a:r>
              <a:rPr lang="es-ES" sz="2200" dirty="0">
                <a:latin typeface="Helvetica" panose="020B0604020202020204" pitchFamily="34" charset="0"/>
                <a:cs typeface="Helvetica" panose="020B0604020202020204" pitchFamily="34" charset="0"/>
              </a:rPr>
              <a:t>A parte del color dominante (</a:t>
            </a:r>
            <a:r>
              <a:rPr lang="es-ES" sz="2200" i="1" dirty="0" err="1">
                <a:latin typeface="Helvetica" panose="020B0604020202020204" pitchFamily="34" charset="0"/>
                <a:cs typeface="Helvetica" panose="020B0604020202020204" pitchFamily="34" charset="0"/>
              </a:rPr>
              <a:t>hue</a:t>
            </a:r>
            <a:r>
              <a:rPr lang="es-ES" sz="2200" dirty="0">
                <a:latin typeface="Helvetica" panose="020B0604020202020204" pitchFamily="34" charset="0"/>
                <a:cs typeface="Helvetica" panose="020B0604020202020204" pitchFamily="34" charset="0"/>
              </a:rPr>
              <a:t>) existen los matices (</a:t>
            </a:r>
            <a:r>
              <a:rPr lang="es-ES" sz="2200" i="1" dirty="0" err="1">
                <a:latin typeface="Helvetica" panose="020B0604020202020204" pitchFamily="34" charset="0"/>
                <a:cs typeface="Helvetica" panose="020B0604020202020204" pitchFamily="34" charset="0"/>
              </a:rPr>
              <a:t>shades</a:t>
            </a:r>
            <a:r>
              <a:rPr lang="es-ES" sz="2200" dirty="0">
                <a:latin typeface="Helvetica" panose="020B0604020202020204" pitchFamily="34" charset="0"/>
                <a:cs typeface="Helvetica" panose="020B0604020202020204" pitchFamily="34" charset="0"/>
              </a:rPr>
              <a:t>), las tonalidades (</a:t>
            </a:r>
            <a:r>
              <a:rPr lang="es-ES" sz="2200" i="1" dirty="0" err="1">
                <a:latin typeface="Helvetica" panose="020B0604020202020204" pitchFamily="34" charset="0"/>
                <a:cs typeface="Helvetica" panose="020B0604020202020204" pitchFamily="34" charset="0"/>
              </a:rPr>
              <a:t>tints</a:t>
            </a:r>
            <a:r>
              <a:rPr lang="es-ES" sz="2200" dirty="0">
                <a:latin typeface="Helvetica" panose="020B0604020202020204" pitchFamily="34" charset="0"/>
                <a:cs typeface="Helvetica" panose="020B0604020202020204" pitchFamily="34" charset="0"/>
              </a:rPr>
              <a:t>) y los tonos (</a:t>
            </a:r>
            <a:r>
              <a:rPr lang="es-ES" sz="2200" i="1" dirty="0">
                <a:latin typeface="Helvetica" panose="020B0604020202020204" pitchFamily="34" charset="0"/>
                <a:cs typeface="Helvetica" panose="020B0604020202020204" pitchFamily="34" charset="0"/>
              </a:rPr>
              <a:t>tones</a:t>
            </a:r>
            <a:r>
              <a:rPr lang="es-ES" sz="2200" dirty="0">
                <a:latin typeface="Helvetica" panose="020B0604020202020204" pitchFamily="34" charset="0"/>
                <a:cs typeface="Helvetica" panose="020B0604020202020204" pitchFamily="34" charset="0"/>
              </a:rPr>
              <a:t>) y se consiguen aplicando una gama de negros, blancos y grises y que podemos usarlos como una paleta de colores secundaria o extendida de nuestra aplicación. La combinación </a:t>
            </a:r>
            <a:r>
              <a:rPr lang="es-ES" sz="2200" i="1" dirty="0" err="1">
                <a:latin typeface="Helvetica" panose="020B0604020202020204" pitchFamily="34" charset="0"/>
                <a:cs typeface="Helvetica" panose="020B0604020202020204" pitchFamily="34" charset="0"/>
              </a:rPr>
              <a:t>Tint</a:t>
            </a:r>
            <a:r>
              <a:rPr lang="es-ES" sz="2200" dirty="0">
                <a:latin typeface="Helvetica" panose="020B0604020202020204" pitchFamily="34" charset="0"/>
                <a:cs typeface="Helvetica" panose="020B0604020202020204" pitchFamily="34" charset="0"/>
              </a:rPr>
              <a:t> es muy utilizada para conseguir tonos pastel.</a:t>
            </a:r>
          </a:p>
        </p:txBody>
      </p:sp>
      <p:pic>
        <p:nvPicPr>
          <p:cNvPr id="17" name="Imagen 16" descr="Gráfico, Gráfico de proyección solar&#10;&#10;Descripción generada automáticamente">
            <a:extLst>
              <a:ext uri="{FF2B5EF4-FFF2-40B4-BE49-F238E27FC236}">
                <a16:creationId xmlns:a16="http://schemas.microsoft.com/office/drawing/2014/main" id="{34EE28E0-2417-43D8-DEF3-B245CA77084E}"/>
              </a:ext>
            </a:extLst>
          </p:cNvPr>
          <p:cNvPicPr>
            <a:picLocks noChangeAspect="1"/>
          </p:cNvPicPr>
          <p:nvPr/>
        </p:nvPicPr>
        <p:blipFill rotWithShape="1">
          <a:blip r:embed="rId2">
            <a:extLst>
              <a:ext uri="{28A0092B-C50C-407E-A947-70E740481C1C}">
                <a14:useLocalDpi xmlns:a14="http://schemas.microsoft.com/office/drawing/2010/main" val="0"/>
              </a:ext>
            </a:extLst>
          </a:blip>
          <a:srcRect l="8090" t="4789" r="8853" b="11974"/>
          <a:stretch/>
        </p:blipFill>
        <p:spPr>
          <a:xfrm>
            <a:off x="3413448" y="354560"/>
            <a:ext cx="8673455" cy="6148879"/>
          </a:xfrm>
          <a:prstGeom prst="rect">
            <a:avLst/>
          </a:prstGeom>
        </p:spPr>
      </p:pic>
    </p:spTree>
    <p:extLst>
      <p:ext uri="{BB962C8B-B14F-4D97-AF65-F5344CB8AC3E}">
        <p14:creationId xmlns:p14="http://schemas.microsoft.com/office/powerpoint/2010/main" val="34240176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68E81188-952F-FF76-4656-239C36954F45}"/>
              </a:ext>
            </a:extLst>
          </p:cNvPr>
          <p:cNvSpPr txBox="1"/>
          <p:nvPr/>
        </p:nvSpPr>
        <p:spPr>
          <a:xfrm>
            <a:off x="242556" y="233916"/>
            <a:ext cx="1762021" cy="369332"/>
          </a:xfrm>
          <a:prstGeom prst="rect">
            <a:avLst/>
          </a:prstGeom>
          <a:noFill/>
        </p:spPr>
        <p:txBody>
          <a:bodyPr wrap="none" rtlCol="0">
            <a:spAutoFit/>
          </a:bodyPr>
          <a:lstStyle/>
          <a:p>
            <a:r>
              <a:rPr lang="es-ES" dirty="0">
                <a:latin typeface="Helvetica" panose="020B0604020202020204" pitchFamily="34" charset="0"/>
                <a:cs typeface="Helvetica" panose="020B0604020202020204" pitchFamily="34" charset="0"/>
              </a:rPr>
              <a:t>Fase de diseño</a:t>
            </a:r>
          </a:p>
        </p:txBody>
      </p:sp>
      <p:cxnSp>
        <p:nvCxnSpPr>
          <p:cNvPr id="5" name="Conector recto 4">
            <a:extLst>
              <a:ext uri="{FF2B5EF4-FFF2-40B4-BE49-F238E27FC236}">
                <a16:creationId xmlns:a16="http://schemas.microsoft.com/office/drawing/2014/main" id="{6B9E21EB-704C-E1C9-2D0E-D5B4725CA4F6}"/>
              </a:ext>
            </a:extLst>
          </p:cNvPr>
          <p:cNvCxnSpPr>
            <a:cxnSpLocks/>
          </p:cNvCxnSpPr>
          <p:nvPr/>
        </p:nvCxnSpPr>
        <p:spPr>
          <a:xfrm>
            <a:off x="335504" y="706009"/>
            <a:ext cx="19145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7F68F2A7-B154-DA7F-C242-91FE5589339B}"/>
              </a:ext>
            </a:extLst>
          </p:cNvPr>
          <p:cNvSpPr txBox="1"/>
          <p:nvPr/>
        </p:nvSpPr>
        <p:spPr>
          <a:xfrm>
            <a:off x="425817" y="2276413"/>
            <a:ext cx="5327820" cy="2908489"/>
          </a:xfrm>
          <a:prstGeom prst="rect">
            <a:avLst/>
          </a:prstGeom>
          <a:noFill/>
        </p:spPr>
        <p:txBody>
          <a:bodyPr wrap="square">
            <a:spAutoFit/>
          </a:bodyPr>
          <a:lstStyle/>
          <a:p>
            <a:pPr marL="342900" indent="-342900">
              <a:lnSpc>
                <a:spcPct val="150000"/>
              </a:lnSpc>
              <a:spcAft>
                <a:spcPts val="600"/>
              </a:spcAft>
              <a:buFont typeface="Wingdings" panose="05000000000000000000" pitchFamily="2" charset="2"/>
              <a:buChar char="ü"/>
            </a:pPr>
            <a:r>
              <a:rPr lang="es-ES" sz="2400" dirty="0">
                <a:latin typeface="Helvetica" panose="020B0604020202020204"/>
                <a:cs typeface="Helvetica" panose="020B0604020202020204"/>
              </a:rPr>
              <a:t>Los colores transmiten emociones.</a:t>
            </a:r>
          </a:p>
          <a:p>
            <a:pPr marL="342900" indent="-342900">
              <a:lnSpc>
                <a:spcPct val="150000"/>
              </a:lnSpc>
              <a:spcAft>
                <a:spcPts val="600"/>
              </a:spcAft>
              <a:buFont typeface="Wingdings" panose="05000000000000000000" pitchFamily="2" charset="2"/>
              <a:buChar char="ü"/>
            </a:pPr>
            <a:r>
              <a:rPr lang="es-ES" sz="2400" dirty="0">
                <a:latin typeface="Helvetica" panose="020B0604020202020204"/>
                <a:cs typeface="Helvetica" panose="020B0604020202020204"/>
              </a:rPr>
              <a:t>Úsalos convenientemente. </a:t>
            </a:r>
          </a:p>
          <a:p>
            <a:pPr marL="342900" indent="-342900">
              <a:spcAft>
                <a:spcPts val="600"/>
              </a:spcAft>
              <a:buFont typeface="Wingdings" panose="05000000000000000000" pitchFamily="2" charset="2"/>
              <a:buChar char="ü"/>
            </a:pPr>
            <a:r>
              <a:rPr lang="es-ES" sz="2400" dirty="0">
                <a:latin typeface="Helvetica" panose="020B0604020202020204"/>
                <a:cs typeface="Helvetica" panose="020B0604020202020204"/>
              </a:rPr>
              <a:t>Medita sobre lo que quieres transmitir.</a:t>
            </a:r>
          </a:p>
          <a:p>
            <a:pPr marL="342900" indent="-342900">
              <a:spcAft>
                <a:spcPts val="600"/>
              </a:spcAft>
              <a:buFont typeface="Wingdings" panose="05000000000000000000" pitchFamily="2" charset="2"/>
              <a:buChar char="ü"/>
            </a:pPr>
            <a:r>
              <a:rPr lang="es-ES" sz="2400" dirty="0">
                <a:latin typeface="Helvetica" panose="020B0604020202020204"/>
                <a:cs typeface="Helvetica" panose="020B0604020202020204"/>
              </a:rPr>
              <a:t>Comprueba si está alineado con lo que quiere transmitir la marca.</a:t>
            </a:r>
          </a:p>
        </p:txBody>
      </p:sp>
      <p:pic>
        <p:nvPicPr>
          <p:cNvPr id="8" name="Imagen 7" descr="Diagrama&#10;&#10;Descripción generada automáticamente">
            <a:extLst>
              <a:ext uri="{FF2B5EF4-FFF2-40B4-BE49-F238E27FC236}">
                <a16:creationId xmlns:a16="http://schemas.microsoft.com/office/drawing/2014/main" id="{C3885136-8750-C03E-446D-29D8B6CF35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8364" y="0"/>
            <a:ext cx="5787851" cy="6858000"/>
          </a:xfrm>
          <a:prstGeom prst="rect">
            <a:avLst/>
          </a:prstGeom>
        </p:spPr>
      </p:pic>
      <p:sp>
        <p:nvSpPr>
          <p:cNvPr id="9" name="CuadroTexto 8">
            <a:extLst>
              <a:ext uri="{FF2B5EF4-FFF2-40B4-BE49-F238E27FC236}">
                <a16:creationId xmlns:a16="http://schemas.microsoft.com/office/drawing/2014/main" id="{AACA882D-C3C0-D80D-8CDE-758A7829FC0F}"/>
              </a:ext>
            </a:extLst>
          </p:cNvPr>
          <p:cNvSpPr txBox="1"/>
          <p:nvPr/>
        </p:nvSpPr>
        <p:spPr>
          <a:xfrm>
            <a:off x="425817" y="1673098"/>
            <a:ext cx="5327820" cy="461665"/>
          </a:xfrm>
          <a:prstGeom prst="rect">
            <a:avLst/>
          </a:prstGeom>
          <a:noFill/>
        </p:spPr>
        <p:txBody>
          <a:bodyPr wrap="square">
            <a:spAutoFit/>
          </a:bodyPr>
          <a:lstStyle/>
          <a:p>
            <a:pPr>
              <a:spcAft>
                <a:spcPts val="600"/>
              </a:spcAft>
            </a:pPr>
            <a:r>
              <a:rPr lang="es-ES" sz="2400" dirty="0">
                <a:latin typeface="Helvetica" panose="020B0604020202020204"/>
                <a:cs typeface="Helvetica" panose="020B0604020202020204"/>
              </a:rPr>
              <a:t>Los colores no son sólo colores….</a:t>
            </a:r>
          </a:p>
        </p:txBody>
      </p:sp>
    </p:spTree>
    <p:extLst>
      <p:ext uri="{BB962C8B-B14F-4D97-AF65-F5344CB8AC3E}">
        <p14:creationId xmlns:p14="http://schemas.microsoft.com/office/powerpoint/2010/main" val="18025016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68E81188-952F-FF76-4656-239C36954F45}"/>
              </a:ext>
            </a:extLst>
          </p:cNvPr>
          <p:cNvSpPr txBox="1"/>
          <p:nvPr/>
        </p:nvSpPr>
        <p:spPr>
          <a:xfrm>
            <a:off x="242556" y="233916"/>
            <a:ext cx="1762021" cy="369332"/>
          </a:xfrm>
          <a:prstGeom prst="rect">
            <a:avLst/>
          </a:prstGeom>
          <a:noFill/>
        </p:spPr>
        <p:txBody>
          <a:bodyPr wrap="none" rtlCol="0">
            <a:spAutoFit/>
          </a:bodyPr>
          <a:lstStyle/>
          <a:p>
            <a:r>
              <a:rPr lang="es-ES" dirty="0">
                <a:latin typeface="Helvetica" panose="020B0604020202020204" pitchFamily="34" charset="0"/>
                <a:cs typeface="Helvetica" panose="020B0604020202020204" pitchFamily="34" charset="0"/>
              </a:rPr>
              <a:t>Fase de diseño</a:t>
            </a:r>
          </a:p>
        </p:txBody>
      </p:sp>
      <p:cxnSp>
        <p:nvCxnSpPr>
          <p:cNvPr id="5" name="Conector recto 4">
            <a:extLst>
              <a:ext uri="{FF2B5EF4-FFF2-40B4-BE49-F238E27FC236}">
                <a16:creationId xmlns:a16="http://schemas.microsoft.com/office/drawing/2014/main" id="{6B9E21EB-704C-E1C9-2D0E-D5B4725CA4F6}"/>
              </a:ext>
            </a:extLst>
          </p:cNvPr>
          <p:cNvCxnSpPr>
            <a:cxnSpLocks/>
          </p:cNvCxnSpPr>
          <p:nvPr/>
        </p:nvCxnSpPr>
        <p:spPr>
          <a:xfrm>
            <a:off x="335504" y="706009"/>
            <a:ext cx="19145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CuadroTexto 6">
            <a:extLst>
              <a:ext uri="{FF2B5EF4-FFF2-40B4-BE49-F238E27FC236}">
                <a16:creationId xmlns:a16="http://schemas.microsoft.com/office/drawing/2014/main" id="{31E71381-F944-DFC0-76B1-8C64682F68A0}"/>
              </a:ext>
            </a:extLst>
          </p:cNvPr>
          <p:cNvSpPr txBox="1"/>
          <p:nvPr/>
        </p:nvSpPr>
        <p:spPr>
          <a:xfrm>
            <a:off x="335505" y="837415"/>
            <a:ext cx="11541186" cy="5878532"/>
          </a:xfrm>
          <a:prstGeom prst="rect">
            <a:avLst/>
          </a:prstGeom>
          <a:noFill/>
        </p:spPr>
        <p:txBody>
          <a:bodyPr wrap="square">
            <a:spAutoFit/>
          </a:bodyPr>
          <a:lstStyle/>
          <a:p>
            <a:r>
              <a:rPr lang="es-ES" sz="2400" dirty="0">
                <a:latin typeface="Helvetica" panose="020B0604020202020204" pitchFamily="34" charset="0"/>
                <a:cs typeface="Helvetica" panose="020B0604020202020204" pitchFamily="34" charset="0"/>
              </a:rPr>
              <a:t>3.- La </a:t>
            </a:r>
            <a:r>
              <a:rPr lang="es-ES" sz="2400" b="1" dirty="0">
                <a:solidFill>
                  <a:srgbClr val="FFF309"/>
                </a:solidFill>
                <a:latin typeface="Helvetica" panose="020B0604020202020204" pitchFamily="34" charset="0"/>
                <a:cs typeface="Helvetica" panose="020B0604020202020204" pitchFamily="34" charset="0"/>
              </a:rPr>
              <a:t>TIPOGRAFÍA</a:t>
            </a:r>
          </a:p>
          <a:p>
            <a:endParaRPr lang="es-ES" sz="900" dirty="0">
              <a:latin typeface="Helvetica" panose="020B0604020202020204" pitchFamily="34" charset="0"/>
              <a:cs typeface="Helvetica" panose="020B0604020202020204" pitchFamily="34" charset="0"/>
            </a:endParaRPr>
          </a:p>
          <a:p>
            <a:r>
              <a:rPr lang="es-ES" sz="2200" dirty="0">
                <a:latin typeface="Helvetica" panose="020B0604020202020204" pitchFamily="34" charset="0"/>
                <a:cs typeface="Helvetica" panose="020B0604020202020204" pitchFamily="34" charset="0"/>
              </a:rPr>
              <a:t>La tipografía es una de esas cosas que puede pasar desapercibida si está bien hecha, pero si no lo está entonces puede llamar poderosamente la atención.  A la hora de elegir una tipografía se debe tener en cuenta lo siguiente:</a:t>
            </a:r>
          </a:p>
          <a:p>
            <a:endParaRPr lang="es-ES" sz="2200" dirty="0">
              <a:latin typeface="Helvetica" panose="020B0604020202020204" pitchFamily="34" charset="0"/>
              <a:cs typeface="Helvetica" panose="020B0604020202020204" pitchFamily="34" charset="0"/>
            </a:endParaRPr>
          </a:p>
          <a:p>
            <a:pPr marL="800100" lvl="1" indent="-342900">
              <a:spcAft>
                <a:spcPts val="600"/>
              </a:spcAft>
              <a:buClr>
                <a:schemeClr val="accent2">
                  <a:lumMod val="75000"/>
                </a:schemeClr>
              </a:buClr>
              <a:buFont typeface="Courier New" panose="02070309020205020404" pitchFamily="49" charset="0"/>
              <a:buChar char="o"/>
            </a:pPr>
            <a:r>
              <a:rPr lang="es-ES" sz="2200" b="1" dirty="0">
                <a:latin typeface="Helvetica" panose="020B0604020202020204" pitchFamily="34" charset="0"/>
                <a:cs typeface="Helvetica" panose="020B0604020202020204" pitchFamily="34" charset="0"/>
              </a:rPr>
              <a:t>No</a:t>
            </a:r>
            <a:r>
              <a:rPr lang="es-ES" sz="2200" dirty="0">
                <a:latin typeface="Helvetica" panose="020B0604020202020204" pitchFamily="34" charset="0"/>
                <a:cs typeface="Helvetica" panose="020B0604020202020204" pitchFamily="34" charset="0"/>
              </a:rPr>
              <a:t> usar más de </a:t>
            </a:r>
            <a:r>
              <a:rPr lang="es-ES" sz="2200" b="1" dirty="0">
                <a:latin typeface="Helvetica" panose="020B0604020202020204" pitchFamily="34" charset="0"/>
                <a:cs typeface="Helvetica" panose="020B0604020202020204" pitchFamily="34" charset="0"/>
              </a:rPr>
              <a:t>tres</a:t>
            </a:r>
            <a:r>
              <a:rPr lang="es-ES" sz="2200" dirty="0">
                <a:latin typeface="Helvetica" panose="020B0604020202020204" pitchFamily="34" charset="0"/>
                <a:cs typeface="Helvetica" panose="020B0604020202020204" pitchFamily="34" charset="0"/>
              </a:rPr>
              <a:t> tipografías distintas.</a:t>
            </a:r>
          </a:p>
          <a:p>
            <a:pPr marL="800100" lvl="1" indent="-342900">
              <a:spcAft>
                <a:spcPts val="600"/>
              </a:spcAft>
              <a:buClr>
                <a:schemeClr val="accent2">
                  <a:lumMod val="75000"/>
                </a:schemeClr>
              </a:buClr>
              <a:buFont typeface="Courier New" panose="02070309020205020404" pitchFamily="49" charset="0"/>
              <a:buChar char="o"/>
            </a:pPr>
            <a:r>
              <a:rPr lang="es-ES" sz="2200" dirty="0">
                <a:latin typeface="Helvetica" panose="020B0604020202020204" pitchFamily="34" charset="0"/>
                <a:cs typeface="Helvetica" panose="020B0604020202020204" pitchFamily="34" charset="0"/>
              </a:rPr>
              <a:t>Utilizar fuentes legibles.</a:t>
            </a:r>
          </a:p>
          <a:p>
            <a:pPr marL="800100" lvl="1" indent="-342900">
              <a:spcAft>
                <a:spcPts val="600"/>
              </a:spcAft>
              <a:buClr>
                <a:schemeClr val="accent2">
                  <a:lumMod val="75000"/>
                </a:schemeClr>
              </a:buClr>
              <a:buFont typeface="Courier New" panose="02070309020205020404" pitchFamily="49" charset="0"/>
              <a:buChar char="o"/>
            </a:pPr>
            <a:r>
              <a:rPr lang="es-ES" sz="2200" dirty="0">
                <a:latin typeface="Helvetica" panose="020B0604020202020204" pitchFamily="34" charset="0"/>
                <a:cs typeface="Helvetica" panose="020B0604020202020204" pitchFamily="34" charset="0"/>
              </a:rPr>
              <a:t>Elegir un buen contraste entre el fondo y la letra.</a:t>
            </a:r>
          </a:p>
          <a:p>
            <a:pPr marL="800100" lvl="1" indent="-342900">
              <a:spcAft>
                <a:spcPts val="600"/>
              </a:spcAft>
              <a:buClr>
                <a:schemeClr val="accent2">
                  <a:lumMod val="75000"/>
                </a:schemeClr>
              </a:buClr>
              <a:buFont typeface="Courier New" panose="02070309020205020404" pitchFamily="49" charset="0"/>
              <a:buChar char="o"/>
            </a:pPr>
            <a:r>
              <a:rPr lang="es-ES" sz="2200" dirty="0">
                <a:latin typeface="Helvetica" panose="020B0604020202020204" pitchFamily="34" charset="0"/>
                <a:cs typeface="Helvetica" panose="020B0604020202020204" pitchFamily="34" charset="0"/>
              </a:rPr>
              <a:t>La fuente debe transmitir los valores de la empresa a la que representa: fresca, joven, profesional, sobria…</a:t>
            </a:r>
          </a:p>
          <a:p>
            <a:pPr marL="800100" lvl="1" indent="-342900">
              <a:spcAft>
                <a:spcPts val="600"/>
              </a:spcAft>
              <a:buClr>
                <a:schemeClr val="accent2">
                  <a:lumMod val="75000"/>
                </a:schemeClr>
              </a:buClr>
              <a:buFont typeface="Courier New" panose="02070309020205020404" pitchFamily="49" charset="0"/>
              <a:buChar char="o"/>
            </a:pPr>
            <a:r>
              <a:rPr lang="es-ES" sz="2200" dirty="0">
                <a:latin typeface="Helvetica" panose="020B0604020202020204" pitchFamily="34" charset="0"/>
                <a:cs typeface="Helvetica" panose="020B0604020202020204" pitchFamily="34" charset="0"/>
              </a:rPr>
              <a:t>No abusar de los subrayados y no escribir todo en mayúsculas.</a:t>
            </a:r>
          </a:p>
          <a:p>
            <a:pPr marL="800100" lvl="1" indent="-342900">
              <a:spcAft>
                <a:spcPts val="600"/>
              </a:spcAft>
              <a:buClr>
                <a:schemeClr val="accent2">
                  <a:lumMod val="75000"/>
                </a:schemeClr>
              </a:buClr>
              <a:buFont typeface="Courier New" panose="02070309020205020404" pitchFamily="49" charset="0"/>
              <a:buChar char="o"/>
            </a:pPr>
            <a:r>
              <a:rPr lang="es-ES" sz="2200" dirty="0">
                <a:latin typeface="Helvetica" panose="020B0604020202020204" pitchFamily="34" charset="0"/>
                <a:cs typeface="Helvetica" panose="020B0604020202020204" pitchFamily="34" charset="0"/>
              </a:rPr>
              <a:t>Establecer un interlineado y un espacio entre los párrafos.</a:t>
            </a:r>
          </a:p>
          <a:p>
            <a:pPr marL="800100" lvl="1" indent="-342900">
              <a:spcAft>
                <a:spcPts val="600"/>
              </a:spcAft>
              <a:buClr>
                <a:schemeClr val="accent2">
                  <a:lumMod val="75000"/>
                </a:schemeClr>
              </a:buClr>
              <a:buFont typeface="Courier New" panose="02070309020205020404" pitchFamily="49" charset="0"/>
              <a:buChar char="o"/>
            </a:pPr>
            <a:r>
              <a:rPr lang="es-ES" sz="2200" dirty="0">
                <a:latin typeface="Helvetica" panose="020B0604020202020204" pitchFamily="34" charset="0"/>
                <a:cs typeface="Helvetica" panose="020B0604020202020204" pitchFamily="34" charset="0"/>
              </a:rPr>
              <a:t>Los párrafos no deben ser extensos.</a:t>
            </a:r>
          </a:p>
          <a:p>
            <a:pPr marL="800100" lvl="1" indent="-342900">
              <a:spcAft>
                <a:spcPts val="600"/>
              </a:spcAft>
              <a:buClr>
                <a:schemeClr val="accent2">
                  <a:lumMod val="75000"/>
                </a:schemeClr>
              </a:buClr>
              <a:buFont typeface="Courier New" panose="02070309020205020404" pitchFamily="49" charset="0"/>
              <a:buChar char="o"/>
            </a:pPr>
            <a:r>
              <a:rPr lang="es-ES" sz="2200" dirty="0">
                <a:latin typeface="Helvetica" panose="020B0604020202020204" pitchFamily="34" charset="0"/>
                <a:cs typeface="Helvetica" panose="020B0604020202020204" pitchFamily="34" charset="0"/>
              </a:rPr>
              <a:t>Y como ya dijimos en accesibilidad, se aconseja un tamaño de 16px para el texto del cuerpo.</a:t>
            </a:r>
          </a:p>
        </p:txBody>
      </p:sp>
    </p:spTree>
    <p:extLst>
      <p:ext uri="{BB962C8B-B14F-4D97-AF65-F5344CB8AC3E}">
        <p14:creationId xmlns:p14="http://schemas.microsoft.com/office/powerpoint/2010/main" val="15892098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68E81188-952F-FF76-4656-239C36954F45}"/>
              </a:ext>
            </a:extLst>
          </p:cNvPr>
          <p:cNvSpPr txBox="1"/>
          <p:nvPr/>
        </p:nvSpPr>
        <p:spPr>
          <a:xfrm>
            <a:off x="242556" y="233916"/>
            <a:ext cx="1762021" cy="369332"/>
          </a:xfrm>
          <a:prstGeom prst="rect">
            <a:avLst/>
          </a:prstGeom>
          <a:noFill/>
        </p:spPr>
        <p:txBody>
          <a:bodyPr wrap="none" rtlCol="0">
            <a:spAutoFit/>
          </a:bodyPr>
          <a:lstStyle/>
          <a:p>
            <a:r>
              <a:rPr lang="es-ES" dirty="0">
                <a:latin typeface="Helvetica" panose="020B0604020202020204" pitchFamily="34" charset="0"/>
                <a:cs typeface="Helvetica" panose="020B0604020202020204" pitchFamily="34" charset="0"/>
              </a:rPr>
              <a:t>Fase de diseño</a:t>
            </a:r>
          </a:p>
        </p:txBody>
      </p:sp>
      <p:cxnSp>
        <p:nvCxnSpPr>
          <p:cNvPr id="5" name="Conector recto 4">
            <a:extLst>
              <a:ext uri="{FF2B5EF4-FFF2-40B4-BE49-F238E27FC236}">
                <a16:creationId xmlns:a16="http://schemas.microsoft.com/office/drawing/2014/main" id="{6B9E21EB-704C-E1C9-2D0E-D5B4725CA4F6}"/>
              </a:ext>
            </a:extLst>
          </p:cNvPr>
          <p:cNvCxnSpPr>
            <a:cxnSpLocks/>
          </p:cNvCxnSpPr>
          <p:nvPr/>
        </p:nvCxnSpPr>
        <p:spPr>
          <a:xfrm>
            <a:off x="335504" y="706009"/>
            <a:ext cx="19145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CuadroTexto 6">
            <a:extLst>
              <a:ext uri="{FF2B5EF4-FFF2-40B4-BE49-F238E27FC236}">
                <a16:creationId xmlns:a16="http://schemas.microsoft.com/office/drawing/2014/main" id="{31E71381-F944-DFC0-76B1-8C64682F68A0}"/>
              </a:ext>
            </a:extLst>
          </p:cNvPr>
          <p:cNvSpPr txBox="1"/>
          <p:nvPr/>
        </p:nvSpPr>
        <p:spPr>
          <a:xfrm>
            <a:off x="242556" y="1258344"/>
            <a:ext cx="5320044" cy="5555367"/>
          </a:xfrm>
          <a:prstGeom prst="rect">
            <a:avLst/>
          </a:prstGeom>
          <a:noFill/>
        </p:spPr>
        <p:txBody>
          <a:bodyPr wrap="square">
            <a:spAutoFit/>
          </a:bodyPr>
          <a:lstStyle/>
          <a:p>
            <a:r>
              <a:rPr lang="es-ES" sz="2200" dirty="0">
                <a:latin typeface="Helvetica" panose="020B0604020202020204" pitchFamily="34" charset="0"/>
                <a:cs typeface="Helvetica" panose="020B0604020202020204" pitchFamily="34" charset="0"/>
              </a:rPr>
              <a:t>Por tanto, en la guía debe aparecer al menos:</a:t>
            </a:r>
          </a:p>
          <a:p>
            <a:endParaRPr lang="es-ES" sz="2200" dirty="0">
              <a:latin typeface="Helvetica" panose="020B0604020202020204" pitchFamily="34" charset="0"/>
              <a:cs typeface="Helvetica" panose="020B0604020202020204" pitchFamily="34" charset="0"/>
            </a:endParaRPr>
          </a:p>
          <a:p>
            <a:pPr marL="342900" indent="-342900">
              <a:spcAft>
                <a:spcPts val="600"/>
              </a:spcAft>
              <a:buClr>
                <a:schemeClr val="accent2">
                  <a:lumMod val="75000"/>
                </a:schemeClr>
              </a:buClr>
              <a:buFont typeface="Courier New" panose="02070309020205020404" pitchFamily="49" charset="0"/>
              <a:buChar char="o"/>
            </a:pPr>
            <a:r>
              <a:rPr lang="es-ES" sz="2200" dirty="0">
                <a:latin typeface="Helvetica" panose="020B0604020202020204" pitchFamily="34" charset="0"/>
                <a:cs typeface="Helvetica" panose="020B0604020202020204" pitchFamily="34" charset="0"/>
              </a:rPr>
              <a:t>Los tipos de letra y dónde se van a usar.</a:t>
            </a:r>
          </a:p>
          <a:p>
            <a:pPr marL="342900" indent="-342900">
              <a:spcAft>
                <a:spcPts val="600"/>
              </a:spcAft>
              <a:buClr>
                <a:schemeClr val="accent2">
                  <a:lumMod val="75000"/>
                </a:schemeClr>
              </a:buClr>
              <a:buFont typeface="Courier New" panose="02070309020205020404" pitchFamily="49" charset="0"/>
              <a:buChar char="o"/>
            </a:pPr>
            <a:r>
              <a:rPr lang="es-ES" sz="2200" dirty="0">
                <a:latin typeface="Helvetica" panose="020B0604020202020204" pitchFamily="34" charset="0"/>
                <a:cs typeface="Helvetica" panose="020B0604020202020204" pitchFamily="34" charset="0"/>
              </a:rPr>
              <a:t>El tamaño del texto del cuerpo.</a:t>
            </a:r>
          </a:p>
          <a:p>
            <a:pPr marL="342900" indent="-342900">
              <a:spcAft>
                <a:spcPts val="600"/>
              </a:spcAft>
              <a:buClr>
                <a:schemeClr val="accent2">
                  <a:lumMod val="75000"/>
                </a:schemeClr>
              </a:buClr>
              <a:buFont typeface="Courier New" panose="02070309020205020404" pitchFamily="49" charset="0"/>
              <a:buChar char="o"/>
            </a:pPr>
            <a:r>
              <a:rPr lang="es-ES" sz="2200" dirty="0">
                <a:latin typeface="Helvetica" panose="020B0604020202020204" pitchFamily="34" charset="0"/>
                <a:cs typeface="Helvetica" panose="020B0604020202020204" pitchFamily="34" charset="0"/>
              </a:rPr>
              <a:t>El tamaño de los encabezados y qué tipos se van a utilizar.</a:t>
            </a:r>
          </a:p>
          <a:p>
            <a:pPr marL="342900" indent="-342900">
              <a:spcAft>
                <a:spcPts val="600"/>
              </a:spcAft>
              <a:buClr>
                <a:schemeClr val="accent2">
                  <a:lumMod val="75000"/>
                </a:schemeClr>
              </a:buClr>
              <a:buFont typeface="Courier New" panose="02070309020205020404" pitchFamily="49" charset="0"/>
              <a:buChar char="o"/>
            </a:pPr>
            <a:r>
              <a:rPr lang="es-ES" sz="2200" dirty="0">
                <a:latin typeface="Helvetica" panose="020B0604020202020204" pitchFamily="34" charset="0"/>
                <a:cs typeface="Helvetica" panose="020B0604020202020204" pitchFamily="34" charset="0"/>
              </a:rPr>
              <a:t>El color de la fuente en hexadecimal dependiendo del color de fondo (si este varía).</a:t>
            </a:r>
          </a:p>
          <a:p>
            <a:pPr marL="342900" indent="-342900">
              <a:spcAft>
                <a:spcPts val="600"/>
              </a:spcAft>
              <a:buClr>
                <a:schemeClr val="accent2">
                  <a:lumMod val="75000"/>
                </a:schemeClr>
              </a:buClr>
              <a:buFont typeface="Courier New" panose="02070309020205020404" pitchFamily="49" charset="0"/>
              <a:buChar char="o"/>
            </a:pPr>
            <a:r>
              <a:rPr lang="es-ES" sz="2200" dirty="0">
                <a:latin typeface="Helvetica" panose="020B0604020202020204" pitchFamily="34" charset="0"/>
                <a:cs typeface="Helvetica" panose="020B0604020202020204" pitchFamily="34" charset="0"/>
              </a:rPr>
              <a:t>La variación de la fuente y dónde se va a usar: regular, negrita, cursiva,…</a:t>
            </a:r>
          </a:p>
          <a:p>
            <a:endParaRPr lang="es-ES" sz="2200" dirty="0">
              <a:latin typeface="Helvetica" panose="020B0604020202020204" pitchFamily="34" charset="0"/>
              <a:cs typeface="Helvetica" panose="020B0604020202020204" pitchFamily="34" charset="0"/>
            </a:endParaRPr>
          </a:p>
          <a:p>
            <a:endParaRPr lang="es-ES" sz="2200" dirty="0">
              <a:latin typeface="Helvetica" panose="020B0604020202020204" pitchFamily="34" charset="0"/>
              <a:cs typeface="Helvetica" panose="020B0604020202020204" pitchFamily="34" charset="0"/>
            </a:endParaRPr>
          </a:p>
        </p:txBody>
      </p:sp>
      <p:pic>
        <p:nvPicPr>
          <p:cNvPr id="20" name="Imagen 19">
            <a:extLst>
              <a:ext uri="{FF2B5EF4-FFF2-40B4-BE49-F238E27FC236}">
                <a16:creationId xmlns:a16="http://schemas.microsoft.com/office/drawing/2014/main" id="{CA54D4DF-0850-D914-792E-6094F48879E4}"/>
              </a:ext>
            </a:extLst>
          </p:cNvPr>
          <p:cNvPicPr>
            <a:picLocks noChangeAspect="1"/>
          </p:cNvPicPr>
          <p:nvPr/>
        </p:nvPicPr>
        <p:blipFill>
          <a:blip r:embed="rId2"/>
          <a:stretch>
            <a:fillRect/>
          </a:stretch>
        </p:blipFill>
        <p:spPr>
          <a:xfrm>
            <a:off x="5481969" y="1128712"/>
            <a:ext cx="6668514" cy="4743582"/>
          </a:xfrm>
          <a:prstGeom prst="rect">
            <a:avLst/>
          </a:prstGeom>
        </p:spPr>
      </p:pic>
    </p:spTree>
    <p:extLst>
      <p:ext uri="{BB962C8B-B14F-4D97-AF65-F5344CB8AC3E}">
        <p14:creationId xmlns:p14="http://schemas.microsoft.com/office/powerpoint/2010/main" val="7715268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upo 13">
            <a:extLst>
              <a:ext uri="{FF2B5EF4-FFF2-40B4-BE49-F238E27FC236}">
                <a16:creationId xmlns:a16="http://schemas.microsoft.com/office/drawing/2014/main" id="{2FC849E5-9C12-3040-DDE8-289F6BED72CB}"/>
              </a:ext>
            </a:extLst>
          </p:cNvPr>
          <p:cNvGrpSpPr/>
          <p:nvPr/>
        </p:nvGrpSpPr>
        <p:grpSpPr>
          <a:xfrm>
            <a:off x="246125" y="1233127"/>
            <a:ext cx="11699750" cy="4296493"/>
            <a:chOff x="222911" y="1261431"/>
            <a:chExt cx="11699750" cy="4296493"/>
          </a:xfrm>
        </p:grpSpPr>
        <p:sp>
          <p:nvSpPr>
            <p:cNvPr id="9" name="Rectángulo 8">
              <a:extLst>
                <a:ext uri="{FF2B5EF4-FFF2-40B4-BE49-F238E27FC236}">
                  <a16:creationId xmlns:a16="http://schemas.microsoft.com/office/drawing/2014/main" id="{98FD7C06-FEFD-7DB2-D7C6-E827F3F0C3F7}"/>
                </a:ext>
              </a:extLst>
            </p:cNvPr>
            <p:cNvSpPr/>
            <p:nvPr/>
          </p:nvSpPr>
          <p:spPr>
            <a:xfrm>
              <a:off x="8143820" y="1261431"/>
              <a:ext cx="3778841" cy="425784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3" name="Imagen 2">
              <a:extLst>
                <a:ext uri="{FF2B5EF4-FFF2-40B4-BE49-F238E27FC236}">
                  <a16:creationId xmlns:a16="http://schemas.microsoft.com/office/drawing/2014/main" id="{C7B210BE-1A9B-0349-1141-EB1747EE43A3}"/>
                </a:ext>
              </a:extLst>
            </p:cNvPr>
            <p:cNvPicPr>
              <a:picLocks noChangeAspect="1"/>
            </p:cNvPicPr>
            <p:nvPr/>
          </p:nvPicPr>
          <p:blipFill>
            <a:blip r:embed="rId2"/>
            <a:stretch>
              <a:fillRect/>
            </a:stretch>
          </p:blipFill>
          <p:spPr>
            <a:xfrm>
              <a:off x="222911" y="1300075"/>
              <a:ext cx="3778841" cy="4257849"/>
            </a:xfrm>
            <a:prstGeom prst="rect">
              <a:avLst/>
            </a:prstGeom>
          </p:spPr>
        </p:pic>
        <p:pic>
          <p:nvPicPr>
            <p:cNvPr id="8" name="Imagen 7">
              <a:extLst>
                <a:ext uri="{FF2B5EF4-FFF2-40B4-BE49-F238E27FC236}">
                  <a16:creationId xmlns:a16="http://schemas.microsoft.com/office/drawing/2014/main" id="{640AF03A-9549-4A19-40EB-89826F7FFBE9}"/>
                </a:ext>
              </a:extLst>
            </p:cNvPr>
            <p:cNvPicPr>
              <a:picLocks noChangeAspect="1"/>
            </p:cNvPicPr>
            <p:nvPr/>
          </p:nvPicPr>
          <p:blipFill>
            <a:blip r:embed="rId3"/>
            <a:stretch>
              <a:fillRect/>
            </a:stretch>
          </p:blipFill>
          <p:spPr>
            <a:xfrm>
              <a:off x="4310676" y="2165748"/>
              <a:ext cx="3537345" cy="2520358"/>
            </a:xfrm>
            <a:prstGeom prst="rect">
              <a:avLst/>
            </a:prstGeom>
          </p:spPr>
        </p:pic>
        <p:pic>
          <p:nvPicPr>
            <p:cNvPr id="6" name="Imagen 5">
              <a:extLst>
                <a:ext uri="{FF2B5EF4-FFF2-40B4-BE49-F238E27FC236}">
                  <a16:creationId xmlns:a16="http://schemas.microsoft.com/office/drawing/2014/main" id="{A0635ECA-C6FD-2449-855C-BDBE47966F54}"/>
                </a:ext>
              </a:extLst>
            </p:cNvPr>
            <p:cNvPicPr>
              <a:picLocks noChangeAspect="1"/>
            </p:cNvPicPr>
            <p:nvPr/>
          </p:nvPicPr>
          <p:blipFill>
            <a:blip r:embed="rId4"/>
            <a:stretch>
              <a:fillRect/>
            </a:stretch>
          </p:blipFill>
          <p:spPr>
            <a:xfrm>
              <a:off x="8143820" y="1418308"/>
              <a:ext cx="3778839" cy="4085230"/>
            </a:xfrm>
            <a:prstGeom prst="rect">
              <a:avLst/>
            </a:prstGeom>
          </p:spPr>
        </p:pic>
      </p:grpSp>
      <p:sp>
        <p:nvSpPr>
          <p:cNvPr id="10" name="CuadroTexto 9">
            <a:extLst>
              <a:ext uri="{FF2B5EF4-FFF2-40B4-BE49-F238E27FC236}">
                <a16:creationId xmlns:a16="http://schemas.microsoft.com/office/drawing/2014/main" id="{34A0861D-E2E0-17A1-6180-A43AA1567E0F}"/>
              </a:ext>
            </a:extLst>
          </p:cNvPr>
          <p:cNvSpPr txBox="1"/>
          <p:nvPr/>
        </p:nvSpPr>
        <p:spPr>
          <a:xfrm>
            <a:off x="222909" y="6159500"/>
            <a:ext cx="9467189" cy="461665"/>
          </a:xfrm>
          <a:prstGeom prst="rect">
            <a:avLst/>
          </a:prstGeom>
          <a:noFill/>
        </p:spPr>
        <p:txBody>
          <a:bodyPr wrap="square" rtlCol="0">
            <a:spAutoFit/>
          </a:bodyPr>
          <a:lstStyle/>
          <a:p>
            <a:r>
              <a:rPr lang="es-ES" sz="2400" dirty="0">
                <a:latin typeface="Helvetica" panose="020B0604020202020204"/>
                <a:cs typeface="Helvetica" panose="020B0604020202020204"/>
              </a:rPr>
              <a:t>Ejemplos de tipografías de las empresas más grandes del mundo.</a:t>
            </a:r>
          </a:p>
        </p:txBody>
      </p:sp>
      <p:sp>
        <p:nvSpPr>
          <p:cNvPr id="11" name="CuadroTexto 10">
            <a:extLst>
              <a:ext uri="{FF2B5EF4-FFF2-40B4-BE49-F238E27FC236}">
                <a16:creationId xmlns:a16="http://schemas.microsoft.com/office/drawing/2014/main" id="{A2913F37-58D8-FAE5-73D7-C7A5F776DAB2}"/>
              </a:ext>
            </a:extLst>
          </p:cNvPr>
          <p:cNvSpPr txBox="1"/>
          <p:nvPr/>
        </p:nvSpPr>
        <p:spPr>
          <a:xfrm>
            <a:off x="242556" y="233916"/>
            <a:ext cx="1762021" cy="369332"/>
          </a:xfrm>
          <a:prstGeom prst="rect">
            <a:avLst/>
          </a:prstGeom>
          <a:noFill/>
        </p:spPr>
        <p:txBody>
          <a:bodyPr wrap="none" rtlCol="0">
            <a:spAutoFit/>
          </a:bodyPr>
          <a:lstStyle/>
          <a:p>
            <a:r>
              <a:rPr lang="es-ES" dirty="0">
                <a:latin typeface="Helvetica" panose="020B0604020202020204" pitchFamily="34" charset="0"/>
                <a:cs typeface="Helvetica" panose="020B0604020202020204" pitchFamily="34" charset="0"/>
              </a:rPr>
              <a:t>Fase de diseño</a:t>
            </a:r>
          </a:p>
        </p:txBody>
      </p:sp>
      <p:cxnSp>
        <p:nvCxnSpPr>
          <p:cNvPr id="12" name="Conector recto 11">
            <a:extLst>
              <a:ext uri="{FF2B5EF4-FFF2-40B4-BE49-F238E27FC236}">
                <a16:creationId xmlns:a16="http://schemas.microsoft.com/office/drawing/2014/main" id="{C39F5D5C-7D0B-CD3E-DF3C-5738F2D19077}"/>
              </a:ext>
            </a:extLst>
          </p:cNvPr>
          <p:cNvCxnSpPr>
            <a:cxnSpLocks/>
          </p:cNvCxnSpPr>
          <p:nvPr/>
        </p:nvCxnSpPr>
        <p:spPr>
          <a:xfrm>
            <a:off x="335504" y="706009"/>
            <a:ext cx="19145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24094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221414A7-70AA-9583-A007-1F3315597D9B}"/>
              </a:ext>
            </a:extLst>
          </p:cNvPr>
          <p:cNvSpPr txBox="1"/>
          <p:nvPr/>
        </p:nvSpPr>
        <p:spPr>
          <a:xfrm>
            <a:off x="242556" y="940918"/>
            <a:ext cx="11469983" cy="461665"/>
          </a:xfrm>
          <a:prstGeom prst="rect">
            <a:avLst/>
          </a:prstGeom>
          <a:noFill/>
        </p:spPr>
        <p:txBody>
          <a:bodyPr wrap="square" rtlCol="0">
            <a:spAutoFit/>
          </a:bodyPr>
          <a:lstStyle/>
          <a:p>
            <a:r>
              <a:rPr lang="es-ES" sz="2400" dirty="0">
                <a:latin typeface="Helvetica" panose="020B0604020202020204"/>
                <a:cs typeface="Helvetica" panose="020B0604020202020204"/>
              </a:rPr>
              <a:t>Si alguien quiere marcarse un Spotify, </a:t>
            </a:r>
            <a:r>
              <a:rPr lang="es-ES" sz="2400" b="1" dirty="0">
                <a:solidFill>
                  <a:srgbClr val="FFF309"/>
                </a:solidFill>
                <a:latin typeface="Helvetica" panose="020B0604020202020204"/>
                <a:cs typeface="Helvetica" panose="020B0604020202020204"/>
                <a:hlinkClick r:id="rId2">
                  <a:extLst>
                    <a:ext uri="{A12FA001-AC4F-418D-AE19-62706E023703}">
                      <ahyp:hlinkClr xmlns:ahyp="http://schemas.microsoft.com/office/drawing/2018/hyperlinkcolor" val="tx"/>
                    </a:ext>
                  </a:extLst>
                </a:hlinkClick>
              </a:rPr>
              <a:t>aquí</a:t>
            </a:r>
            <a:r>
              <a:rPr lang="es-ES" sz="2400" dirty="0">
                <a:latin typeface="Helvetica" panose="020B0604020202020204"/>
                <a:cs typeface="Helvetica" panose="020B0604020202020204"/>
              </a:rPr>
              <a:t> va una guía para crear una tipografía.</a:t>
            </a:r>
          </a:p>
        </p:txBody>
      </p:sp>
      <p:sp>
        <p:nvSpPr>
          <p:cNvPr id="3" name="CuadroTexto 2">
            <a:extLst>
              <a:ext uri="{FF2B5EF4-FFF2-40B4-BE49-F238E27FC236}">
                <a16:creationId xmlns:a16="http://schemas.microsoft.com/office/drawing/2014/main" id="{766CC3F3-097E-C7E7-2D20-B33607997C23}"/>
              </a:ext>
            </a:extLst>
          </p:cNvPr>
          <p:cNvSpPr txBox="1"/>
          <p:nvPr/>
        </p:nvSpPr>
        <p:spPr>
          <a:xfrm>
            <a:off x="242556" y="233916"/>
            <a:ext cx="1762021" cy="369332"/>
          </a:xfrm>
          <a:prstGeom prst="rect">
            <a:avLst/>
          </a:prstGeom>
          <a:noFill/>
        </p:spPr>
        <p:txBody>
          <a:bodyPr wrap="none" rtlCol="0">
            <a:spAutoFit/>
          </a:bodyPr>
          <a:lstStyle/>
          <a:p>
            <a:r>
              <a:rPr lang="es-ES" dirty="0">
                <a:latin typeface="Helvetica" panose="020B0604020202020204" pitchFamily="34" charset="0"/>
                <a:cs typeface="Helvetica" panose="020B0604020202020204" pitchFamily="34" charset="0"/>
              </a:rPr>
              <a:t>Fase de diseño</a:t>
            </a:r>
          </a:p>
        </p:txBody>
      </p:sp>
      <p:cxnSp>
        <p:nvCxnSpPr>
          <p:cNvPr id="4" name="Conector recto 3">
            <a:extLst>
              <a:ext uri="{FF2B5EF4-FFF2-40B4-BE49-F238E27FC236}">
                <a16:creationId xmlns:a16="http://schemas.microsoft.com/office/drawing/2014/main" id="{9717F63C-1D0B-4896-ECB7-82E6AF29A6BD}"/>
              </a:ext>
            </a:extLst>
          </p:cNvPr>
          <p:cNvCxnSpPr>
            <a:cxnSpLocks/>
          </p:cNvCxnSpPr>
          <p:nvPr/>
        </p:nvCxnSpPr>
        <p:spPr>
          <a:xfrm>
            <a:off x="335504" y="706009"/>
            <a:ext cx="19145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Imagen 5" descr="Interfaz de usuario gráfica, Texto&#10;&#10;Descripción generada automáticamente">
            <a:extLst>
              <a:ext uri="{FF2B5EF4-FFF2-40B4-BE49-F238E27FC236}">
                <a16:creationId xmlns:a16="http://schemas.microsoft.com/office/drawing/2014/main" id="{F67F5933-F717-44C6-61F4-548AE4D469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101" y="1740253"/>
            <a:ext cx="11633798" cy="4508732"/>
          </a:xfrm>
          <a:prstGeom prst="rect">
            <a:avLst/>
          </a:prstGeom>
        </p:spPr>
      </p:pic>
    </p:spTree>
    <p:extLst>
      <p:ext uri="{BB962C8B-B14F-4D97-AF65-F5344CB8AC3E}">
        <p14:creationId xmlns:p14="http://schemas.microsoft.com/office/powerpoint/2010/main" val="14447397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Interfaz de usuario gráfica, Aplicación&#10;&#10;Descripción generada automáticamente">
            <a:extLst>
              <a:ext uri="{FF2B5EF4-FFF2-40B4-BE49-F238E27FC236}">
                <a16:creationId xmlns:a16="http://schemas.microsoft.com/office/drawing/2014/main" id="{6905F019-2A8C-90E3-4E56-E22F92D448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12225943" cy="6989379"/>
          </a:xfrm>
          <a:prstGeom prst="rect">
            <a:avLst/>
          </a:prstGeom>
        </p:spPr>
      </p:pic>
      <p:sp>
        <p:nvSpPr>
          <p:cNvPr id="4" name="CuadroTexto 3">
            <a:extLst>
              <a:ext uri="{FF2B5EF4-FFF2-40B4-BE49-F238E27FC236}">
                <a16:creationId xmlns:a16="http://schemas.microsoft.com/office/drawing/2014/main" id="{82432E19-B364-D673-22A0-6C9ED6CAF927}"/>
              </a:ext>
            </a:extLst>
          </p:cNvPr>
          <p:cNvSpPr txBox="1"/>
          <p:nvPr/>
        </p:nvSpPr>
        <p:spPr>
          <a:xfrm>
            <a:off x="8465659" y="6208067"/>
            <a:ext cx="3710311" cy="461665"/>
          </a:xfrm>
          <a:prstGeom prst="rect">
            <a:avLst/>
          </a:prstGeom>
          <a:noFill/>
        </p:spPr>
        <p:txBody>
          <a:bodyPr wrap="none" rtlCol="0">
            <a:spAutoFit/>
          </a:bodyPr>
          <a:lstStyle/>
          <a:p>
            <a:r>
              <a:rPr lang="es-ES" sz="2400" dirty="0">
                <a:solidFill>
                  <a:schemeClr val="bg1"/>
                </a:solidFill>
                <a:latin typeface="Helvetica" panose="020B0604020202020204"/>
                <a:cs typeface="Helvetica" panose="020B0604020202020204"/>
              </a:rPr>
              <a:t>Guía tipográfica de Trello.</a:t>
            </a:r>
          </a:p>
        </p:txBody>
      </p:sp>
    </p:spTree>
    <p:extLst>
      <p:ext uri="{BB962C8B-B14F-4D97-AF65-F5344CB8AC3E}">
        <p14:creationId xmlns:p14="http://schemas.microsoft.com/office/powerpoint/2010/main" val="11045997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68E81188-952F-FF76-4656-239C36954F45}"/>
              </a:ext>
            </a:extLst>
          </p:cNvPr>
          <p:cNvSpPr txBox="1"/>
          <p:nvPr/>
        </p:nvSpPr>
        <p:spPr>
          <a:xfrm>
            <a:off x="242556" y="233916"/>
            <a:ext cx="1762021" cy="369332"/>
          </a:xfrm>
          <a:prstGeom prst="rect">
            <a:avLst/>
          </a:prstGeom>
          <a:noFill/>
        </p:spPr>
        <p:txBody>
          <a:bodyPr wrap="none" rtlCol="0">
            <a:spAutoFit/>
          </a:bodyPr>
          <a:lstStyle/>
          <a:p>
            <a:r>
              <a:rPr lang="es-ES" dirty="0">
                <a:latin typeface="Helvetica" panose="020B0604020202020204" pitchFamily="34" charset="0"/>
                <a:cs typeface="Helvetica" panose="020B0604020202020204" pitchFamily="34" charset="0"/>
              </a:rPr>
              <a:t>Fase de diseño</a:t>
            </a:r>
          </a:p>
        </p:txBody>
      </p:sp>
      <p:cxnSp>
        <p:nvCxnSpPr>
          <p:cNvPr id="5" name="Conector recto 4">
            <a:extLst>
              <a:ext uri="{FF2B5EF4-FFF2-40B4-BE49-F238E27FC236}">
                <a16:creationId xmlns:a16="http://schemas.microsoft.com/office/drawing/2014/main" id="{6B9E21EB-704C-E1C9-2D0E-D5B4725CA4F6}"/>
              </a:ext>
            </a:extLst>
          </p:cNvPr>
          <p:cNvCxnSpPr>
            <a:cxnSpLocks/>
          </p:cNvCxnSpPr>
          <p:nvPr/>
        </p:nvCxnSpPr>
        <p:spPr>
          <a:xfrm>
            <a:off x="335504" y="706009"/>
            <a:ext cx="19145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CuadroTexto 6">
            <a:extLst>
              <a:ext uri="{FF2B5EF4-FFF2-40B4-BE49-F238E27FC236}">
                <a16:creationId xmlns:a16="http://schemas.microsoft.com/office/drawing/2014/main" id="{31E71381-F944-DFC0-76B1-8C64682F68A0}"/>
              </a:ext>
            </a:extLst>
          </p:cNvPr>
          <p:cNvSpPr txBox="1"/>
          <p:nvPr/>
        </p:nvSpPr>
        <p:spPr>
          <a:xfrm>
            <a:off x="335502" y="904309"/>
            <a:ext cx="11744957" cy="3154710"/>
          </a:xfrm>
          <a:prstGeom prst="rect">
            <a:avLst/>
          </a:prstGeom>
          <a:noFill/>
        </p:spPr>
        <p:txBody>
          <a:bodyPr wrap="square">
            <a:spAutoFit/>
          </a:bodyPr>
          <a:lstStyle/>
          <a:p>
            <a:r>
              <a:rPr lang="es-ES" sz="2400" dirty="0">
                <a:latin typeface="Helvetica" panose="020B0604020202020204" pitchFamily="34" charset="0"/>
                <a:cs typeface="Helvetica" panose="020B0604020202020204" pitchFamily="34" charset="0"/>
              </a:rPr>
              <a:t>4.- </a:t>
            </a:r>
            <a:r>
              <a:rPr lang="es-ES" sz="2400" b="1" dirty="0">
                <a:solidFill>
                  <a:srgbClr val="FFF309"/>
                </a:solidFill>
                <a:latin typeface="Helvetica" panose="020B0604020202020204" pitchFamily="34" charset="0"/>
                <a:cs typeface="Helvetica" panose="020B0604020202020204" pitchFamily="34" charset="0"/>
              </a:rPr>
              <a:t>ELEMENTOS GENERALES</a:t>
            </a:r>
          </a:p>
          <a:p>
            <a:endParaRPr lang="es-ES" sz="900" dirty="0">
              <a:latin typeface="Helvetica" panose="020B0604020202020204" pitchFamily="34" charset="0"/>
              <a:cs typeface="Helvetica" panose="020B0604020202020204" pitchFamily="34" charset="0"/>
            </a:endParaRPr>
          </a:p>
          <a:p>
            <a:r>
              <a:rPr lang="es-ES" sz="2200" dirty="0">
                <a:latin typeface="Helvetica" panose="020B0604020202020204" pitchFamily="34" charset="0"/>
                <a:cs typeface="Helvetica" panose="020B0604020202020204" pitchFamily="34" charset="0"/>
              </a:rPr>
              <a:t>Es muy difícil poder definir los elementos generales que puedan necesitarse para el desarrollo de la marca, a menos de que a priori tuviéramos una idea de ellos. Lo que si podemos definir en la guía son unas </a:t>
            </a:r>
            <a:r>
              <a:rPr lang="es-ES" sz="2200" b="1" dirty="0">
                <a:latin typeface="Helvetica" panose="020B0604020202020204" pitchFamily="34" charset="0"/>
                <a:cs typeface="Helvetica" panose="020B0604020202020204" pitchFamily="34" charset="0"/>
              </a:rPr>
              <a:t>recomendaciones de uso</a:t>
            </a:r>
            <a:r>
              <a:rPr lang="es-ES" sz="2200" dirty="0">
                <a:latin typeface="Helvetica" panose="020B0604020202020204" pitchFamily="34" charset="0"/>
                <a:cs typeface="Helvetica" panose="020B0604020202020204" pitchFamily="34" charset="0"/>
              </a:rPr>
              <a:t>, de manera que puedan servir de partida para el diseño de las mismas.</a:t>
            </a:r>
          </a:p>
          <a:p>
            <a:endParaRPr lang="es-ES" sz="1100" dirty="0">
              <a:latin typeface="Helvetica" panose="020B0604020202020204" pitchFamily="34" charset="0"/>
              <a:cs typeface="Helvetica" panose="020B0604020202020204" pitchFamily="34" charset="0"/>
            </a:endParaRPr>
          </a:p>
          <a:p>
            <a:r>
              <a:rPr lang="es-ES" sz="2200" dirty="0">
                <a:latin typeface="Helvetica" panose="020B0604020202020204" pitchFamily="34" charset="0"/>
                <a:cs typeface="Helvetica" panose="020B0604020202020204" pitchFamily="34" charset="0"/>
              </a:rPr>
              <a:t>Esto es un punto complicado, pero hay algunos factores que se pueden determinar, como tamaño de las imágenes, tonalidad de la misma, color de los iconos… Especificaciones generales pero que puedan servirnos de partida para el diseño de estos elementos.</a:t>
            </a:r>
          </a:p>
        </p:txBody>
      </p:sp>
      <p:grpSp>
        <p:nvGrpSpPr>
          <p:cNvPr id="10" name="Grupo 9">
            <a:extLst>
              <a:ext uri="{FF2B5EF4-FFF2-40B4-BE49-F238E27FC236}">
                <a16:creationId xmlns:a16="http://schemas.microsoft.com/office/drawing/2014/main" id="{02EADB41-B4DE-C484-D6BF-35E79076FF37}"/>
              </a:ext>
            </a:extLst>
          </p:cNvPr>
          <p:cNvGrpSpPr/>
          <p:nvPr/>
        </p:nvGrpSpPr>
        <p:grpSpPr>
          <a:xfrm>
            <a:off x="1306896" y="4181475"/>
            <a:ext cx="9578207" cy="2676525"/>
            <a:chOff x="511015" y="4181475"/>
            <a:chExt cx="9578207" cy="2676525"/>
          </a:xfrm>
        </p:grpSpPr>
        <p:sp>
          <p:nvSpPr>
            <p:cNvPr id="9" name="Rectángulo 8">
              <a:extLst>
                <a:ext uri="{FF2B5EF4-FFF2-40B4-BE49-F238E27FC236}">
                  <a16:creationId xmlns:a16="http://schemas.microsoft.com/office/drawing/2014/main" id="{7AC0637B-8B54-1DD7-2554-0924C9FD4572}"/>
                </a:ext>
              </a:extLst>
            </p:cNvPr>
            <p:cNvSpPr/>
            <p:nvPr/>
          </p:nvSpPr>
          <p:spPr>
            <a:xfrm>
              <a:off x="6521290" y="4181475"/>
              <a:ext cx="3567932" cy="2676525"/>
            </a:xfrm>
            <a:prstGeom prst="rect">
              <a:avLst/>
            </a:prstGeom>
            <a:solidFill>
              <a:srgbClr val="F9FA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3" name="Imagen 2">
              <a:extLst>
                <a:ext uri="{FF2B5EF4-FFF2-40B4-BE49-F238E27FC236}">
                  <a16:creationId xmlns:a16="http://schemas.microsoft.com/office/drawing/2014/main" id="{87AC787F-5C70-28D7-7A4B-E1253AA2968B}"/>
                </a:ext>
              </a:extLst>
            </p:cNvPr>
            <p:cNvPicPr>
              <a:picLocks noChangeAspect="1"/>
            </p:cNvPicPr>
            <p:nvPr/>
          </p:nvPicPr>
          <p:blipFill>
            <a:blip r:embed="rId2"/>
            <a:stretch>
              <a:fillRect/>
            </a:stretch>
          </p:blipFill>
          <p:spPr>
            <a:xfrm>
              <a:off x="511015" y="4181475"/>
              <a:ext cx="6010275" cy="2676525"/>
            </a:xfrm>
            <a:prstGeom prst="rect">
              <a:avLst/>
            </a:prstGeom>
          </p:spPr>
        </p:pic>
        <p:pic>
          <p:nvPicPr>
            <p:cNvPr id="8" name="Imagen 7">
              <a:extLst>
                <a:ext uri="{FF2B5EF4-FFF2-40B4-BE49-F238E27FC236}">
                  <a16:creationId xmlns:a16="http://schemas.microsoft.com/office/drawing/2014/main" id="{53957EC7-4BD6-110C-8411-EE5520F8B5B3}"/>
                </a:ext>
              </a:extLst>
            </p:cNvPr>
            <p:cNvPicPr>
              <a:picLocks noChangeAspect="1"/>
            </p:cNvPicPr>
            <p:nvPr/>
          </p:nvPicPr>
          <p:blipFill>
            <a:blip r:embed="rId3"/>
            <a:stretch>
              <a:fillRect/>
            </a:stretch>
          </p:blipFill>
          <p:spPr>
            <a:xfrm>
              <a:off x="6928893" y="4733925"/>
              <a:ext cx="2752725" cy="2124075"/>
            </a:xfrm>
            <a:prstGeom prst="rect">
              <a:avLst/>
            </a:prstGeom>
          </p:spPr>
        </p:pic>
      </p:grpSp>
    </p:spTree>
    <p:extLst>
      <p:ext uri="{BB962C8B-B14F-4D97-AF65-F5344CB8AC3E}">
        <p14:creationId xmlns:p14="http://schemas.microsoft.com/office/powerpoint/2010/main" val="16413617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E6E029AB-9878-40D0-D390-B60064BD2751}"/>
              </a:ext>
            </a:extLst>
          </p:cNvPr>
          <p:cNvSpPr txBox="1"/>
          <p:nvPr/>
        </p:nvSpPr>
        <p:spPr>
          <a:xfrm>
            <a:off x="1864739" y="2226237"/>
            <a:ext cx="8065913" cy="2585323"/>
          </a:xfrm>
          <a:prstGeom prst="rect">
            <a:avLst/>
          </a:prstGeom>
          <a:noFill/>
        </p:spPr>
        <p:txBody>
          <a:bodyPr wrap="square" rtlCol="0">
            <a:spAutoFit/>
          </a:bodyPr>
          <a:lstStyle/>
          <a:p>
            <a:r>
              <a:rPr lang="es-ES" sz="5400" b="1" dirty="0">
                <a:latin typeface="Helvetica" panose="020B0604020202020204" pitchFamily="34" charset="0"/>
                <a:cs typeface="Helvetica" panose="020B0604020202020204" pitchFamily="34" charset="0"/>
              </a:rPr>
              <a:t>Fase 3</a:t>
            </a:r>
          </a:p>
          <a:p>
            <a:r>
              <a:rPr lang="es-ES" sz="5400" b="1" dirty="0">
                <a:latin typeface="Helvetica" panose="020B0604020202020204" pitchFamily="34" charset="0"/>
                <a:cs typeface="Helvetica" panose="020B0604020202020204" pitchFamily="34" charset="0"/>
              </a:rPr>
              <a:t>El prototipo de </a:t>
            </a:r>
            <a:r>
              <a:rPr lang="es-ES" sz="5400" b="1" dirty="0">
                <a:solidFill>
                  <a:srgbClr val="FFF309"/>
                </a:solidFill>
                <a:latin typeface="Helvetica" panose="020B0604020202020204" pitchFamily="34" charset="0"/>
                <a:cs typeface="Helvetica" panose="020B0604020202020204" pitchFamily="34" charset="0"/>
              </a:rPr>
              <a:t>alta</a:t>
            </a:r>
            <a:r>
              <a:rPr lang="es-ES" sz="5400" b="1" dirty="0">
                <a:latin typeface="Helvetica" panose="020B0604020202020204" pitchFamily="34" charset="0"/>
                <a:cs typeface="Helvetica" panose="020B0604020202020204" pitchFamily="34" charset="0"/>
              </a:rPr>
              <a:t> </a:t>
            </a:r>
            <a:r>
              <a:rPr lang="es-ES" sz="5400" b="1" dirty="0">
                <a:solidFill>
                  <a:srgbClr val="FFF309"/>
                </a:solidFill>
                <a:latin typeface="Helvetica" panose="020B0604020202020204" pitchFamily="34" charset="0"/>
                <a:cs typeface="Helvetica" panose="020B0604020202020204" pitchFamily="34" charset="0"/>
              </a:rPr>
              <a:t>fidelidad</a:t>
            </a:r>
          </a:p>
        </p:txBody>
      </p:sp>
      <p:cxnSp>
        <p:nvCxnSpPr>
          <p:cNvPr id="5" name="Conector recto 4">
            <a:extLst>
              <a:ext uri="{FF2B5EF4-FFF2-40B4-BE49-F238E27FC236}">
                <a16:creationId xmlns:a16="http://schemas.microsoft.com/office/drawing/2014/main" id="{DD342C8F-8B3B-1A3F-E3AA-55F88A7D11A4}"/>
              </a:ext>
            </a:extLst>
          </p:cNvPr>
          <p:cNvCxnSpPr>
            <a:cxnSpLocks/>
          </p:cNvCxnSpPr>
          <p:nvPr/>
        </p:nvCxnSpPr>
        <p:spPr>
          <a:xfrm>
            <a:off x="1405311" y="2041239"/>
            <a:ext cx="0" cy="277552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67266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221414A7-70AA-9583-A007-1F3315597D9B}"/>
              </a:ext>
            </a:extLst>
          </p:cNvPr>
          <p:cNvSpPr txBox="1"/>
          <p:nvPr/>
        </p:nvSpPr>
        <p:spPr>
          <a:xfrm>
            <a:off x="242556" y="940918"/>
            <a:ext cx="11706289" cy="6170920"/>
          </a:xfrm>
          <a:prstGeom prst="rect">
            <a:avLst/>
          </a:prstGeom>
          <a:noFill/>
        </p:spPr>
        <p:txBody>
          <a:bodyPr wrap="square" rtlCol="0">
            <a:spAutoFit/>
          </a:bodyPr>
          <a:lstStyle/>
          <a:p>
            <a:r>
              <a:rPr lang="es-ES" sz="2400" dirty="0">
                <a:latin typeface="Helvetica" panose="020B0604020202020204"/>
                <a:cs typeface="Helvetica" panose="020B0604020202020204"/>
              </a:rPr>
              <a:t>El </a:t>
            </a:r>
            <a:r>
              <a:rPr lang="es-ES" sz="2400" b="1" dirty="0">
                <a:solidFill>
                  <a:srgbClr val="FFF309"/>
                </a:solidFill>
                <a:latin typeface="Helvetica" panose="020B0604020202020204"/>
                <a:cs typeface="Helvetica" panose="020B0604020202020204"/>
              </a:rPr>
              <a:t>PROTOTIPO</a:t>
            </a:r>
            <a:r>
              <a:rPr lang="es-ES" sz="2400" dirty="0">
                <a:latin typeface="Helvetica" panose="020B0604020202020204"/>
                <a:cs typeface="Helvetica" panose="020B0604020202020204"/>
              </a:rPr>
              <a:t> </a:t>
            </a:r>
            <a:r>
              <a:rPr lang="es-ES" sz="2400" b="1" dirty="0">
                <a:solidFill>
                  <a:srgbClr val="FFF309"/>
                </a:solidFill>
                <a:latin typeface="Helvetica" panose="020B0604020202020204"/>
                <a:cs typeface="Helvetica" panose="020B0604020202020204"/>
              </a:rPr>
              <a:t>FINAL, </a:t>
            </a:r>
            <a:r>
              <a:rPr lang="es-ES" sz="2400" dirty="0">
                <a:latin typeface="Helvetica" panose="020B0604020202020204"/>
                <a:cs typeface="Helvetica" panose="020B0604020202020204"/>
              </a:rPr>
              <a:t>“hi-fi” o “mockup” es el paso definitivo hacia el desarrollo final. Es un prototipo que se </a:t>
            </a:r>
            <a:r>
              <a:rPr lang="es-ES" sz="2400" b="1" dirty="0">
                <a:latin typeface="Helvetica" panose="020B0604020202020204"/>
                <a:cs typeface="Helvetica" panose="020B0604020202020204"/>
              </a:rPr>
              <a:t>acerca</a:t>
            </a:r>
            <a:r>
              <a:rPr lang="es-ES" sz="2400" dirty="0">
                <a:latin typeface="Helvetica" panose="020B0604020202020204"/>
                <a:cs typeface="Helvetica" panose="020B0604020202020204"/>
              </a:rPr>
              <a:t> mucho al producto </a:t>
            </a:r>
            <a:r>
              <a:rPr lang="es-ES" sz="2400" b="1" dirty="0">
                <a:latin typeface="Helvetica" panose="020B0604020202020204"/>
                <a:cs typeface="Helvetica" panose="020B0604020202020204"/>
              </a:rPr>
              <a:t>final</a:t>
            </a:r>
            <a:r>
              <a:rPr lang="es-ES" sz="2400" dirty="0">
                <a:latin typeface="Helvetica" panose="020B0604020202020204"/>
                <a:cs typeface="Helvetica" panose="020B0604020202020204"/>
              </a:rPr>
              <a:t>. </a:t>
            </a:r>
          </a:p>
          <a:p>
            <a:endParaRPr lang="es-ES" sz="2400" dirty="0">
              <a:latin typeface="Helvetica" panose="020B0604020202020204"/>
              <a:cs typeface="Helvetica" panose="020B0604020202020204"/>
            </a:endParaRPr>
          </a:p>
          <a:p>
            <a:pPr marL="457200" indent="-457200">
              <a:spcAft>
                <a:spcPts val="1400"/>
              </a:spcAft>
              <a:buClr>
                <a:schemeClr val="accent2">
                  <a:lumMod val="75000"/>
                </a:schemeClr>
              </a:buClr>
              <a:buFont typeface="Wingdings" panose="05000000000000000000" pitchFamily="2" charset="2"/>
              <a:buChar char="ü"/>
            </a:pPr>
            <a:r>
              <a:rPr lang="es-ES" sz="2400" b="1" dirty="0">
                <a:latin typeface="Helvetica" panose="020B0604020202020204"/>
                <a:cs typeface="Helvetica" panose="020B0604020202020204"/>
              </a:rPr>
              <a:t>EXPLICAR</a:t>
            </a:r>
            <a:r>
              <a:rPr lang="es-ES" sz="2400" dirty="0">
                <a:latin typeface="Helvetica" panose="020B0604020202020204"/>
                <a:cs typeface="Helvetica" panose="020B0604020202020204"/>
              </a:rPr>
              <a:t> cómo será la </a:t>
            </a:r>
            <a:r>
              <a:rPr lang="es-ES" sz="2400" b="1" dirty="0">
                <a:latin typeface="Helvetica" panose="020B0604020202020204"/>
                <a:cs typeface="Helvetica" panose="020B0604020202020204"/>
              </a:rPr>
              <a:t>aplicación</a:t>
            </a:r>
            <a:r>
              <a:rPr lang="es-ES" sz="2400" dirty="0">
                <a:latin typeface="Helvetica" panose="020B0604020202020204"/>
                <a:cs typeface="Helvetica" panose="020B0604020202020204"/>
              </a:rPr>
              <a:t> a empleados, clientes o inversores y que puedan hacerse una idea real de cómo será una vez está desarrollado el diseño.</a:t>
            </a:r>
          </a:p>
          <a:p>
            <a:pPr marL="457200" indent="-457200">
              <a:spcAft>
                <a:spcPts val="1400"/>
              </a:spcAft>
              <a:buClr>
                <a:schemeClr val="accent2">
                  <a:lumMod val="75000"/>
                </a:schemeClr>
              </a:buClr>
              <a:buFont typeface="Wingdings" panose="05000000000000000000" pitchFamily="2" charset="2"/>
              <a:buChar char="ü"/>
            </a:pPr>
            <a:r>
              <a:rPr lang="es-ES" sz="2400" dirty="0">
                <a:latin typeface="Helvetica" panose="020B0604020202020204"/>
                <a:cs typeface="Helvetica" panose="020B0604020202020204"/>
              </a:rPr>
              <a:t>Hacer </a:t>
            </a:r>
            <a:r>
              <a:rPr lang="es-ES" sz="2400" b="1" dirty="0">
                <a:latin typeface="Helvetica" panose="020B0604020202020204"/>
                <a:cs typeface="Helvetica" panose="020B0604020202020204"/>
              </a:rPr>
              <a:t>PRUEBAS</a:t>
            </a:r>
            <a:r>
              <a:rPr lang="es-ES" sz="2400" dirty="0">
                <a:latin typeface="Helvetica" panose="020B0604020202020204"/>
                <a:cs typeface="Helvetica" panose="020B0604020202020204"/>
              </a:rPr>
              <a:t> con usuarios para aprender si pueden alcanzar los objetivos o realizar alguna tarea determinada. Esto permite, en ocasiones, detectar errores en el flujo planteado o si faltan o sobran elementos como avisos, pantallas intermedias, botones para volver atrás o deshacer, etc.</a:t>
            </a:r>
          </a:p>
          <a:p>
            <a:pPr marL="457200" indent="-457200">
              <a:spcAft>
                <a:spcPts val="1400"/>
              </a:spcAft>
              <a:buClr>
                <a:schemeClr val="accent2">
                  <a:lumMod val="75000"/>
                </a:schemeClr>
              </a:buClr>
              <a:buFont typeface="Wingdings" panose="05000000000000000000" pitchFamily="2" charset="2"/>
              <a:buChar char="ü"/>
            </a:pPr>
            <a:r>
              <a:rPr lang="es-ES" sz="2400" b="1" dirty="0">
                <a:latin typeface="Helvetica" panose="020B0604020202020204"/>
                <a:cs typeface="Helvetica" panose="020B0604020202020204"/>
              </a:rPr>
              <a:t>FACILITAR</a:t>
            </a:r>
            <a:r>
              <a:rPr lang="es-ES" sz="2400" dirty="0">
                <a:latin typeface="Helvetica" panose="020B0604020202020204"/>
                <a:cs typeface="Helvetica" panose="020B0604020202020204"/>
              </a:rPr>
              <a:t> el trabajo al equipo de desarrollo, que tendrá más claro cuál es el comportamiento esperado. Aunque se compartan documentos como el diagrama de flujo o el archivo entero de </a:t>
            </a:r>
            <a:r>
              <a:rPr lang="es-ES" sz="2400" dirty="0" err="1">
                <a:latin typeface="Helvetica" panose="020B0604020202020204"/>
                <a:cs typeface="Helvetica" panose="020B0604020202020204"/>
              </a:rPr>
              <a:t>Figma</a:t>
            </a:r>
            <a:r>
              <a:rPr lang="es-ES" sz="2400" dirty="0">
                <a:latin typeface="Helvetica" panose="020B0604020202020204"/>
                <a:cs typeface="Helvetica" panose="020B0604020202020204"/>
              </a:rPr>
              <a:t>, si quien desarrolla no ha estado muy cerca del proyecto, puede ser que se confunda. </a:t>
            </a:r>
            <a:r>
              <a:rPr lang="es-ES" sz="2400" b="1" dirty="0">
                <a:latin typeface="Helvetica" panose="020B0604020202020204"/>
                <a:cs typeface="Helvetica" panose="020B0604020202020204"/>
              </a:rPr>
              <a:t>UN PROTOTIPO LO CLARIFICA TODO.</a:t>
            </a:r>
          </a:p>
          <a:p>
            <a:endParaRPr lang="es-ES" sz="2400" dirty="0">
              <a:latin typeface="Helvetica" panose="020B0604020202020204"/>
              <a:cs typeface="Helvetica" panose="020B0604020202020204"/>
            </a:endParaRPr>
          </a:p>
        </p:txBody>
      </p:sp>
      <p:sp>
        <p:nvSpPr>
          <p:cNvPr id="3" name="CuadroTexto 2">
            <a:extLst>
              <a:ext uri="{FF2B5EF4-FFF2-40B4-BE49-F238E27FC236}">
                <a16:creationId xmlns:a16="http://schemas.microsoft.com/office/drawing/2014/main" id="{766CC3F3-097E-C7E7-2D20-B33607997C23}"/>
              </a:ext>
            </a:extLst>
          </p:cNvPr>
          <p:cNvSpPr txBox="1"/>
          <p:nvPr/>
        </p:nvSpPr>
        <p:spPr>
          <a:xfrm>
            <a:off x="242556" y="233916"/>
            <a:ext cx="1762021" cy="369332"/>
          </a:xfrm>
          <a:prstGeom prst="rect">
            <a:avLst/>
          </a:prstGeom>
          <a:noFill/>
        </p:spPr>
        <p:txBody>
          <a:bodyPr wrap="none" rtlCol="0">
            <a:spAutoFit/>
          </a:bodyPr>
          <a:lstStyle/>
          <a:p>
            <a:r>
              <a:rPr lang="es-ES" dirty="0">
                <a:latin typeface="Helvetica" panose="020B0604020202020204" pitchFamily="34" charset="0"/>
                <a:cs typeface="Helvetica" panose="020B0604020202020204" pitchFamily="34" charset="0"/>
              </a:rPr>
              <a:t>Fase de diseño</a:t>
            </a:r>
          </a:p>
        </p:txBody>
      </p:sp>
      <p:cxnSp>
        <p:nvCxnSpPr>
          <p:cNvPr id="4" name="Conector recto 3">
            <a:extLst>
              <a:ext uri="{FF2B5EF4-FFF2-40B4-BE49-F238E27FC236}">
                <a16:creationId xmlns:a16="http://schemas.microsoft.com/office/drawing/2014/main" id="{9717F63C-1D0B-4896-ECB7-82E6AF29A6BD}"/>
              </a:ext>
            </a:extLst>
          </p:cNvPr>
          <p:cNvCxnSpPr>
            <a:cxnSpLocks/>
          </p:cNvCxnSpPr>
          <p:nvPr/>
        </p:nvCxnSpPr>
        <p:spPr>
          <a:xfrm>
            <a:off x="335504" y="706009"/>
            <a:ext cx="19145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08646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221414A7-70AA-9583-A007-1F3315597D9B}"/>
              </a:ext>
            </a:extLst>
          </p:cNvPr>
          <p:cNvSpPr txBox="1"/>
          <p:nvPr/>
        </p:nvSpPr>
        <p:spPr>
          <a:xfrm>
            <a:off x="242556" y="1187498"/>
            <a:ext cx="11706289" cy="4524315"/>
          </a:xfrm>
          <a:prstGeom prst="rect">
            <a:avLst/>
          </a:prstGeom>
          <a:noFill/>
        </p:spPr>
        <p:txBody>
          <a:bodyPr wrap="square" rtlCol="0">
            <a:spAutoFit/>
          </a:bodyPr>
          <a:lstStyle/>
          <a:p>
            <a:r>
              <a:rPr lang="es-ES" sz="2400" dirty="0">
                <a:latin typeface="Helvetica" panose="020B0604020202020204"/>
                <a:cs typeface="Helvetica" panose="020B0604020202020204"/>
              </a:rPr>
              <a:t>Este tipo de prototipo tiene la capacidad de retratar con mayor facilidad exactamente lo que los desarrolladores quieren que los demás vean, lo que a menudo aumenta las posibilidades de ser aprobado para pasar al siguiente paso.</a:t>
            </a:r>
          </a:p>
          <a:p>
            <a:endParaRPr lang="es-ES" sz="2400" dirty="0">
              <a:latin typeface="Helvetica" panose="020B0604020202020204"/>
              <a:cs typeface="Helvetica" panose="020B0604020202020204"/>
            </a:endParaRPr>
          </a:p>
          <a:p>
            <a:r>
              <a:rPr lang="es-ES" sz="2400" dirty="0">
                <a:latin typeface="Helvetica" panose="020B0604020202020204"/>
                <a:cs typeface="Helvetica" panose="020B0604020202020204"/>
              </a:rPr>
              <a:t>Un prototipo de baja fidelidad representaba la estructura de cada opción y un diseño muy arcaico de cómo iba a ser nuestro producto, en cambio, el </a:t>
            </a:r>
            <a:r>
              <a:rPr lang="es-ES" sz="2400" b="1" i="1" dirty="0">
                <a:latin typeface="Helvetica" panose="020B0604020202020204"/>
                <a:cs typeface="Helvetica" panose="020B0604020202020204"/>
              </a:rPr>
              <a:t>hi-fi</a:t>
            </a:r>
            <a:r>
              <a:rPr lang="es-ES" sz="2400" b="1" dirty="0">
                <a:latin typeface="Helvetica" panose="020B0604020202020204"/>
                <a:cs typeface="Helvetica" panose="020B0604020202020204"/>
              </a:rPr>
              <a:t> </a:t>
            </a:r>
            <a:r>
              <a:rPr lang="es-ES" sz="2400" dirty="0">
                <a:latin typeface="Helvetica" panose="020B0604020202020204"/>
                <a:cs typeface="Helvetica" panose="020B0604020202020204"/>
              </a:rPr>
              <a:t>se centra en la </a:t>
            </a:r>
            <a:r>
              <a:rPr lang="es-ES" sz="2400" b="1" dirty="0">
                <a:latin typeface="Helvetica" panose="020B0604020202020204"/>
                <a:cs typeface="Helvetica" panose="020B0604020202020204"/>
              </a:rPr>
              <a:t>CAPACIDAD DE INTERACCIÓN</a:t>
            </a:r>
            <a:r>
              <a:rPr lang="es-ES" sz="2400" dirty="0">
                <a:latin typeface="Helvetica" panose="020B0604020202020204"/>
                <a:cs typeface="Helvetica" panose="020B0604020202020204"/>
              </a:rPr>
              <a:t>, en la posibilidad de realizar un flujo de trabajo, con un aspecto mucho más cercano al producto final que el que nos ofrece el </a:t>
            </a:r>
            <a:r>
              <a:rPr lang="es-ES" sz="2400" i="1" dirty="0">
                <a:latin typeface="Helvetica" panose="020B0604020202020204"/>
                <a:cs typeface="Helvetica" panose="020B0604020202020204"/>
              </a:rPr>
              <a:t>lo-fi</a:t>
            </a:r>
            <a:r>
              <a:rPr lang="es-ES" sz="2400" dirty="0">
                <a:latin typeface="Helvetica" panose="020B0604020202020204"/>
                <a:cs typeface="Helvetica" panose="020B0604020202020204"/>
              </a:rPr>
              <a:t>, (aunque no es definitivo, puede variar o mejorar en el producto final), con el objetivo de comprobar que todas las </a:t>
            </a:r>
            <a:r>
              <a:rPr lang="es-ES" sz="2400" b="1" dirty="0">
                <a:latin typeface="Helvetica" panose="020B0604020202020204"/>
                <a:cs typeface="Helvetica" panose="020B0604020202020204"/>
              </a:rPr>
              <a:t>decisiones</a:t>
            </a:r>
            <a:r>
              <a:rPr lang="es-ES" sz="2400" dirty="0">
                <a:latin typeface="Helvetica" panose="020B0604020202020204"/>
                <a:cs typeface="Helvetica" panose="020B0604020202020204"/>
              </a:rPr>
              <a:t> que se han tomado hasta este punto son las </a:t>
            </a:r>
            <a:r>
              <a:rPr lang="es-ES" sz="2400" b="1" dirty="0">
                <a:latin typeface="Helvetica" panose="020B0604020202020204"/>
                <a:cs typeface="Helvetica" panose="020B0604020202020204"/>
              </a:rPr>
              <a:t>acertadas</a:t>
            </a:r>
            <a:r>
              <a:rPr lang="es-ES" sz="2400" dirty="0">
                <a:latin typeface="Helvetica" panose="020B0604020202020204"/>
                <a:cs typeface="Helvetica" panose="020B0604020202020204"/>
              </a:rPr>
              <a:t>.</a:t>
            </a:r>
          </a:p>
          <a:p>
            <a:endParaRPr lang="es-ES" sz="2400" dirty="0">
              <a:latin typeface="Helvetica" panose="020B0604020202020204"/>
              <a:cs typeface="Helvetica" panose="020B0604020202020204"/>
            </a:endParaRPr>
          </a:p>
        </p:txBody>
      </p:sp>
      <p:sp>
        <p:nvSpPr>
          <p:cNvPr id="3" name="CuadroTexto 2">
            <a:extLst>
              <a:ext uri="{FF2B5EF4-FFF2-40B4-BE49-F238E27FC236}">
                <a16:creationId xmlns:a16="http://schemas.microsoft.com/office/drawing/2014/main" id="{766CC3F3-097E-C7E7-2D20-B33607997C23}"/>
              </a:ext>
            </a:extLst>
          </p:cNvPr>
          <p:cNvSpPr txBox="1"/>
          <p:nvPr/>
        </p:nvSpPr>
        <p:spPr>
          <a:xfrm>
            <a:off x="242556" y="233916"/>
            <a:ext cx="1762021" cy="369332"/>
          </a:xfrm>
          <a:prstGeom prst="rect">
            <a:avLst/>
          </a:prstGeom>
          <a:noFill/>
        </p:spPr>
        <p:txBody>
          <a:bodyPr wrap="none" rtlCol="0">
            <a:spAutoFit/>
          </a:bodyPr>
          <a:lstStyle/>
          <a:p>
            <a:r>
              <a:rPr lang="es-ES" dirty="0">
                <a:latin typeface="Helvetica" panose="020B0604020202020204" pitchFamily="34" charset="0"/>
                <a:cs typeface="Helvetica" panose="020B0604020202020204" pitchFamily="34" charset="0"/>
              </a:rPr>
              <a:t>Fase de diseño</a:t>
            </a:r>
          </a:p>
        </p:txBody>
      </p:sp>
      <p:cxnSp>
        <p:nvCxnSpPr>
          <p:cNvPr id="4" name="Conector recto 3">
            <a:extLst>
              <a:ext uri="{FF2B5EF4-FFF2-40B4-BE49-F238E27FC236}">
                <a16:creationId xmlns:a16="http://schemas.microsoft.com/office/drawing/2014/main" id="{9717F63C-1D0B-4896-ECB7-82E6AF29A6BD}"/>
              </a:ext>
            </a:extLst>
          </p:cNvPr>
          <p:cNvCxnSpPr>
            <a:cxnSpLocks/>
          </p:cNvCxnSpPr>
          <p:nvPr/>
        </p:nvCxnSpPr>
        <p:spPr>
          <a:xfrm>
            <a:off x="335504" y="706009"/>
            <a:ext cx="19145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95632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766CC3F3-097E-C7E7-2D20-B33607997C23}"/>
              </a:ext>
            </a:extLst>
          </p:cNvPr>
          <p:cNvSpPr txBox="1"/>
          <p:nvPr/>
        </p:nvSpPr>
        <p:spPr>
          <a:xfrm>
            <a:off x="242556" y="233916"/>
            <a:ext cx="1762021" cy="369332"/>
          </a:xfrm>
          <a:prstGeom prst="rect">
            <a:avLst/>
          </a:prstGeom>
          <a:noFill/>
        </p:spPr>
        <p:txBody>
          <a:bodyPr wrap="none" rtlCol="0">
            <a:spAutoFit/>
          </a:bodyPr>
          <a:lstStyle/>
          <a:p>
            <a:r>
              <a:rPr lang="es-ES" dirty="0">
                <a:latin typeface="Helvetica" panose="020B0604020202020204" pitchFamily="34" charset="0"/>
                <a:cs typeface="Helvetica" panose="020B0604020202020204" pitchFamily="34" charset="0"/>
              </a:rPr>
              <a:t>Fase de diseño</a:t>
            </a:r>
          </a:p>
        </p:txBody>
      </p:sp>
      <p:cxnSp>
        <p:nvCxnSpPr>
          <p:cNvPr id="4" name="Conector recto 3">
            <a:extLst>
              <a:ext uri="{FF2B5EF4-FFF2-40B4-BE49-F238E27FC236}">
                <a16:creationId xmlns:a16="http://schemas.microsoft.com/office/drawing/2014/main" id="{9717F63C-1D0B-4896-ECB7-82E6AF29A6BD}"/>
              </a:ext>
            </a:extLst>
          </p:cNvPr>
          <p:cNvCxnSpPr>
            <a:cxnSpLocks/>
          </p:cNvCxnSpPr>
          <p:nvPr/>
        </p:nvCxnSpPr>
        <p:spPr>
          <a:xfrm>
            <a:off x="335504" y="706009"/>
            <a:ext cx="19145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Imagen 4" descr="Interfaz de usuario gráfica, Aplicación&#10;&#10;Descripción generada automáticamente">
            <a:extLst>
              <a:ext uri="{FF2B5EF4-FFF2-40B4-BE49-F238E27FC236}">
                <a16:creationId xmlns:a16="http://schemas.microsoft.com/office/drawing/2014/main" id="{F731FC2E-EA0C-8044-A63A-D6AEEB0FE3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08771"/>
            <a:ext cx="12192000" cy="6039729"/>
          </a:xfrm>
          <a:prstGeom prst="rect">
            <a:avLst/>
          </a:prstGeom>
        </p:spPr>
      </p:pic>
    </p:spTree>
    <p:extLst>
      <p:ext uri="{BB962C8B-B14F-4D97-AF65-F5344CB8AC3E}">
        <p14:creationId xmlns:p14="http://schemas.microsoft.com/office/powerpoint/2010/main" val="2305765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221414A7-70AA-9583-A007-1F3315597D9B}"/>
              </a:ext>
            </a:extLst>
          </p:cNvPr>
          <p:cNvSpPr txBox="1"/>
          <p:nvPr/>
        </p:nvSpPr>
        <p:spPr>
          <a:xfrm>
            <a:off x="242556" y="808771"/>
            <a:ext cx="11706289" cy="5693866"/>
          </a:xfrm>
          <a:prstGeom prst="rect">
            <a:avLst/>
          </a:prstGeom>
          <a:noFill/>
        </p:spPr>
        <p:txBody>
          <a:bodyPr wrap="square" rtlCol="0">
            <a:spAutoFit/>
          </a:bodyPr>
          <a:lstStyle/>
          <a:p>
            <a:r>
              <a:rPr lang="es-ES" sz="2800" b="1" dirty="0">
                <a:latin typeface="Helvetica" panose="020B0604020202020204"/>
                <a:cs typeface="Helvetica" panose="020B0604020202020204"/>
              </a:rPr>
              <a:t>Errores comunes a la hora de crear prototipos</a:t>
            </a:r>
            <a:endParaRPr lang="es-ES" sz="2400" b="1" dirty="0">
              <a:latin typeface="Helvetica" panose="020B0604020202020204"/>
              <a:cs typeface="Helvetica" panose="020B0604020202020204"/>
            </a:endParaRPr>
          </a:p>
          <a:p>
            <a:endParaRPr lang="es-ES" sz="2400" dirty="0">
              <a:latin typeface="Helvetica" panose="020B0604020202020204"/>
              <a:cs typeface="Helvetica" panose="020B0604020202020204"/>
            </a:endParaRPr>
          </a:p>
          <a:p>
            <a:pPr marL="457200" indent="-457200">
              <a:buFont typeface="+mj-lt"/>
              <a:buAutoNum type="arabicPeriod"/>
            </a:pPr>
            <a:r>
              <a:rPr lang="es-ES" sz="2400" dirty="0">
                <a:latin typeface="Helvetica" panose="020B0604020202020204"/>
                <a:cs typeface="Helvetica" panose="020B0604020202020204"/>
              </a:rPr>
              <a:t>En las primeras etapas de creación de prototipos, hay </a:t>
            </a:r>
            <a:r>
              <a:rPr lang="es-ES" sz="2400" b="1" dirty="0">
                <a:latin typeface="Helvetica" panose="020B0604020202020204"/>
                <a:cs typeface="Helvetica" panose="020B0604020202020204"/>
              </a:rPr>
              <a:t>demasiado énfasis en el diseño</a:t>
            </a:r>
            <a:r>
              <a:rPr lang="es-ES" sz="2400" dirty="0">
                <a:latin typeface="Helvetica" panose="020B0604020202020204"/>
                <a:cs typeface="Helvetica" panose="020B0604020202020204"/>
              </a:rPr>
              <a:t>. Los pequeños detalles de diseño se llevan a cabo cuando todo lo demás está hecho y, aunque siempre es bueno tener una idea aproximada del diseño, es posible realizar cambios. Recuerda que los prototipos, al menos al principio están pensados para ser cambiados.</a:t>
            </a:r>
          </a:p>
          <a:p>
            <a:pPr marL="457200" indent="-457200">
              <a:buFont typeface="+mj-lt"/>
              <a:buAutoNum type="arabicPeriod"/>
            </a:pPr>
            <a:endParaRPr lang="es-ES" sz="2400" dirty="0">
              <a:latin typeface="Helvetica" panose="020B0604020202020204"/>
              <a:cs typeface="Helvetica" panose="020B0604020202020204"/>
            </a:endParaRPr>
          </a:p>
          <a:p>
            <a:pPr marL="457200" indent="-457200">
              <a:buFont typeface="+mj-lt"/>
              <a:buAutoNum type="arabicPeriod"/>
            </a:pPr>
            <a:r>
              <a:rPr lang="es-ES" sz="2400" dirty="0">
                <a:latin typeface="Helvetica" panose="020B0604020202020204"/>
                <a:cs typeface="Helvetica" panose="020B0604020202020204"/>
              </a:rPr>
              <a:t>Dedicar demasiado esfuerzo, tiempo y dinero a realizar un prototipo de alta fidelidad, </a:t>
            </a:r>
            <a:r>
              <a:rPr lang="es-ES" sz="2400" b="1" dirty="0">
                <a:latin typeface="Helvetica" panose="020B0604020202020204"/>
                <a:cs typeface="Helvetica" panose="020B0604020202020204"/>
              </a:rPr>
              <a:t>puede retrasar considerablemente el desarrollo final</a:t>
            </a:r>
            <a:r>
              <a:rPr lang="es-ES" sz="2400" dirty="0">
                <a:latin typeface="Helvetica" panose="020B0604020202020204"/>
                <a:cs typeface="Helvetica" panose="020B0604020202020204"/>
              </a:rPr>
              <a:t>. Por tanto, el desarrollo de un buen prototipo final debe estar bien justificado. Por ejemplo, está aconsejado cuando se precisa impresionar a posibles inversores, cuando el cliente es exigente en todos los detalles o cuando el prototipo ha pasado por varias fases en las que su diseño ha sido aprobado por el cliente y ha estado en el centro en las fases previas.</a:t>
            </a:r>
          </a:p>
        </p:txBody>
      </p:sp>
      <p:sp>
        <p:nvSpPr>
          <p:cNvPr id="3" name="CuadroTexto 2">
            <a:extLst>
              <a:ext uri="{FF2B5EF4-FFF2-40B4-BE49-F238E27FC236}">
                <a16:creationId xmlns:a16="http://schemas.microsoft.com/office/drawing/2014/main" id="{766CC3F3-097E-C7E7-2D20-B33607997C23}"/>
              </a:ext>
            </a:extLst>
          </p:cNvPr>
          <p:cNvSpPr txBox="1"/>
          <p:nvPr/>
        </p:nvSpPr>
        <p:spPr>
          <a:xfrm>
            <a:off x="242556" y="233916"/>
            <a:ext cx="1762021" cy="369332"/>
          </a:xfrm>
          <a:prstGeom prst="rect">
            <a:avLst/>
          </a:prstGeom>
          <a:noFill/>
        </p:spPr>
        <p:txBody>
          <a:bodyPr wrap="none" rtlCol="0">
            <a:spAutoFit/>
          </a:bodyPr>
          <a:lstStyle/>
          <a:p>
            <a:r>
              <a:rPr lang="es-ES" dirty="0">
                <a:latin typeface="Helvetica" panose="020B0604020202020204" pitchFamily="34" charset="0"/>
                <a:cs typeface="Helvetica" panose="020B0604020202020204" pitchFamily="34" charset="0"/>
              </a:rPr>
              <a:t>Fase de diseño</a:t>
            </a:r>
          </a:p>
        </p:txBody>
      </p:sp>
      <p:cxnSp>
        <p:nvCxnSpPr>
          <p:cNvPr id="4" name="Conector recto 3">
            <a:extLst>
              <a:ext uri="{FF2B5EF4-FFF2-40B4-BE49-F238E27FC236}">
                <a16:creationId xmlns:a16="http://schemas.microsoft.com/office/drawing/2014/main" id="{9717F63C-1D0B-4896-ECB7-82E6AF29A6BD}"/>
              </a:ext>
            </a:extLst>
          </p:cNvPr>
          <p:cNvCxnSpPr>
            <a:cxnSpLocks/>
          </p:cNvCxnSpPr>
          <p:nvPr/>
        </p:nvCxnSpPr>
        <p:spPr>
          <a:xfrm>
            <a:off x="335504" y="706009"/>
            <a:ext cx="19145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66135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221414A7-70AA-9583-A007-1F3315597D9B}"/>
              </a:ext>
            </a:extLst>
          </p:cNvPr>
          <p:cNvSpPr txBox="1"/>
          <p:nvPr/>
        </p:nvSpPr>
        <p:spPr>
          <a:xfrm>
            <a:off x="242556" y="1630703"/>
            <a:ext cx="11706289" cy="3046988"/>
          </a:xfrm>
          <a:prstGeom prst="rect">
            <a:avLst/>
          </a:prstGeom>
          <a:noFill/>
        </p:spPr>
        <p:txBody>
          <a:bodyPr wrap="square" rtlCol="0">
            <a:spAutoFit/>
          </a:bodyPr>
          <a:lstStyle/>
          <a:p>
            <a:pPr marL="457200" indent="-457200">
              <a:buFont typeface="+mj-lt"/>
              <a:buAutoNum type="arabicPeriod" startAt="3"/>
            </a:pPr>
            <a:r>
              <a:rPr lang="es-ES" sz="2400" dirty="0">
                <a:latin typeface="Helvetica" panose="020B0604020202020204"/>
                <a:cs typeface="Helvetica" panose="020B0604020202020204"/>
              </a:rPr>
              <a:t>Debido a que su desarrollo es mucho más costoso, se resiste más a ser cambiado que los prototipos de baja fidelidad.</a:t>
            </a:r>
          </a:p>
          <a:p>
            <a:pPr marL="457200" indent="-457200">
              <a:buFont typeface="+mj-lt"/>
              <a:buAutoNum type="arabicPeriod" startAt="3"/>
            </a:pPr>
            <a:endParaRPr lang="es-ES" sz="2400" dirty="0">
              <a:latin typeface="Helvetica" panose="020B0604020202020204"/>
              <a:cs typeface="Helvetica" panose="020B0604020202020204"/>
            </a:endParaRPr>
          </a:p>
          <a:p>
            <a:pPr marL="457200" indent="-457200">
              <a:buFont typeface="+mj-lt"/>
              <a:buAutoNum type="arabicPeriod" startAt="3"/>
            </a:pPr>
            <a:r>
              <a:rPr lang="es-ES" sz="2400" dirty="0">
                <a:latin typeface="Helvetica" panose="020B0604020202020204"/>
                <a:cs typeface="Helvetica" panose="020B0604020202020204"/>
              </a:rPr>
              <a:t>Los prototipos hi-fi suelen usarse para impresionar a clientes o inversores, esto implica que las expectativas son altas y, por tanto, los fallos en el momento de la demostración deben ser inexistentes si queremos que nuestro proyecto sea un éxito, aunque toda la demostración esté “cogida con pinzas” y sino que se lo digan a…</a:t>
            </a:r>
          </a:p>
        </p:txBody>
      </p:sp>
      <p:sp>
        <p:nvSpPr>
          <p:cNvPr id="3" name="CuadroTexto 2">
            <a:extLst>
              <a:ext uri="{FF2B5EF4-FFF2-40B4-BE49-F238E27FC236}">
                <a16:creationId xmlns:a16="http://schemas.microsoft.com/office/drawing/2014/main" id="{766CC3F3-097E-C7E7-2D20-B33607997C23}"/>
              </a:ext>
            </a:extLst>
          </p:cNvPr>
          <p:cNvSpPr txBox="1"/>
          <p:nvPr/>
        </p:nvSpPr>
        <p:spPr>
          <a:xfrm>
            <a:off x="242556" y="233916"/>
            <a:ext cx="1762021" cy="369332"/>
          </a:xfrm>
          <a:prstGeom prst="rect">
            <a:avLst/>
          </a:prstGeom>
          <a:noFill/>
        </p:spPr>
        <p:txBody>
          <a:bodyPr wrap="none" rtlCol="0">
            <a:spAutoFit/>
          </a:bodyPr>
          <a:lstStyle/>
          <a:p>
            <a:r>
              <a:rPr lang="es-ES" dirty="0">
                <a:latin typeface="Helvetica" panose="020B0604020202020204" pitchFamily="34" charset="0"/>
                <a:cs typeface="Helvetica" panose="020B0604020202020204" pitchFamily="34" charset="0"/>
              </a:rPr>
              <a:t>Fase de diseño</a:t>
            </a:r>
          </a:p>
        </p:txBody>
      </p:sp>
      <p:cxnSp>
        <p:nvCxnSpPr>
          <p:cNvPr id="4" name="Conector recto 3">
            <a:extLst>
              <a:ext uri="{FF2B5EF4-FFF2-40B4-BE49-F238E27FC236}">
                <a16:creationId xmlns:a16="http://schemas.microsoft.com/office/drawing/2014/main" id="{9717F63C-1D0B-4896-ECB7-82E6AF29A6BD}"/>
              </a:ext>
            </a:extLst>
          </p:cNvPr>
          <p:cNvCxnSpPr>
            <a:cxnSpLocks/>
          </p:cNvCxnSpPr>
          <p:nvPr/>
        </p:nvCxnSpPr>
        <p:spPr>
          <a:xfrm>
            <a:off x="335504" y="706009"/>
            <a:ext cx="19145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216873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hlinkClick r:id="rId2"/>
            <a:extLst>
              <a:ext uri="{FF2B5EF4-FFF2-40B4-BE49-F238E27FC236}">
                <a16:creationId xmlns:a16="http://schemas.microsoft.com/office/drawing/2014/main" id="{455A6E78-1F49-2795-B65E-A2F7F0939A5C}"/>
              </a:ext>
            </a:extLst>
          </p:cNvPr>
          <p:cNvPicPr>
            <a:picLocks noChangeAspect="1"/>
          </p:cNvPicPr>
          <p:nvPr/>
        </p:nvPicPr>
        <p:blipFill>
          <a:blip r:embed="rId3"/>
          <a:stretch>
            <a:fillRect/>
          </a:stretch>
        </p:blipFill>
        <p:spPr>
          <a:xfrm>
            <a:off x="-858273" y="0"/>
            <a:ext cx="14103967" cy="7048072"/>
          </a:xfrm>
          <a:prstGeom prst="rect">
            <a:avLst/>
          </a:prstGeom>
        </p:spPr>
      </p:pic>
    </p:spTree>
    <p:extLst>
      <p:ext uri="{BB962C8B-B14F-4D97-AF65-F5344CB8AC3E}">
        <p14:creationId xmlns:p14="http://schemas.microsoft.com/office/powerpoint/2010/main" val="848725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E5DD0F38-FFF6-4274-AC48-C0F7FE82CC74}"/>
              </a:ext>
            </a:extLst>
          </p:cNvPr>
          <p:cNvSpPr txBox="1"/>
          <p:nvPr/>
        </p:nvSpPr>
        <p:spPr>
          <a:xfrm>
            <a:off x="304649" y="280728"/>
            <a:ext cx="4515154" cy="6018277"/>
          </a:xfrm>
          <a:prstGeom prst="rect">
            <a:avLst/>
          </a:prstGeom>
        </p:spPr>
        <p:txBody>
          <a:bodyPr vert="horz" wrap="square" lIns="0" tIns="0" rIns="0" bIns="0" rtlCol="0" anchor="t">
            <a:normAutofit fontScale="92500" lnSpcReduction="10000"/>
          </a:bodyPr>
          <a:lstStyle/>
          <a:p>
            <a:pPr>
              <a:lnSpc>
                <a:spcPct val="110000"/>
              </a:lnSpc>
              <a:spcBef>
                <a:spcPct val="20000"/>
              </a:spcBef>
              <a:spcAft>
                <a:spcPts val="800"/>
              </a:spcAft>
              <a:buClr>
                <a:schemeClr val="accent2"/>
              </a:buClr>
            </a:pPr>
            <a:r>
              <a:rPr kumimoji="1" lang="es-ES" sz="2600" dirty="0">
                <a:latin typeface="Helvetica" panose="020B0604020202020204" pitchFamily="34" charset="0"/>
                <a:cs typeface="Helvetica" panose="020B0604020202020204" pitchFamily="34" charset="0"/>
              </a:rPr>
              <a:t>El paso final.</a:t>
            </a:r>
          </a:p>
          <a:p>
            <a:pPr>
              <a:lnSpc>
                <a:spcPct val="110000"/>
              </a:lnSpc>
              <a:spcBef>
                <a:spcPct val="20000"/>
              </a:spcBef>
              <a:spcAft>
                <a:spcPts val="800"/>
              </a:spcAft>
              <a:buClr>
                <a:schemeClr val="accent2"/>
              </a:buClr>
            </a:pPr>
            <a:endParaRPr kumimoji="1" lang="es-ES" sz="100" dirty="0">
              <a:latin typeface="Helvetica" panose="020B0604020202020204" pitchFamily="34" charset="0"/>
              <a:cs typeface="Helvetica" panose="020B0604020202020204" pitchFamily="34" charset="0"/>
            </a:endParaRPr>
          </a:p>
          <a:p>
            <a:pPr>
              <a:lnSpc>
                <a:spcPct val="110000"/>
              </a:lnSpc>
              <a:spcBef>
                <a:spcPct val="20000"/>
              </a:spcBef>
              <a:spcAft>
                <a:spcPts val="800"/>
              </a:spcAft>
              <a:buClr>
                <a:schemeClr val="accent2"/>
              </a:buClr>
            </a:pPr>
            <a:r>
              <a:rPr kumimoji="1" lang="es-ES" sz="2400" dirty="0">
                <a:latin typeface="Helvetica" panose="020B0604020202020204" pitchFamily="34" charset="0"/>
                <a:cs typeface="Helvetica" panose="020B0604020202020204" pitchFamily="34" charset="0"/>
              </a:rPr>
              <a:t>Vamos a crear el </a:t>
            </a:r>
            <a:r>
              <a:rPr kumimoji="1" lang="es-ES" sz="2400" b="1" dirty="0">
                <a:latin typeface="Helvetica" panose="020B0604020202020204" pitchFamily="34" charset="0"/>
                <a:cs typeface="Helvetica" panose="020B0604020202020204" pitchFamily="34" charset="0"/>
              </a:rPr>
              <a:t>prototipo final</a:t>
            </a:r>
            <a:r>
              <a:rPr kumimoji="1" lang="es-ES" sz="2400" dirty="0">
                <a:latin typeface="Helvetica" panose="020B0604020202020204" pitchFamily="34" charset="0"/>
                <a:cs typeface="Helvetica" panose="020B0604020202020204" pitchFamily="34" charset="0"/>
              </a:rPr>
              <a:t>, con los estilos que hemos definido en la guía de estilos, cumpliendo con el análisis que hemos llevado a cabo y evolucionando el prototipo de  baja fidelidad que hemos hecho.</a:t>
            </a:r>
          </a:p>
          <a:p>
            <a:pPr>
              <a:lnSpc>
                <a:spcPct val="110000"/>
              </a:lnSpc>
              <a:spcBef>
                <a:spcPct val="20000"/>
              </a:spcBef>
              <a:spcAft>
                <a:spcPts val="800"/>
              </a:spcAft>
              <a:buClr>
                <a:schemeClr val="accent2"/>
              </a:buClr>
            </a:pPr>
            <a:r>
              <a:rPr kumimoji="1" lang="es-ES" sz="2400" dirty="0">
                <a:latin typeface="Helvetica" panose="020B0604020202020204" pitchFamily="34" charset="0"/>
                <a:cs typeface="Helvetica" panose="020B0604020202020204" pitchFamily="34" charset="0"/>
              </a:rPr>
              <a:t>El aspecto debe acercarse al producto final en la medida de lo posible y su navegación y </a:t>
            </a:r>
            <a:r>
              <a:rPr kumimoji="1" lang="es-ES" sz="2400" i="1" dirty="0" err="1">
                <a:latin typeface="Helvetica" panose="020B0604020202020204" pitchFamily="34" charset="0"/>
                <a:cs typeface="Helvetica" panose="020B0604020202020204" pitchFamily="34" charset="0"/>
              </a:rPr>
              <a:t>user</a:t>
            </a:r>
            <a:r>
              <a:rPr kumimoji="1" lang="es-ES" sz="2400" i="1" dirty="0">
                <a:latin typeface="Helvetica" panose="020B0604020202020204" pitchFamily="34" charset="0"/>
                <a:cs typeface="Helvetica" panose="020B0604020202020204" pitchFamily="34" charset="0"/>
              </a:rPr>
              <a:t> </a:t>
            </a:r>
            <a:r>
              <a:rPr kumimoji="1" lang="es-ES" sz="2400" i="1" dirty="0" err="1">
                <a:latin typeface="Helvetica" panose="020B0604020202020204" pitchFamily="34" charset="0"/>
                <a:cs typeface="Helvetica" panose="020B0604020202020204" pitchFamily="34" charset="0"/>
              </a:rPr>
              <a:t>flow</a:t>
            </a:r>
            <a:r>
              <a:rPr kumimoji="1" lang="es-ES" sz="2400" dirty="0">
                <a:latin typeface="Helvetica" panose="020B0604020202020204" pitchFamily="34" charset="0"/>
                <a:cs typeface="Helvetica" panose="020B0604020202020204" pitchFamily="34" charset="0"/>
              </a:rPr>
              <a:t> deben ser los definitivos.</a:t>
            </a:r>
          </a:p>
          <a:p>
            <a:pPr>
              <a:lnSpc>
                <a:spcPct val="110000"/>
              </a:lnSpc>
              <a:spcBef>
                <a:spcPct val="20000"/>
              </a:spcBef>
              <a:spcAft>
                <a:spcPts val="800"/>
              </a:spcAft>
              <a:buClr>
                <a:schemeClr val="accent2"/>
              </a:buClr>
            </a:pPr>
            <a:r>
              <a:rPr kumimoji="1" lang="es-ES" sz="2400" dirty="0">
                <a:latin typeface="Helvetica" panose="020B0604020202020204" pitchFamily="34" charset="0"/>
                <a:cs typeface="Helvetica" panose="020B0604020202020204" pitchFamily="34" charset="0"/>
              </a:rPr>
              <a:t>Para ello, usaremos la herramienta </a:t>
            </a:r>
            <a:r>
              <a:rPr kumimoji="1" lang="es-ES" sz="2400" dirty="0" err="1">
                <a:latin typeface="Helvetica" panose="020B0604020202020204" pitchFamily="34" charset="0"/>
                <a:cs typeface="Helvetica" panose="020B0604020202020204" pitchFamily="34" charset="0"/>
              </a:rPr>
              <a:t>Figma</a:t>
            </a:r>
            <a:r>
              <a:rPr kumimoji="1" lang="es-ES" sz="2400" dirty="0">
                <a:latin typeface="Helvetica" panose="020B0604020202020204" pitchFamily="34" charset="0"/>
                <a:cs typeface="Helvetica" panose="020B0604020202020204" pitchFamily="34" charset="0"/>
              </a:rPr>
              <a:t> y su extensión para VS </a:t>
            </a:r>
            <a:r>
              <a:rPr kumimoji="1" lang="es-ES" sz="2400" dirty="0" err="1">
                <a:latin typeface="Helvetica" panose="020B0604020202020204" pitchFamily="34" charset="0"/>
                <a:cs typeface="Helvetica" panose="020B0604020202020204" pitchFamily="34" charset="0"/>
              </a:rPr>
              <a:t>Code</a:t>
            </a:r>
            <a:r>
              <a:rPr kumimoji="1" lang="es-ES" sz="2400" dirty="0">
                <a:latin typeface="Helvetica" panose="020B0604020202020204" pitchFamily="34" charset="0"/>
                <a:cs typeface="Helvetica" panose="020B0604020202020204" pitchFamily="34" charset="0"/>
              </a:rPr>
              <a:t>.</a:t>
            </a:r>
          </a:p>
          <a:p>
            <a:pPr>
              <a:lnSpc>
                <a:spcPct val="110000"/>
              </a:lnSpc>
              <a:spcBef>
                <a:spcPct val="20000"/>
              </a:spcBef>
              <a:spcAft>
                <a:spcPts val="800"/>
              </a:spcAft>
              <a:buClr>
                <a:schemeClr val="accent2"/>
              </a:buClr>
            </a:pPr>
            <a:r>
              <a:rPr kumimoji="1" lang="es-ES" sz="2400" dirty="0">
                <a:latin typeface="Helvetica" panose="020B0604020202020204" pitchFamily="34" charset="0"/>
                <a:cs typeface="Helvetica" panose="020B0604020202020204" pitchFamily="34" charset="0"/>
              </a:rPr>
              <a:t>Vamos a crear!!!</a:t>
            </a:r>
          </a:p>
          <a:p>
            <a:pPr>
              <a:lnSpc>
                <a:spcPct val="110000"/>
              </a:lnSpc>
              <a:spcBef>
                <a:spcPct val="20000"/>
              </a:spcBef>
              <a:spcAft>
                <a:spcPts val="800"/>
              </a:spcAft>
              <a:buClr>
                <a:schemeClr val="accent2"/>
              </a:buClr>
            </a:pPr>
            <a:endParaRPr kumimoji="1" lang="es-ES" sz="2400" dirty="0">
              <a:latin typeface="Helvetica" panose="020B0604020202020204" pitchFamily="34" charset="0"/>
              <a:cs typeface="Helvetica" panose="020B0604020202020204" pitchFamily="34" charset="0"/>
            </a:endParaRPr>
          </a:p>
          <a:p>
            <a:pPr indent="-228600">
              <a:lnSpc>
                <a:spcPct val="110000"/>
              </a:lnSpc>
              <a:spcBef>
                <a:spcPct val="20000"/>
              </a:spcBef>
              <a:spcAft>
                <a:spcPts val="800"/>
              </a:spcAft>
              <a:buClr>
                <a:schemeClr val="accent2"/>
              </a:buClr>
              <a:buFont typeface="Arial" panose="020B0604020202020204" pitchFamily="34" charset="0"/>
              <a:buChar char="•"/>
            </a:pPr>
            <a:endParaRPr kumimoji="1" lang="es-ES" sz="1600" dirty="0">
              <a:solidFill>
                <a:schemeClr val="tx1">
                  <a:alpha val="60000"/>
                </a:schemeClr>
              </a:solidFill>
              <a:latin typeface="Helvetica" panose="020B0604020202020204" pitchFamily="34" charset="0"/>
              <a:cs typeface="Helvetica" panose="020B0604020202020204" pitchFamily="34" charset="0"/>
            </a:endParaRPr>
          </a:p>
          <a:p>
            <a:pPr indent="-228600">
              <a:lnSpc>
                <a:spcPct val="110000"/>
              </a:lnSpc>
              <a:spcBef>
                <a:spcPct val="20000"/>
              </a:spcBef>
              <a:spcAft>
                <a:spcPts val="800"/>
              </a:spcAft>
              <a:buClr>
                <a:schemeClr val="accent2"/>
              </a:buClr>
              <a:buFont typeface="Arial" panose="020B0604020202020204" pitchFamily="34" charset="0"/>
              <a:buChar char="•"/>
            </a:pPr>
            <a:endParaRPr kumimoji="1" lang="es-ES" sz="1600" dirty="0">
              <a:solidFill>
                <a:schemeClr val="tx1">
                  <a:alpha val="60000"/>
                </a:schemeClr>
              </a:solidFill>
              <a:latin typeface="Helvetica" panose="020B0604020202020204" pitchFamily="34" charset="0"/>
              <a:cs typeface="Helvetica" panose="020B0604020202020204" pitchFamily="34" charset="0"/>
            </a:endParaRPr>
          </a:p>
        </p:txBody>
      </p:sp>
      <p:pic>
        <p:nvPicPr>
          <p:cNvPr id="6" name="Imagen 5" descr="Primer plano de las manos de una mujer tecleando y usando un trackpad en un portátil con una taza">
            <a:extLst>
              <a:ext uri="{FF2B5EF4-FFF2-40B4-BE49-F238E27FC236}">
                <a16:creationId xmlns:a16="http://schemas.microsoft.com/office/drawing/2014/main" id="{4365FBC6-3029-4AF9-0048-BB21E860B7B9}"/>
              </a:ext>
            </a:extLst>
          </p:cNvPr>
          <p:cNvPicPr>
            <a:picLocks noChangeAspect="1"/>
          </p:cNvPicPr>
          <p:nvPr/>
        </p:nvPicPr>
        <p:blipFill>
          <a:blip r:embed="rId2">
            <a:extLst>
              <a:ext uri="{28A0092B-C50C-407E-A947-70E740481C1C}">
                <a14:useLocalDpi xmlns:a14="http://schemas.microsoft.com/office/drawing/2010/main" val="0"/>
              </a:ext>
            </a:extLst>
          </a:blip>
          <a:srcRect l="26039" r="26039"/>
          <a:stretch/>
        </p:blipFill>
        <p:spPr>
          <a:xfrm>
            <a:off x="5124451" y="593413"/>
            <a:ext cx="6897687" cy="5759451"/>
          </a:xfrm>
          <a:custGeom>
            <a:avLst/>
            <a:gdLst/>
            <a:ahLst/>
            <a:cxnLst/>
            <a:rect l="l" t="t" r="r" b="b"/>
            <a:pathLst>
              <a:path w="6897687" h="5759451">
                <a:moveTo>
                  <a:pt x="0" y="0"/>
                </a:moveTo>
                <a:lnTo>
                  <a:pt x="6897687" y="0"/>
                </a:lnTo>
                <a:lnTo>
                  <a:pt x="6897687" y="5759451"/>
                </a:lnTo>
                <a:lnTo>
                  <a:pt x="0" y="5759451"/>
                </a:lnTo>
                <a:close/>
              </a:path>
            </a:pathLst>
          </a:custGeom>
        </p:spPr>
      </p:pic>
    </p:spTree>
    <p:extLst>
      <p:ext uri="{BB962C8B-B14F-4D97-AF65-F5344CB8AC3E}">
        <p14:creationId xmlns:p14="http://schemas.microsoft.com/office/powerpoint/2010/main" val="3013688042"/>
      </p:ext>
    </p:extLst>
  </p:cSld>
  <p:clrMapOvr>
    <a:masterClrMapping/>
  </p:clrMapOvr>
</p:sld>
</file>

<file path=ppt/theme/theme1.xml><?xml version="1.0" encoding="utf-8"?>
<a:theme xmlns:a="http://schemas.openxmlformats.org/drawingml/2006/main" name="3DFloatVTI">
  <a:themeElements>
    <a:clrScheme name="AnalogousFromLightSeedLeftStep">
      <a:dk1>
        <a:srgbClr val="000000"/>
      </a:dk1>
      <a:lt1>
        <a:srgbClr val="FFFFFF"/>
      </a:lt1>
      <a:dk2>
        <a:srgbClr val="213B33"/>
      </a:dk2>
      <a:lt2>
        <a:srgbClr val="E8E3E2"/>
      </a:lt2>
      <a:accent1>
        <a:srgbClr val="4EAFBA"/>
      </a:accent1>
      <a:accent2>
        <a:srgbClr val="4DB392"/>
      </a:accent2>
      <a:accent3>
        <a:srgbClr val="4FB369"/>
      </a:accent3>
      <a:accent4>
        <a:srgbClr val="5DB54E"/>
      </a:accent4>
      <a:accent5>
        <a:srgbClr val="89AA5D"/>
      </a:accent5>
      <a:accent6>
        <a:srgbClr val="A3A546"/>
      </a:accent6>
      <a:hlink>
        <a:srgbClr val="AE7069"/>
      </a:hlink>
      <a:folHlink>
        <a:srgbClr val="7F7F7F"/>
      </a:folHlink>
    </a:clrScheme>
    <a:fontScheme name="Float">
      <a:majorFont>
        <a:latin typeface="Sitka Heading"/>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3DFloatVTI" id="{F59BA300-ED19-4B39-9AE3-7882B1DE8B78}" vid="{0FEC63E3-719F-4F50-9F1E-5B8BAF39109A}"/>
    </a:ext>
  </a:extLst>
</a:theme>
</file>

<file path=docProps/app.xml><?xml version="1.0" encoding="utf-8"?>
<Properties xmlns="http://schemas.openxmlformats.org/officeDocument/2006/extended-properties" xmlns:vt="http://schemas.openxmlformats.org/officeDocument/2006/docPropsVTypes">
  <TotalTime>31</TotalTime>
  <Words>4188</Words>
  <Application>Microsoft Office PowerPoint</Application>
  <PresentationFormat>Panorámica</PresentationFormat>
  <Paragraphs>230</Paragraphs>
  <Slides>54</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54</vt:i4>
      </vt:variant>
    </vt:vector>
  </HeadingPairs>
  <TitlesOfParts>
    <vt:vector size="62" baseType="lpstr">
      <vt:lpstr>Arial</vt:lpstr>
      <vt:lpstr>Courier New</vt:lpstr>
      <vt:lpstr>Helvetica</vt:lpstr>
      <vt:lpstr>Sitka Heading</vt:lpstr>
      <vt:lpstr>Source Sans Pro</vt:lpstr>
      <vt:lpstr>Verdana</vt:lpstr>
      <vt:lpstr>Wingdings</vt:lpstr>
      <vt:lpstr>3DFloatVTI</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Usuario de Microsoft Office</dc:creator>
  <cp:lastModifiedBy>GARGALLO MARTIN, JOSE VICENTE</cp:lastModifiedBy>
  <cp:revision>2</cp:revision>
  <dcterms:created xsi:type="dcterms:W3CDTF">2023-11-12T07:54:43Z</dcterms:created>
  <dcterms:modified xsi:type="dcterms:W3CDTF">2023-11-13T20:42:19Z</dcterms:modified>
</cp:coreProperties>
</file>